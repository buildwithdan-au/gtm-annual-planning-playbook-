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3.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4.xml" ContentType="application/vnd.openxmlformats-officedocument.drawingml.chart+xml"/>
  <Override PartName="/ppt/charts/chart5.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Frequency</c:v>
                </c:pt>
              </c:strCache>
            </c:strRef>
          </c:tx>
          <c:spPr>
            <a:solidFill>
              <a:srgbClr val="4472C4"/>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dPt>
            <c:idx val="0"/>
            <c:invertIfNegative val="0"/>
            <c:bubble3D val="0"/>
            <c:spPr>
              <a:solidFill>
                <a:srgbClr val="4472C4"/>
              </a:solidFill>
              <a:effectLst/>
            </c:spPr>
          </c:dPt>
          <c:dPt>
            <c:idx val="1"/>
            <c:invertIfNegative val="0"/>
            <c:bubble3D val="0"/>
            <c:spPr>
              <a:solidFill>
                <a:srgbClr val="ED7D31"/>
              </a:solidFill>
              <a:effectLst/>
            </c:spPr>
          </c:dPt>
          <c:dPt>
            <c:idx val="2"/>
            <c:invertIfNegative val="0"/>
            <c:bubble3D val="0"/>
            <c:spPr>
              <a:solidFill>
                <a:srgbClr val="4472C4"/>
              </a:solidFill>
              <a:effectLst/>
            </c:spPr>
          </c:dPt>
          <c:dPt>
            <c:idx val="3"/>
            <c:invertIfNegative val="0"/>
            <c:bubble3D val="0"/>
            <c:spPr>
              <a:solidFill>
                <a:srgbClr val="ED7D31"/>
              </a:solidFill>
              <a:effectLst/>
            </c:spPr>
          </c:dPt>
          <c:dPt>
            <c:idx val="4"/>
            <c:invertIfNegative val="0"/>
            <c:bubble3D val="0"/>
            <c:spPr>
              <a:solidFill>
                <a:srgbClr val="4472C4"/>
              </a:solidFill>
              <a:effectLst/>
            </c:spPr>
          </c:dPt>
          <c:dPt>
            <c:idx val="5"/>
            <c:invertIfNegative val="0"/>
            <c:bubble3D val="0"/>
            <c:spPr>
              <a:solidFill>
                <a:srgbClr val="ED7D31"/>
              </a:solidFill>
              <a:effectLst/>
            </c:spPr>
          </c:dPt>
          <c:dPt>
            <c:idx val="6"/>
            <c:invertIfNegative val="0"/>
            <c:bubble3D val="0"/>
            <c:spPr>
              <a:solidFill>
                <a:srgbClr val="4472C4"/>
              </a:solidFill>
              <a:effectLst/>
            </c:spPr>
          </c:dPt>
          <c:dPt>
            <c:idx val="7"/>
            <c:invertIfNegative val="0"/>
            <c:bubble3D val="0"/>
            <c:spPr>
              <a:solidFill>
                <a:srgbClr val="ED7D31"/>
              </a:solidFill>
              <a:effectLst/>
            </c:spPr>
          </c:dPt>
          <c:dPt>
            <c:idx val="8"/>
            <c:invertIfNegative val="0"/>
            <c:bubble3D val="0"/>
            <c:spPr>
              <a:solidFill>
                <a:srgbClr val="4472C4"/>
              </a:solidFill>
              <a:effectLst/>
            </c:spPr>
          </c:dPt>
          <c:dPt>
            <c:idx val="9"/>
            <c:invertIfNegative val="0"/>
            <c:bubble3D val="0"/>
            <c:spPr>
              <a:solidFill>
                <a:srgbClr val="ED7D31"/>
              </a:solidFill>
              <a:effectLst/>
            </c:spPr>
          </c:dPt>
          <c:dPt>
            <c:idx val="10"/>
            <c:invertIfNegative val="0"/>
            <c:bubble3D val="0"/>
            <c:spPr>
              <a:solidFill>
                <a:srgbClr val="4472C4"/>
              </a:solidFill>
              <a:effectLst/>
            </c:spPr>
          </c:dPt>
          <c:dPt>
            <c:idx val="11"/>
            <c:invertIfNegative val="0"/>
            <c:bubble3D val="0"/>
            <c:spPr>
              <a:solidFill>
                <a:srgbClr val="ED7D31"/>
              </a:solidFill>
              <a:effectLst/>
            </c:spPr>
          </c:dPt>
          <c:dPt>
            <c:idx val="12"/>
            <c:invertIfNegative val="0"/>
            <c:bubble3D val="0"/>
            <c:spPr>
              <a:solidFill>
                <a:srgbClr val="4472C4"/>
              </a:solidFill>
              <a:effectLst/>
            </c:spPr>
          </c:dPt>
          <c:dPt>
            <c:idx val="13"/>
            <c:invertIfNegative val="0"/>
            <c:bubble3D val="0"/>
            <c:spPr>
              <a:solidFill>
                <a:srgbClr val="ED7D31"/>
              </a:solidFill>
              <a:effectLst/>
            </c:spPr>
          </c:dPt>
          <c:dPt>
            <c:idx val="14"/>
            <c:invertIfNegative val="0"/>
            <c:bubble3D val="0"/>
            <c:spPr>
              <a:solidFill>
                <a:srgbClr val="4472C4"/>
              </a:solidFill>
              <a:effectLst/>
            </c:spPr>
          </c:dPt>
          <c:dPt>
            <c:idx val="15"/>
            <c:invertIfNegative val="0"/>
            <c:bubble3D val="0"/>
            <c:spPr>
              <a:solidFill>
                <a:srgbClr val="ED7D31"/>
              </a:solidFill>
              <a:effectLst/>
            </c:spPr>
          </c:dPt>
          <c:dPt>
            <c:idx val="16"/>
            <c:invertIfNegative val="0"/>
            <c:bubble3D val="0"/>
            <c:spPr>
              <a:solidFill>
                <a:srgbClr val="4472C4"/>
              </a:solidFill>
              <a:effectLst/>
            </c:spPr>
          </c:dPt>
          <c:cat>
            <c:multiLvlStrRef>
              <c:f>Sheet1!$A$2:$A$18</c:f>
              <c:multiLvlStrCache>
                <c:ptCount val="17"/>
                <c:lvl>
                  <c:pt idx="0">
                    <c:v>10%</c:v>
                  </c:pt>
                  <c:pt idx="1">
                    <c:v>15%</c:v>
                  </c:pt>
                  <c:pt idx="2">
                    <c:v>20%</c:v>
                  </c:pt>
                  <c:pt idx="3">
                    <c:v>25%</c:v>
                  </c:pt>
                  <c:pt idx="4">
                    <c:v>30%</c:v>
                  </c:pt>
                  <c:pt idx="5">
                    <c:v>35%</c:v>
                  </c:pt>
                  <c:pt idx="6">
                    <c:v>40%</c:v>
                  </c:pt>
                  <c:pt idx="7">
                    <c:v>45%</c:v>
                  </c:pt>
                  <c:pt idx="8">
                    <c:v>50%</c:v>
                  </c:pt>
                  <c:pt idx="9">
                    <c:v>55%</c:v>
                  </c:pt>
                  <c:pt idx="10">
                    <c:v>60%</c:v>
                  </c:pt>
                  <c:pt idx="11">
                    <c:v>65%</c:v>
                  </c:pt>
                  <c:pt idx="12">
                    <c:v>70%</c:v>
                  </c:pt>
                  <c:pt idx="13">
                    <c:v>75%</c:v>
                  </c:pt>
                  <c:pt idx="14">
                    <c:v>80%</c:v>
                  </c:pt>
                  <c:pt idx="15">
                    <c:v>85%</c:v>
                  </c:pt>
                  <c:pt idx="16">
                    <c:v>90%</c:v>
                  </c:pt>
                </c:lvl>
              </c:multiLvlStrCache>
            </c:multiLvlStrRef>
          </c:cat>
          <c:val>
            <c:numRef>
              <c:f>Sheet1!$B$2:$B$18</c:f>
              <c:numCache>
                <c:formatCode>General</c:formatCode>
                <c:ptCount val="17"/>
                <c:pt idx="0">
                  <c:v>0</c:v>
                </c:pt>
                <c:pt idx="1">
                  <c:v>0</c:v>
                </c:pt>
                <c:pt idx="2">
                  <c:v>0</c:v>
                </c:pt>
                <c:pt idx="3">
                  <c:v>0</c:v>
                </c:pt>
                <c:pt idx="4">
                  <c:v>2</c:v>
                </c:pt>
                <c:pt idx="5">
                  <c:v>11</c:v>
                </c:pt>
                <c:pt idx="6">
                  <c:v>8</c:v>
                </c:pt>
                <c:pt idx="7">
                  <c:v>12</c:v>
                </c:pt>
                <c:pt idx="8">
                  <c:v>8</c:v>
                </c:pt>
                <c:pt idx="9">
                  <c:v>6</c:v>
                </c:pt>
                <c:pt idx="10">
                  <c:v>2</c:v>
                </c:pt>
                <c:pt idx="11">
                  <c:v>5</c:v>
                </c:pt>
                <c:pt idx="12">
                  <c:v>2</c:v>
                </c:pt>
                <c:pt idx="13">
                  <c:v>2</c:v>
                </c:pt>
                <c:pt idx="14">
                  <c:v>2</c:v>
                </c:pt>
                <c:pt idx="15">
                  <c:v>0</c:v>
                </c:pt>
                <c:pt idx="16">
                  <c:v>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5"/>
        <c:axId val="2094734553"/>
        <c:axId val="2094734556"/>
      </c:barChart>
      <c:lineChart>
        <c:varyColors val="0"/>
        <c:ser>
          <c:idx val="1"/>
          <c:order val="1"/>
          <c:tx>
            <c:strRef>
              <c:f>Sheet1!$C$1</c:f>
              <c:strCache>
                <c:ptCount val="1"/>
                <c:pt idx="0">
                  <c:v>Normal Distribution</c:v>
                </c:pt>
              </c:strCache>
            </c:strRef>
          </c:tx>
          <c:spPr>
            <a:solidFill>
              <a:srgbClr val="4472C4"/>
            </a:solidFill>
            <a:ln w="25400" cap="flat">
              <a:solidFill>
                <a:srgbClr val="4472C4"/>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ED7D31"/>
              </a:solidFill>
              <a:ln w="9525" cap="flat">
                <a:solidFill>
                  <a:srgbClr val="4472C4"/>
                </a:solidFill>
                <a:prstDash val="solid"/>
                <a:round/>
              </a:ln>
              <a:effectLst/>
            </c:spPr>
          </c:marker>
          <c:cat>
            <c:multiLvlStrRef>
              <c:f>Sheet1!$A$2:$A$18</c:f>
              <c:multiLvlStrCache>
                <c:ptCount val="17"/>
                <c:lvl>
                  <c:pt idx="0">
                    <c:v>10%</c:v>
                  </c:pt>
                  <c:pt idx="1">
                    <c:v>15%</c:v>
                  </c:pt>
                  <c:pt idx="2">
                    <c:v>20%</c:v>
                  </c:pt>
                  <c:pt idx="3">
                    <c:v>25%</c:v>
                  </c:pt>
                  <c:pt idx="4">
                    <c:v>30%</c:v>
                  </c:pt>
                  <c:pt idx="5">
                    <c:v>35%</c:v>
                  </c:pt>
                  <c:pt idx="6">
                    <c:v>40%</c:v>
                  </c:pt>
                  <c:pt idx="7">
                    <c:v>45%</c:v>
                  </c:pt>
                  <c:pt idx="8">
                    <c:v>50%</c:v>
                  </c:pt>
                  <c:pt idx="9">
                    <c:v>55%</c:v>
                  </c:pt>
                  <c:pt idx="10">
                    <c:v>60%</c:v>
                  </c:pt>
                  <c:pt idx="11">
                    <c:v>65%</c:v>
                  </c:pt>
                  <c:pt idx="12">
                    <c:v>70%</c:v>
                  </c:pt>
                  <c:pt idx="13">
                    <c:v>75%</c:v>
                  </c:pt>
                  <c:pt idx="14">
                    <c:v>80%</c:v>
                  </c:pt>
                  <c:pt idx="15">
                    <c:v>85%</c:v>
                  </c:pt>
                  <c:pt idx="16">
                    <c:v>90%</c:v>
                  </c:pt>
                </c:lvl>
              </c:multiLvlStrCache>
            </c:multiLvlStrRef>
          </c:cat>
          <c:val>
            <c:numRef>
              <c:f>Sheet1!$C$2:$C$18</c:f>
              <c:numCache>
                <c:formatCode>General</c:formatCode>
                <c:ptCount val="17"/>
                <c:pt idx="0">
                  <c:v>0.02</c:v>
                </c:pt>
                <c:pt idx="1">
                  <c:v>0.05</c:v>
                </c:pt>
                <c:pt idx="2">
                  <c:v>0.12</c:v>
                </c:pt>
                <c:pt idx="3">
                  <c:v>0.35</c:v>
                </c:pt>
                <c:pt idx="4">
                  <c:v>0.85</c:v>
                </c:pt>
                <c:pt idx="5">
                  <c:v>1.55</c:v>
                </c:pt>
                <c:pt idx="6">
                  <c:v>2.35</c:v>
                </c:pt>
                <c:pt idx="7">
                  <c:v>2.9</c:v>
                </c:pt>
                <c:pt idx="8">
                  <c:v>3.15</c:v>
                </c:pt>
                <c:pt idx="9">
                  <c:v>2.9</c:v>
                </c:pt>
                <c:pt idx="10">
                  <c:v>2.35</c:v>
                </c:pt>
                <c:pt idx="11">
                  <c:v>1.55</c:v>
                </c:pt>
                <c:pt idx="12">
                  <c:v>0.85</c:v>
                </c:pt>
                <c:pt idx="13">
                  <c:v>0.35</c:v>
                </c:pt>
                <c:pt idx="14">
                  <c:v>0.12</c:v>
                </c:pt>
                <c:pt idx="15">
                  <c:v>0.05</c:v>
                </c:pt>
                <c:pt idx="16">
                  <c:v>0.02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404040"/>
                </a:solidFill>
                <a:latin typeface="Arial"/>
              </a:defRPr>
            </a:pPr>
            <a:endParaRPr lang="en-US"/>
          </a:p>
        </c:txPr>
        <c:crossAx val="2094734552"/>
        <c:crosses val="autoZero"/>
        <c:auto val="1"/>
        <c:lblAlgn val="ctr"/>
        <c:noMultiLvlLbl val="1"/>
      </c:catAx>
      <c:valAx>
        <c:axId val="2094734552"/>
        <c:scaling>
          <c:orientation val="minMax"/>
          <c:max val="4"/>
        </c:scaling>
        <c:delete val="0"/>
        <c:axPos val="l"/>
        <c:majorGridlines>
          <c:spPr>
            <a:ln w="12700" cap="flat">
              <a:solidFill>
                <a:srgbClr val="E7E6E6"/>
              </a:solidFill>
              <a:prstDash val="solid"/>
              <a:round/>
            </a:ln>
          </c:spPr>
        </c:majorGridlines>
        <c:title>
          <c:tx>
            <c:rich>
              <a:bodyPr/>
              <a:lstStyle/>
              <a:p>
                <a:pPr>
                  <a:defRPr sz="900" b="0" i="0" u="none" strike="noStrike">
                    <a:solidFill>
                      <a:srgbClr val="404040"/>
                    </a:solidFill>
                    <a:latin typeface="Arial"/>
                  </a:defRPr>
                </a:pPr>
                <a:r>
                  <a:rPr sz="900" b="0" i="0" u="none" strike="noStrike">
                    <a:solidFill>
                      <a:srgbClr val="404040"/>
                    </a:solidFill>
                    <a:latin typeface="Arial"/>
                  </a:rPr>
                  <a:t>Normal Distribution</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404040"/>
                </a:solidFill>
                <a:latin typeface="Arial"/>
              </a:defRPr>
            </a:pPr>
            <a:endParaRPr lang="en-US"/>
          </a:p>
        </c:txPr>
        <c:crossAx val="2094734554"/>
        <c:crosses val="autoZero"/>
        <c:crossBetween val="between"/>
      </c:valAx>
      <c:valAx>
        <c:axId val="2094734553"/>
        <c:scaling>
          <c:orientation val="minMax"/>
          <c:max val="12"/>
        </c:scaling>
        <c:delete val="0"/>
        <c:axPos val="r"/>
        <c:majorGridlines>
          <c:spPr>
            <a:ln w="12700" cap="flat">
              <a:solidFill>
                <a:srgbClr val="E7E6E6"/>
              </a:solidFill>
              <a:prstDash val="solid"/>
              <a:round/>
            </a:ln>
          </c:spPr>
        </c:majorGridlines>
        <c:title>
          <c:tx>
            <c:rich>
              <a:bodyPr/>
              <a:lstStyle/>
              <a:p>
                <a:pPr>
                  <a:defRPr sz="900" b="0" i="0" u="none" strike="noStrike">
                    <a:solidFill>
                      <a:srgbClr val="404040"/>
                    </a:solidFill>
                    <a:latin typeface="Arial"/>
                  </a:defRPr>
                </a:pPr>
                <a:r>
                  <a:rPr sz="900" b="0" i="0" u="none" strike="noStrike">
                    <a:solidFill>
                      <a:srgbClr val="404040"/>
                    </a:solidFill>
                    <a:latin typeface="Arial"/>
                  </a:rPr>
                  <a:t>Frequency</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404040"/>
                </a:solidFill>
                <a:latin typeface="Arial"/>
              </a:defRPr>
            </a:pPr>
            <a:endParaRPr lang="en-US"/>
          </a:p>
        </c:txPr>
        <c:crossAx val="2094734555"/>
        <c:crosses val="max"/>
        <c:crossBetween val="between"/>
      </c:valAx>
      <c:catAx>
        <c:axId val="2094734555"/>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404040"/>
                </a:solidFill>
                <a:latin typeface="Arial"/>
              </a:defRPr>
            </a:pPr>
            <a:endParaRPr lang="en-US"/>
          </a:p>
        </c:txPr>
        <c:crossAx val="2094734553"/>
        <c:crosses val="autoZero"/>
        <c:auto val="1"/>
        <c:lblAlgn val="ctr"/>
        <c:noMultiLvlLbl val="1"/>
      </c:catAx>
      <c:spPr>
        <a:noFill/>
        <a:ln>
          <a:noFill/>
        </a:ln>
        <a:effectLst/>
      </c:spPr>
    </c:plotArea>
    <c:legend>
      <c:legendPos val="t"/>
      <c:overlay val="0"/>
      <c:txPr>
        <a:bodyPr/>
        <a:lstStyle/>
        <a:p>
          <a:pPr>
            <a:defRPr sz="1000">
              <a:solidFill>
                <a:srgbClr val="404040"/>
              </a:solidFill>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stacked"/>
        <c:varyColors val="0"/>
        <c:ser>
          <c:idx val="0"/>
          <c:order val="0"/>
          <c:tx>
            <c:strRef>
              <c:f>Sheet1!$B$1</c:f>
              <c:strCache>
                <c:ptCount val="1"/>
                <c:pt idx="0">
                  <c:v>Prospect</c:v>
                </c:pt>
              </c:strCache>
            </c:strRef>
          </c:tx>
          <c:spPr>
            <a:solidFill>
              <a:srgbClr val="ED7D31"/>
            </a:solidFill>
            <a:effectLst/>
          </c:spPr>
          <c:invertIfNegative val="0"/>
          <c:dLbls>
            <c:numFmt formatCode="0&quot;%&quot;" sourceLinked="0"/>
            <c:txPr>
              <a:bodyPr/>
              <a:lstStyle/>
              <a:p>
                <a:pPr>
                  <a:defRPr b="0" i="0" strike="noStrike" sz="1100" u="none">
                    <a:solidFill>
                      <a:srgbClr val="FFFFFF"/>
                    </a:solidFill>
                    <a:latin typeface="Arial"/>
                  </a:defRPr>
                </a:pPr>
              </a:p>
            </c:txPr>
            <c:dLblPos val="ctr"/>
            <c:showLegendKey val="0"/>
            <c:showVal val="1"/>
            <c:showCatName val="0"/>
            <c:showSerName val="0"/>
            <c:showPercent val="0"/>
            <c:showBubbleSize val="0"/>
            <c:showLeaderLines val="0"/>
          </c:dLbls>
          <c:cat>
            <c:multiLvlStrRef>
              <c:f>Sheet1!$A$2:$A$4</c:f>
              <c:multiLvlStrCache>
                <c:ptCount val="3"/>
                <c:lvl>
                  <c:pt idx="0">
                    <c:v>AMER</c:v>
                  </c:pt>
                  <c:pt idx="1">
                    <c:v>APAC</c:v>
                  </c:pt>
                  <c:pt idx="2">
                    <c:v>EMEA</c:v>
                  </c:pt>
                </c:lvl>
              </c:multiLvlStrCache>
            </c:multiLvlStrRef>
          </c:cat>
          <c:val>
            <c:numRef>
              <c:f>Sheet1!$B$2:$B$4</c:f>
              <c:numCache>
                <c:formatCode>General</c:formatCode>
                <c:ptCount val="3"/>
                <c:pt idx="0">
                  <c:v>91</c:v>
                </c:pt>
                <c:pt idx="1">
                  <c:v>95</c:v>
                </c:pt>
                <c:pt idx="2">
                  <c:v>84</c:v>
                </c:pt>
              </c:numCache>
            </c:numRef>
          </c:val>
        </c:ser>
        <c:ser>
          <c:idx val="1"/>
          <c:order val="1"/>
          <c:tx>
            <c:strRef>
              <c:f>Sheet1!$C$1</c:f>
              <c:strCache>
                <c:ptCount val="1"/>
                <c:pt idx="0">
                  <c:v>Customer</c:v>
                </c:pt>
              </c:strCache>
            </c:strRef>
          </c:tx>
          <c:spPr>
            <a:solidFill>
              <a:srgbClr val="4472C4"/>
            </a:solidFill>
            <a:effectLst/>
          </c:spPr>
          <c:invertIfNegative val="0"/>
          <c:dLbls>
            <c:numFmt formatCode="0&quot;%&quot;" sourceLinked="0"/>
            <c:txPr>
              <a:bodyPr/>
              <a:lstStyle/>
              <a:p>
                <a:pPr>
                  <a:defRPr b="0" i="0" strike="noStrike" sz="1100" u="none">
                    <a:solidFill>
                      <a:srgbClr val="FFFFFF"/>
                    </a:solidFill>
                    <a:latin typeface="Arial"/>
                  </a:defRPr>
                </a:pPr>
              </a:p>
            </c:txPr>
            <c:dLblPos val="ctr"/>
            <c:showLegendKey val="0"/>
            <c:showVal val="1"/>
            <c:showCatName val="0"/>
            <c:showSerName val="0"/>
            <c:showPercent val="0"/>
            <c:showBubbleSize val="0"/>
            <c:showLeaderLines val="0"/>
          </c:dLbls>
          <c:cat>
            <c:multiLvlStrRef>
              <c:f>Sheet1!$A$2:$A$4</c:f>
              <c:multiLvlStrCache>
                <c:ptCount val="3"/>
                <c:lvl>
                  <c:pt idx="0">
                    <c:v>AMER</c:v>
                  </c:pt>
                  <c:pt idx="1">
                    <c:v>APAC</c:v>
                  </c:pt>
                  <c:pt idx="2">
                    <c:v>EMEA</c:v>
                  </c:pt>
                </c:lvl>
              </c:multiLvlStrCache>
            </c:multiLvlStrRef>
          </c:cat>
          <c:val>
            <c:numRef>
              <c:f>Sheet1!$C$2:$C$4</c:f>
              <c:numCache>
                <c:formatCode>General</c:formatCode>
                <c:ptCount val="3"/>
                <c:pt idx="0">
                  <c:v>9</c:v>
                </c:pt>
                <c:pt idx="1">
                  <c:v>5</c:v>
                </c:pt>
                <c:pt idx="2">
                  <c:v>16</c:v>
                </c:pt>
              </c:numCache>
            </c:numRef>
          </c:val>
        </c:ser>
        <c:dLbls>
          <c:numFmt formatCode="0&quot;%&quot;" sourceLinked="0"/>
          <c:txPr>
            <a:bodyPr/>
            <a:lstStyle/>
            <a:p>
              <a:pPr>
                <a:defRPr b="0" i="0" strike="noStrike" sz="1100" u="none">
                  <a:solidFill>
                    <a:srgbClr val="FFFFFF"/>
                  </a:solidFill>
                  <a:latin typeface="Arial"/>
                </a:defRPr>
              </a:pPr>
            </a:p>
          </c:txPr>
          <c:dLblPos val="ctr"/>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404040"/>
                </a:solidFill>
                <a:latin typeface="Arial"/>
              </a:defRPr>
            </a:pPr>
            <a:endParaRPr lang="en-US"/>
          </a:p>
        </c:txPr>
        <c:crossAx val="2094734552"/>
        <c:crosses val="autoZero"/>
        <c:auto val="1"/>
        <c:lblAlgn val="ctr"/>
        <c:noMultiLvlLbl val="1"/>
      </c:catAx>
      <c:valAx>
        <c:axId val="2094734552"/>
        <c:scaling>
          <c:orientation val="minMax"/>
          <c:max val="100"/>
        </c:scaling>
        <c:delete val="0"/>
        <c:axPos val="b"/>
        <c:majorGridlines>
          <c:spPr>
            <a:ln w="12700" cap="flat">
              <a:solidFill>
                <a:srgbClr val="E7E6E6"/>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404040"/>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100">
              <a:solidFill>
                <a:srgbClr val="404040"/>
              </a:solidFill>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Min</c:v>
                </c:pt>
              </c:strCache>
            </c:strRef>
          </c:tx>
          <c:spPr>
            <a:solidFill>
              <a:srgbClr val="A5A5A5"/>
            </a:solidFill>
            <a:effectLst/>
          </c:spPr>
          <c:invertIfNegative val="0"/>
          <c:dLbls>
            <c:numFmt formatCode="0&quot;%&quot;" sourceLinked="0"/>
            <c:txPr>
              <a:bodyPr/>
              <a:lstStyle/>
              <a:p>
                <a:pPr>
                  <a:defRPr b="0" i="0" strike="noStrike" sz="1000" u="none">
                    <a:solidFill>
                      <a:srgbClr val="404040"/>
                    </a:solidFill>
                    <a:latin typeface="Arial"/>
                  </a:defRPr>
                </a:pPr>
              </a:p>
            </c:txPr>
            <c:showLegendKey val="0"/>
            <c:showVal val="1"/>
            <c:showCatName val="0"/>
            <c:showSerName val="0"/>
            <c:showPercent val="0"/>
            <c:showBubbleSize val="0"/>
            <c:showLeaderLines val="0"/>
          </c:dLbls>
          <c:cat>
            <c:multiLvlStrRef>
              <c:f>Sheet1!$A$2:$A$4</c:f>
              <c:multiLvlStrCache>
                <c:ptCount val="3"/>
                <c:lvl>
                  <c:pt idx="0">
                    <c:v>AMER</c:v>
                  </c:pt>
                  <c:pt idx="1">
                    <c:v>APAC</c:v>
                  </c:pt>
                  <c:pt idx="2">
                    <c:v>EMEA</c:v>
                  </c:pt>
                </c:lvl>
              </c:multiLvlStrCache>
            </c:multiLvlStrRef>
          </c:cat>
          <c:val>
            <c:numRef>
              <c:f>Sheet1!$B$2:$B$4</c:f>
              <c:numCache>
                <c:formatCode>General</c:formatCode>
                <c:ptCount val="3"/>
                <c:pt idx="0">
                  <c:v>27</c:v>
                </c:pt>
                <c:pt idx="1">
                  <c:v>30</c:v>
                </c:pt>
                <c:pt idx="2">
                  <c:v>32</c:v>
                </c:pt>
              </c:numCache>
            </c:numRef>
          </c:val>
        </c:ser>
        <c:ser>
          <c:idx val="1"/>
          <c:order val="1"/>
          <c:tx>
            <c:strRef>
              <c:f>Sheet1!$C$1</c:f>
              <c:strCache>
                <c:ptCount val="1"/>
                <c:pt idx="0">
                  <c:v>Average</c:v>
                </c:pt>
              </c:strCache>
            </c:strRef>
          </c:tx>
          <c:spPr>
            <a:solidFill>
              <a:srgbClr val="4472C4"/>
            </a:solidFill>
            <a:effectLst/>
          </c:spPr>
          <c:invertIfNegative val="0"/>
          <c:dLbls>
            <c:numFmt formatCode="0&quot;%&quot;" sourceLinked="0"/>
            <c:txPr>
              <a:bodyPr/>
              <a:lstStyle/>
              <a:p>
                <a:pPr>
                  <a:defRPr b="0" i="0" strike="noStrike" sz="1000" u="none">
                    <a:solidFill>
                      <a:srgbClr val="404040"/>
                    </a:solidFill>
                    <a:latin typeface="Arial"/>
                  </a:defRPr>
                </a:pPr>
              </a:p>
            </c:txPr>
            <c:showLegendKey val="0"/>
            <c:showVal val="1"/>
            <c:showCatName val="0"/>
            <c:showSerName val="0"/>
            <c:showPercent val="0"/>
            <c:showBubbleSize val="0"/>
            <c:showLeaderLines val="0"/>
          </c:dLbls>
          <c:cat>
            <c:multiLvlStrRef>
              <c:f>Sheet1!$A$2:$A$4</c:f>
              <c:multiLvlStrCache>
                <c:ptCount val="3"/>
                <c:lvl>
                  <c:pt idx="0">
                    <c:v>AMER</c:v>
                  </c:pt>
                  <c:pt idx="1">
                    <c:v>APAC</c:v>
                  </c:pt>
                  <c:pt idx="2">
                    <c:v>EMEA</c:v>
                  </c:pt>
                </c:lvl>
              </c:multiLvlStrCache>
            </c:multiLvlStrRef>
          </c:cat>
          <c:val>
            <c:numRef>
              <c:f>Sheet1!$C$2:$C$4</c:f>
              <c:numCache>
                <c:formatCode>General</c:formatCode>
                <c:ptCount val="3"/>
                <c:pt idx="0">
                  <c:v>46</c:v>
                </c:pt>
                <c:pt idx="1">
                  <c:v>34</c:v>
                </c:pt>
                <c:pt idx="2">
                  <c:v>42</c:v>
                </c:pt>
              </c:numCache>
            </c:numRef>
          </c:val>
        </c:ser>
        <c:ser>
          <c:idx val="2"/>
          <c:order val="2"/>
          <c:tx>
            <c:strRef>
              <c:f>Sheet1!$D$1</c:f>
              <c:strCache>
                <c:ptCount val="1"/>
                <c:pt idx="0">
                  <c:v>Max</c:v>
                </c:pt>
              </c:strCache>
            </c:strRef>
          </c:tx>
          <c:spPr>
            <a:solidFill>
              <a:srgbClr val="ED7D31"/>
            </a:solidFill>
            <a:effectLst/>
          </c:spPr>
          <c:invertIfNegative val="0"/>
          <c:dLbls>
            <c:numFmt formatCode="0&quot;%&quot;" sourceLinked="0"/>
            <c:txPr>
              <a:bodyPr/>
              <a:lstStyle/>
              <a:p>
                <a:pPr>
                  <a:defRPr b="0" i="0" strike="noStrike" sz="1000" u="none">
                    <a:solidFill>
                      <a:srgbClr val="404040"/>
                    </a:solidFill>
                    <a:latin typeface="Arial"/>
                  </a:defRPr>
                </a:pPr>
              </a:p>
            </c:txPr>
            <c:showLegendKey val="0"/>
            <c:showVal val="1"/>
            <c:showCatName val="0"/>
            <c:showSerName val="0"/>
            <c:showPercent val="0"/>
            <c:showBubbleSize val="0"/>
            <c:showLeaderLines val="0"/>
          </c:dLbls>
          <c:cat>
            <c:multiLvlStrRef>
              <c:f>Sheet1!$A$2:$A$4</c:f>
              <c:multiLvlStrCache>
                <c:ptCount val="3"/>
                <c:lvl>
                  <c:pt idx="0">
                    <c:v>AMER</c:v>
                  </c:pt>
                  <c:pt idx="1">
                    <c:v>APAC</c:v>
                  </c:pt>
                  <c:pt idx="2">
                    <c:v>EMEA</c:v>
                  </c:pt>
                </c:lvl>
              </c:multiLvlStrCache>
            </c:multiLvlStrRef>
          </c:cat>
          <c:val>
            <c:numRef>
              <c:f>Sheet1!$D$2:$D$4</c:f>
              <c:numCache>
                <c:formatCode>General</c:formatCode>
                <c:ptCount val="3"/>
                <c:pt idx="0">
                  <c:v>79</c:v>
                </c:pt>
                <c:pt idx="1">
                  <c:v>52</c:v>
                </c:pt>
                <c:pt idx="2">
                  <c:v>65</c:v>
                </c:pt>
              </c:numCache>
            </c:numRef>
          </c:val>
        </c:ser>
        <c:dLbls>
          <c:numFmt formatCode="0&quot;%&quot;" sourceLinked="0"/>
          <c:txPr>
            <a:bodyPr/>
            <a:lstStyle/>
            <a:p>
              <a:pPr>
                <a:defRPr b="0" i="0" strike="noStrike" sz="1000" u="none">
                  <a:solidFill>
                    <a:srgbClr val="40404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0404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7E6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04040"/>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100">
              <a:solidFill>
                <a:srgbClr val="404040"/>
              </a:solidFill>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Frequency</c:v>
                </c:pt>
              </c:strCache>
            </c:strRef>
          </c:tx>
          <c:spPr>
            <a:solidFill>
              <a:srgbClr val="4472C4"/>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dPt>
            <c:idx val="0"/>
            <c:invertIfNegative val="0"/>
            <c:bubble3D val="0"/>
            <c:spPr>
              <a:solidFill>
                <a:srgbClr val="4472C4"/>
              </a:solidFill>
              <a:effectLst/>
            </c:spPr>
          </c:dPt>
          <c:dPt>
            <c:idx val="1"/>
            <c:invertIfNegative val="0"/>
            <c:bubble3D val="0"/>
            <c:spPr>
              <a:solidFill>
                <a:srgbClr val="ED7D31"/>
              </a:solidFill>
              <a:effectLst/>
            </c:spPr>
          </c:dPt>
          <c:dPt>
            <c:idx val="2"/>
            <c:invertIfNegative val="0"/>
            <c:bubble3D val="0"/>
            <c:spPr>
              <a:solidFill>
                <a:srgbClr val="4472C4"/>
              </a:solidFill>
              <a:effectLst/>
            </c:spPr>
          </c:dPt>
          <c:dPt>
            <c:idx val="3"/>
            <c:invertIfNegative val="0"/>
            <c:bubble3D val="0"/>
            <c:spPr>
              <a:solidFill>
                <a:srgbClr val="ED7D31"/>
              </a:solidFill>
              <a:effectLst/>
            </c:spPr>
          </c:dPt>
          <c:dPt>
            <c:idx val="4"/>
            <c:invertIfNegative val="0"/>
            <c:bubble3D val="0"/>
            <c:spPr>
              <a:solidFill>
                <a:srgbClr val="4472C4"/>
              </a:solidFill>
              <a:effectLst/>
            </c:spPr>
          </c:dPt>
          <c:dPt>
            <c:idx val="5"/>
            <c:invertIfNegative val="0"/>
            <c:bubble3D val="0"/>
            <c:spPr>
              <a:solidFill>
                <a:srgbClr val="ED7D31"/>
              </a:solidFill>
              <a:effectLst/>
            </c:spPr>
          </c:dPt>
          <c:dPt>
            <c:idx val="6"/>
            <c:invertIfNegative val="0"/>
            <c:bubble3D val="0"/>
            <c:spPr>
              <a:solidFill>
                <a:srgbClr val="4472C4"/>
              </a:solidFill>
              <a:effectLst/>
            </c:spPr>
          </c:dPt>
          <c:dPt>
            <c:idx val="7"/>
            <c:invertIfNegative val="0"/>
            <c:bubble3D val="0"/>
            <c:spPr>
              <a:solidFill>
                <a:srgbClr val="ED7D31"/>
              </a:solidFill>
              <a:effectLst/>
            </c:spPr>
          </c:dPt>
          <c:dPt>
            <c:idx val="8"/>
            <c:invertIfNegative val="0"/>
            <c:bubble3D val="0"/>
            <c:spPr>
              <a:solidFill>
                <a:srgbClr val="4472C4"/>
              </a:solidFill>
              <a:effectLst/>
            </c:spPr>
          </c:dPt>
          <c:dPt>
            <c:idx val="9"/>
            <c:invertIfNegative val="0"/>
            <c:bubble3D val="0"/>
            <c:spPr>
              <a:solidFill>
                <a:srgbClr val="ED7D31"/>
              </a:solidFill>
              <a:effectLst/>
            </c:spPr>
          </c:dPt>
          <c:dPt>
            <c:idx val="10"/>
            <c:invertIfNegative val="0"/>
            <c:bubble3D val="0"/>
            <c:spPr>
              <a:solidFill>
                <a:srgbClr val="4472C4"/>
              </a:solidFill>
              <a:effectLst/>
            </c:spPr>
          </c:dPt>
          <c:dPt>
            <c:idx val="11"/>
            <c:invertIfNegative val="0"/>
            <c:bubble3D val="0"/>
            <c:spPr>
              <a:solidFill>
                <a:srgbClr val="ED7D31"/>
              </a:solidFill>
              <a:effectLst/>
            </c:spPr>
          </c:dPt>
          <c:dPt>
            <c:idx val="12"/>
            <c:invertIfNegative val="0"/>
            <c:bubble3D val="0"/>
            <c:spPr>
              <a:solidFill>
                <a:srgbClr val="4472C4"/>
              </a:solidFill>
              <a:effectLst/>
            </c:spPr>
          </c:dPt>
          <c:dPt>
            <c:idx val="13"/>
            <c:invertIfNegative val="0"/>
            <c:bubble3D val="0"/>
            <c:spPr>
              <a:solidFill>
                <a:srgbClr val="ED7D31"/>
              </a:solidFill>
              <a:effectLst/>
            </c:spPr>
          </c:dPt>
          <c:dPt>
            <c:idx val="14"/>
            <c:invertIfNegative val="0"/>
            <c:bubble3D val="0"/>
            <c:spPr>
              <a:solidFill>
                <a:srgbClr val="4472C4"/>
              </a:solidFill>
              <a:effectLst/>
            </c:spPr>
          </c:dPt>
          <c:dPt>
            <c:idx val="15"/>
            <c:invertIfNegative val="0"/>
            <c:bubble3D val="0"/>
            <c:spPr>
              <a:solidFill>
                <a:srgbClr val="ED7D31"/>
              </a:solidFill>
              <a:effectLst/>
            </c:spPr>
          </c:dPt>
          <c:dPt>
            <c:idx val="16"/>
            <c:invertIfNegative val="0"/>
            <c:bubble3D val="0"/>
            <c:spPr>
              <a:solidFill>
                <a:srgbClr val="4472C4"/>
              </a:solidFill>
              <a:effectLst/>
            </c:spPr>
          </c:dPt>
          <c:cat>
            <c:multiLvlStrRef>
              <c:f>Sheet1!$A$2:$A$18</c:f>
              <c:multiLvlStrCache>
                <c:ptCount val="17"/>
                <c:lvl>
                  <c:pt idx="0">
                    <c:v>10%</c:v>
                  </c:pt>
                  <c:pt idx="1">
                    <c:v>15%</c:v>
                  </c:pt>
                  <c:pt idx="2">
                    <c:v>20%</c:v>
                  </c:pt>
                  <c:pt idx="3">
                    <c:v>25%</c:v>
                  </c:pt>
                  <c:pt idx="4">
                    <c:v>30%</c:v>
                  </c:pt>
                  <c:pt idx="5">
                    <c:v>35%</c:v>
                  </c:pt>
                  <c:pt idx="6">
                    <c:v>40%</c:v>
                  </c:pt>
                  <c:pt idx="7">
                    <c:v>45%</c:v>
                  </c:pt>
                  <c:pt idx="8">
                    <c:v>50%</c:v>
                  </c:pt>
                  <c:pt idx="9">
                    <c:v>55%</c:v>
                  </c:pt>
                  <c:pt idx="10">
                    <c:v>60%</c:v>
                  </c:pt>
                  <c:pt idx="11">
                    <c:v>65%</c:v>
                  </c:pt>
                  <c:pt idx="12">
                    <c:v>70%</c:v>
                  </c:pt>
                  <c:pt idx="13">
                    <c:v>75%</c:v>
                  </c:pt>
                  <c:pt idx="14">
                    <c:v>80%</c:v>
                  </c:pt>
                  <c:pt idx="15">
                    <c:v>85%</c:v>
                  </c:pt>
                  <c:pt idx="16">
                    <c:v>90%</c:v>
                  </c:pt>
                </c:lvl>
              </c:multiLvlStrCache>
            </c:multiLvlStrRef>
          </c:cat>
          <c:val>
            <c:numRef>
              <c:f>Sheet1!$B$2:$B$18</c:f>
              <c:numCache>
                <c:formatCode>General</c:formatCode>
                <c:ptCount val="17"/>
                <c:pt idx="0">
                  <c:v>0</c:v>
                </c:pt>
                <c:pt idx="1">
                  <c:v>0</c:v>
                </c:pt>
                <c:pt idx="2">
                  <c:v>0</c:v>
                </c:pt>
                <c:pt idx="3">
                  <c:v>0</c:v>
                </c:pt>
                <c:pt idx="4">
                  <c:v>2</c:v>
                </c:pt>
                <c:pt idx="5">
                  <c:v>11</c:v>
                </c:pt>
                <c:pt idx="6">
                  <c:v>8</c:v>
                </c:pt>
                <c:pt idx="7">
                  <c:v>12</c:v>
                </c:pt>
                <c:pt idx="8">
                  <c:v>8</c:v>
                </c:pt>
                <c:pt idx="9">
                  <c:v>6</c:v>
                </c:pt>
                <c:pt idx="10">
                  <c:v>2</c:v>
                </c:pt>
                <c:pt idx="11">
                  <c:v>5</c:v>
                </c:pt>
                <c:pt idx="12">
                  <c:v>2</c:v>
                </c:pt>
                <c:pt idx="13">
                  <c:v>2</c:v>
                </c:pt>
                <c:pt idx="14">
                  <c:v>2</c:v>
                </c:pt>
                <c:pt idx="15">
                  <c:v>0</c:v>
                </c:pt>
                <c:pt idx="16">
                  <c:v>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5"/>
        <c:axId val="2094734553"/>
        <c:axId val="2094734556"/>
      </c:barChart>
      <c:lineChart>
        <c:varyColors val="0"/>
        <c:ser>
          <c:idx val="1"/>
          <c:order val="1"/>
          <c:tx>
            <c:strRef>
              <c:f>Sheet1!$C$1</c:f>
              <c:strCache>
                <c:ptCount val="1"/>
                <c:pt idx="0">
                  <c:v>Normal Distribution</c:v>
                </c:pt>
              </c:strCache>
            </c:strRef>
          </c:tx>
          <c:spPr>
            <a:solidFill>
              <a:srgbClr val="4472C4"/>
            </a:solidFill>
            <a:ln w="25400" cap="flat">
              <a:solidFill>
                <a:srgbClr val="4472C4"/>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ED7D31"/>
              </a:solidFill>
              <a:ln w="9525" cap="flat">
                <a:solidFill>
                  <a:srgbClr val="4472C4"/>
                </a:solidFill>
                <a:prstDash val="solid"/>
                <a:round/>
              </a:ln>
              <a:effectLst/>
            </c:spPr>
          </c:marker>
          <c:cat>
            <c:multiLvlStrRef>
              <c:f>Sheet1!$A$2:$A$18</c:f>
              <c:multiLvlStrCache>
                <c:ptCount val="17"/>
                <c:lvl>
                  <c:pt idx="0">
                    <c:v>10%</c:v>
                  </c:pt>
                  <c:pt idx="1">
                    <c:v>15%</c:v>
                  </c:pt>
                  <c:pt idx="2">
                    <c:v>20%</c:v>
                  </c:pt>
                  <c:pt idx="3">
                    <c:v>25%</c:v>
                  </c:pt>
                  <c:pt idx="4">
                    <c:v>30%</c:v>
                  </c:pt>
                  <c:pt idx="5">
                    <c:v>35%</c:v>
                  </c:pt>
                  <c:pt idx="6">
                    <c:v>40%</c:v>
                  </c:pt>
                  <c:pt idx="7">
                    <c:v>45%</c:v>
                  </c:pt>
                  <c:pt idx="8">
                    <c:v>50%</c:v>
                  </c:pt>
                  <c:pt idx="9">
                    <c:v>55%</c:v>
                  </c:pt>
                  <c:pt idx="10">
                    <c:v>60%</c:v>
                  </c:pt>
                  <c:pt idx="11">
                    <c:v>65%</c:v>
                  </c:pt>
                  <c:pt idx="12">
                    <c:v>70%</c:v>
                  </c:pt>
                  <c:pt idx="13">
                    <c:v>75%</c:v>
                  </c:pt>
                  <c:pt idx="14">
                    <c:v>80%</c:v>
                  </c:pt>
                  <c:pt idx="15">
                    <c:v>85%</c:v>
                  </c:pt>
                  <c:pt idx="16">
                    <c:v>90%</c:v>
                  </c:pt>
                </c:lvl>
              </c:multiLvlStrCache>
            </c:multiLvlStrRef>
          </c:cat>
          <c:val>
            <c:numRef>
              <c:f>Sheet1!$C$2:$C$18</c:f>
              <c:numCache>
                <c:formatCode>General</c:formatCode>
                <c:ptCount val="17"/>
                <c:pt idx="0">
                  <c:v>0.02</c:v>
                </c:pt>
                <c:pt idx="1">
                  <c:v>0.05</c:v>
                </c:pt>
                <c:pt idx="2">
                  <c:v>0.12</c:v>
                </c:pt>
                <c:pt idx="3">
                  <c:v>0.35</c:v>
                </c:pt>
                <c:pt idx="4">
                  <c:v>0.85</c:v>
                </c:pt>
                <c:pt idx="5">
                  <c:v>1.55</c:v>
                </c:pt>
                <c:pt idx="6">
                  <c:v>2.35</c:v>
                </c:pt>
                <c:pt idx="7">
                  <c:v>2.9</c:v>
                </c:pt>
                <c:pt idx="8">
                  <c:v>3.15</c:v>
                </c:pt>
                <c:pt idx="9">
                  <c:v>2.9</c:v>
                </c:pt>
                <c:pt idx="10">
                  <c:v>2.35</c:v>
                </c:pt>
                <c:pt idx="11">
                  <c:v>1.55</c:v>
                </c:pt>
                <c:pt idx="12">
                  <c:v>0.85</c:v>
                </c:pt>
                <c:pt idx="13">
                  <c:v>0.35</c:v>
                </c:pt>
                <c:pt idx="14">
                  <c:v>0.12</c:v>
                </c:pt>
                <c:pt idx="15">
                  <c:v>0.05</c:v>
                </c:pt>
                <c:pt idx="16">
                  <c:v>0.02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404040"/>
                </a:solidFill>
                <a:latin typeface="Arial"/>
              </a:defRPr>
            </a:pPr>
            <a:endParaRPr lang="en-US"/>
          </a:p>
        </c:txPr>
        <c:crossAx val="2094734552"/>
        <c:crosses val="autoZero"/>
        <c:auto val="1"/>
        <c:lblAlgn val="ctr"/>
        <c:noMultiLvlLbl val="1"/>
      </c:catAx>
      <c:valAx>
        <c:axId val="2094734552"/>
        <c:scaling>
          <c:orientation val="minMax"/>
          <c:max val="4"/>
        </c:scaling>
        <c:delete val="0"/>
        <c:axPos val="l"/>
        <c:majorGridlines>
          <c:spPr>
            <a:ln w="12700" cap="flat">
              <a:solidFill>
                <a:srgbClr val="E7E6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404040"/>
                </a:solidFill>
                <a:latin typeface="Arial"/>
              </a:defRPr>
            </a:pPr>
            <a:endParaRPr lang="en-US"/>
          </a:p>
        </c:txPr>
        <c:crossAx val="2094734554"/>
        <c:crosses val="autoZero"/>
        <c:crossBetween val="between"/>
      </c:valAx>
      <c:valAx>
        <c:axId val="2094734553"/>
        <c:scaling>
          <c:orientation val="minMax"/>
          <c:max val="25"/>
        </c:scaling>
        <c:delete val="0"/>
        <c:axPos val="r"/>
        <c:majorGridlines>
          <c:spPr>
            <a:ln w="12700" cap="flat">
              <a:solidFill>
                <a:srgbClr val="E7E6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404040"/>
                </a:solidFill>
                <a:latin typeface="Arial"/>
              </a:defRPr>
            </a:pPr>
            <a:endParaRPr lang="en-US"/>
          </a:p>
        </c:txPr>
        <c:crossAx val="2094734555"/>
        <c:crosses val="max"/>
        <c:crossBetween val="between"/>
      </c:valAx>
      <c:catAx>
        <c:axId val="2094734555"/>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404040"/>
                </a:solidFill>
                <a:latin typeface="Arial"/>
              </a:defRPr>
            </a:pPr>
            <a:endParaRPr lang="en-US"/>
          </a:p>
        </c:txPr>
        <c:crossAx val="2094734553"/>
        <c:crosses val="autoZero"/>
        <c:auto val="1"/>
        <c:lblAlgn val="ctr"/>
        <c:noMultiLvlLbl val="1"/>
      </c:catAx>
      <c:spPr>
        <a:noFill/>
        <a:ln>
          <a:noFill/>
        </a:ln>
        <a:effectLst/>
      </c:spPr>
    </c:plotArea>
    <c:legend>
      <c:legendPos val="b"/>
      <c:overlay val="0"/>
      <c:txPr>
        <a:bodyPr/>
        <a:lstStyle/>
        <a:p>
          <a:pPr>
            <a:defRPr sz="800">
              <a:solidFill>
                <a:srgbClr val="404040"/>
              </a:solidFill>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Frequency</c:v>
                </c:pt>
              </c:strCache>
            </c:strRef>
          </c:tx>
          <c:spPr>
            <a:solidFill>
              <a:srgbClr val="4472C4"/>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dPt>
            <c:idx val="0"/>
            <c:invertIfNegative val="0"/>
            <c:bubble3D val="0"/>
            <c:spPr>
              <a:solidFill>
                <a:srgbClr val="4472C4"/>
              </a:solidFill>
              <a:effectLst/>
            </c:spPr>
          </c:dPt>
          <c:dPt>
            <c:idx val="1"/>
            <c:invertIfNegative val="0"/>
            <c:bubble3D val="0"/>
            <c:spPr>
              <a:solidFill>
                <a:srgbClr val="ED7D31"/>
              </a:solidFill>
              <a:effectLst/>
            </c:spPr>
          </c:dPt>
          <c:dPt>
            <c:idx val="2"/>
            <c:invertIfNegative val="0"/>
            <c:bubble3D val="0"/>
            <c:spPr>
              <a:solidFill>
                <a:srgbClr val="4472C4"/>
              </a:solidFill>
              <a:effectLst/>
            </c:spPr>
          </c:dPt>
          <c:dPt>
            <c:idx val="3"/>
            <c:invertIfNegative val="0"/>
            <c:bubble3D val="0"/>
            <c:spPr>
              <a:solidFill>
                <a:srgbClr val="ED7D31"/>
              </a:solidFill>
              <a:effectLst/>
            </c:spPr>
          </c:dPt>
          <c:dPt>
            <c:idx val="4"/>
            <c:invertIfNegative val="0"/>
            <c:bubble3D val="0"/>
            <c:spPr>
              <a:solidFill>
                <a:srgbClr val="4472C4"/>
              </a:solidFill>
              <a:effectLst/>
            </c:spPr>
          </c:dPt>
          <c:dPt>
            <c:idx val="5"/>
            <c:invertIfNegative val="0"/>
            <c:bubble3D val="0"/>
            <c:spPr>
              <a:solidFill>
                <a:srgbClr val="ED7D31"/>
              </a:solidFill>
              <a:effectLst/>
            </c:spPr>
          </c:dPt>
          <c:dPt>
            <c:idx val="6"/>
            <c:invertIfNegative val="0"/>
            <c:bubble3D val="0"/>
            <c:spPr>
              <a:solidFill>
                <a:srgbClr val="4472C4"/>
              </a:solidFill>
              <a:effectLst/>
            </c:spPr>
          </c:dPt>
          <c:dPt>
            <c:idx val="7"/>
            <c:invertIfNegative val="0"/>
            <c:bubble3D val="0"/>
            <c:spPr>
              <a:solidFill>
                <a:srgbClr val="ED7D31"/>
              </a:solidFill>
              <a:effectLst/>
            </c:spPr>
          </c:dPt>
          <c:dPt>
            <c:idx val="8"/>
            <c:invertIfNegative val="0"/>
            <c:bubble3D val="0"/>
            <c:spPr>
              <a:solidFill>
                <a:srgbClr val="4472C4"/>
              </a:solidFill>
              <a:effectLst/>
            </c:spPr>
          </c:dPt>
          <c:dPt>
            <c:idx val="9"/>
            <c:invertIfNegative val="0"/>
            <c:bubble3D val="0"/>
            <c:spPr>
              <a:solidFill>
                <a:srgbClr val="ED7D31"/>
              </a:solidFill>
              <a:effectLst/>
            </c:spPr>
          </c:dPt>
          <c:dPt>
            <c:idx val="10"/>
            <c:invertIfNegative val="0"/>
            <c:bubble3D val="0"/>
            <c:spPr>
              <a:solidFill>
                <a:srgbClr val="4472C4"/>
              </a:solidFill>
              <a:effectLst/>
            </c:spPr>
          </c:dPt>
          <c:dPt>
            <c:idx val="11"/>
            <c:invertIfNegative val="0"/>
            <c:bubble3D val="0"/>
            <c:spPr>
              <a:solidFill>
                <a:srgbClr val="ED7D31"/>
              </a:solidFill>
              <a:effectLst/>
            </c:spPr>
          </c:dPt>
          <c:dPt>
            <c:idx val="12"/>
            <c:invertIfNegative val="0"/>
            <c:bubble3D val="0"/>
            <c:spPr>
              <a:solidFill>
                <a:srgbClr val="4472C4"/>
              </a:solidFill>
              <a:effectLst/>
            </c:spPr>
          </c:dPt>
          <c:dPt>
            <c:idx val="13"/>
            <c:invertIfNegative val="0"/>
            <c:bubble3D val="0"/>
            <c:spPr>
              <a:solidFill>
                <a:srgbClr val="ED7D31"/>
              </a:solidFill>
              <a:effectLst/>
            </c:spPr>
          </c:dPt>
          <c:dPt>
            <c:idx val="14"/>
            <c:invertIfNegative val="0"/>
            <c:bubble3D val="0"/>
            <c:spPr>
              <a:solidFill>
                <a:srgbClr val="4472C4"/>
              </a:solidFill>
              <a:effectLst/>
            </c:spPr>
          </c:dPt>
          <c:dPt>
            <c:idx val="15"/>
            <c:invertIfNegative val="0"/>
            <c:bubble3D val="0"/>
            <c:spPr>
              <a:solidFill>
                <a:srgbClr val="ED7D31"/>
              </a:solidFill>
              <a:effectLst/>
            </c:spPr>
          </c:dPt>
          <c:dPt>
            <c:idx val="16"/>
            <c:invertIfNegative val="0"/>
            <c:bubble3D val="0"/>
            <c:spPr>
              <a:solidFill>
                <a:srgbClr val="4472C4"/>
              </a:solidFill>
              <a:effectLst/>
            </c:spPr>
          </c:dPt>
          <c:cat>
            <c:multiLvlStrRef>
              <c:f>Sheet1!$A$2:$A$18</c:f>
              <c:multiLvlStrCache>
                <c:ptCount val="17"/>
                <c:lvl>
                  <c:pt idx="0">
                    <c:v>10%</c:v>
                  </c:pt>
                  <c:pt idx="1">
                    <c:v>15%</c:v>
                  </c:pt>
                  <c:pt idx="2">
                    <c:v>20%</c:v>
                  </c:pt>
                  <c:pt idx="3">
                    <c:v>25%</c:v>
                  </c:pt>
                  <c:pt idx="4">
                    <c:v>30%</c:v>
                  </c:pt>
                  <c:pt idx="5">
                    <c:v>35%</c:v>
                  </c:pt>
                  <c:pt idx="6">
                    <c:v>40%</c:v>
                  </c:pt>
                  <c:pt idx="7">
                    <c:v>45%</c:v>
                  </c:pt>
                  <c:pt idx="8">
                    <c:v>50%</c:v>
                  </c:pt>
                  <c:pt idx="9">
                    <c:v>55%</c:v>
                  </c:pt>
                  <c:pt idx="10">
                    <c:v>60%</c:v>
                  </c:pt>
                  <c:pt idx="11">
                    <c:v>65%</c:v>
                  </c:pt>
                  <c:pt idx="12">
                    <c:v>70%</c:v>
                  </c:pt>
                  <c:pt idx="13">
                    <c:v>75%</c:v>
                  </c:pt>
                  <c:pt idx="14">
                    <c:v>80%</c:v>
                  </c:pt>
                  <c:pt idx="15">
                    <c:v>85%</c:v>
                  </c:pt>
                  <c:pt idx="16">
                    <c:v>90%</c:v>
                  </c:pt>
                </c:lvl>
              </c:multiLvlStrCache>
            </c:multiLvlStrRef>
          </c:cat>
          <c:val>
            <c:numRef>
              <c:f>Sheet1!$B$2:$B$18</c:f>
              <c:numCache>
                <c:formatCode>General</c:formatCode>
                <c:ptCount val="17"/>
                <c:pt idx="0">
                  <c:v>1</c:v>
                </c:pt>
                <c:pt idx="1">
                  <c:v>0</c:v>
                </c:pt>
                <c:pt idx="2">
                  <c:v>0</c:v>
                </c:pt>
                <c:pt idx="3">
                  <c:v>0</c:v>
                </c:pt>
                <c:pt idx="4">
                  <c:v>2</c:v>
                </c:pt>
                <c:pt idx="5">
                  <c:v>19</c:v>
                </c:pt>
                <c:pt idx="6">
                  <c:v>14</c:v>
                </c:pt>
                <c:pt idx="7">
                  <c:v>14</c:v>
                </c:pt>
                <c:pt idx="8">
                  <c:v>20</c:v>
                </c:pt>
                <c:pt idx="9">
                  <c:v>12</c:v>
                </c:pt>
                <c:pt idx="10">
                  <c:v>5</c:v>
                </c:pt>
                <c:pt idx="11">
                  <c:v>3</c:v>
                </c:pt>
                <c:pt idx="12">
                  <c:v>3</c:v>
                </c:pt>
                <c:pt idx="13">
                  <c:v>1</c:v>
                </c:pt>
                <c:pt idx="14">
                  <c:v>1</c:v>
                </c:pt>
                <c:pt idx="15">
                  <c:v>0</c:v>
                </c:pt>
                <c:pt idx="16">
                  <c:v>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5"/>
        <c:axId val="2094734553"/>
        <c:axId val="2094734556"/>
      </c:barChart>
      <c:lineChart>
        <c:varyColors val="0"/>
        <c:ser>
          <c:idx val="1"/>
          <c:order val="1"/>
          <c:tx>
            <c:strRef>
              <c:f>Sheet1!$C$1</c:f>
              <c:strCache>
                <c:ptCount val="1"/>
                <c:pt idx="0">
                  <c:v>Normal Distribution</c:v>
                </c:pt>
              </c:strCache>
            </c:strRef>
          </c:tx>
          <c:spPr>
            <a:solidFill>
              <a:srgbClr val="4472C4"/>
            </a:solidFill>
            <a:ln w="25400" cap="flat">
              <a:solidFill>
                <a:srgbClr val="4472C4"/>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ED7D31"/>
              </a:solidFill>
              <a:ln w="9525" cap="flat">
                <a:solidFill>
                  <a:srgbClr val="4472C4"/>
                </a:solidFill>
                <a:prstDash val="solid"/>
                <a:round/>
              </a:ln>
              <a:effectLst/>
            </c:spPr>
          </c:marker>
          <c:cat>
            <c:multiLvlStrRef>
              <c:f>Sheet1!$A$2:$A$18</c:f>
              <c:multiLvlStrCache>
                <c:ptCount val="17"/>
                <c:lvl>
                  <c:pt idx="0">
                    <c:v>10%</c:v>
                  </c:pt>
                  <c:pt idx="1">
                    <c:v>15%</c:v>
                  </c:pt>
                  <c:pt idx="2">
                    <c:v>20%</c:v>
                  </c:pt>
                  <c:pt idx="3">
                    <c:v>25%</c:v>
                  </c:pt>
                  <c:pt idx="4">
                    <c:v>30%</c:v>
                  </c:pt>
                  <c:pt idx="5">
                    <c:v>35%</c:v>
                  </c:pt>
                  <c:pt idx="6">
                    <c:v>40%</c:v>
                  </c:pt>
                  <c:pt idx="7">
                    <c:v>45%</c:v>
                  </c:pt>
                  <c:pt idx="8">
                    <c:v>50%</c:v>
                  </c:pt>
                  <c:pt idx="9">
                    <c:v>55%</c:v>
                  </c:pt>
                  <c:pt idx="10">
                    <c:v>60%</c:v>
                  </c:pt>
                  <c:pt idx="11">
                    <c:v>65%</c:v>
                  </c:pt>
                  <c:pt idx="12">
                    <c:v>70%</c:v>
                  </c:pt>
                  <c:pt idx="13">
                    <c:v>75%</c:v>
                  </c:pt>
                  <c:pt idx="14">
                    <c:v>80%</c:v>
                  </c:pt>
                  <c:pt idx="15">
                    <c:v>85%</c:v>
                  </c:pt>
                  <c:pt idx="16">
                    <c:v>90%</c:v>
                  </c:pt>
                </c:lvl>
              </c:multiLvlStrCache>
            </c:multiLvlStrRef>
          </c:cat>
          <c:val>
            <c:numRef>
              <c:f>Sheet1!$C$2:$C$18</c:f>
              <c:numCache>
                <c:formatCode>General</c:formatCode>
                <c:ptCount val="17"/>
                <c:pt idx="0">
                  <c:v>0.03</c:v>
                </c:pt>
                <c:pt idx="1">
                  <c:v>0.08</c:v>
                </c:pt>
                <c:pt idx="2">
                  <c:v>0.2</c:v>
                </c:pt>
                <c:pt idx="3">
                  <c:v>0.55</c:v>
                </c:pt>
                <c:pt idx="4">
                  <c:v>1.2</c:v>
                </c:pt>
                <c:pt idx="5">
                  <c:v>2</c:v>
                </c:pt>
                <c:pt idx="6">
                  <c:v>2.7</c:v>
                </c:pt>
                <c:pt idx="7">
                  <c:v>3.1</c:v>
                </c:pt>
                <c:pt idx="8">
                  <c:v>3.15</c:v>
                </c:pt>
                <c:pt idx="9">
                  <c:v>2.7</c:v>
                </c:pt>
                <c:pt idx="10">
                  <c:v>2</c:v>
                </c:pt>
                <c:pt idx="11">
                  <c:v>1.2</c:v>
                </c:pt>
                <c:pt idx="12">
                  <c:v>0.55</c:v>
                </c:pt>
                <c:pt idx="13">
                  <c:v>0.2</c:v>
                </c:pt>
                <c:pt idx="14">
                  <c:v>0.08</c:v>
                </c:pt>
                <c:pt idx="15">
                  <c:v>0.03</c:v>
                </c:pt>
                <c:pt idx="16">
                  <c:v>0.01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404040"/>
                </a:solidFill>
                <a:latin typeface="Arial"/>
              </a:defRPr>
            </a:pPr>
            <a:endParaRPr lang="en-US"/>
          </a:p>
        </c:txPr>
        <c:crossAx val="2094734552"/>
        <c:crosses val="autoZero"/>
        <c:auto val="1"/>
        <c:lblAlgn val="ctr"/>
        <c:noMultiLvlLbl val="1"/>
      </c:catAx>
      <c:valAx>
        <c:axId val="2094734552"/>
        <c:scaling>
          <c:orientation val="minMax"/>
          <c:max val="4"/>
        </c:scaling>
        <c:delete val="0"/>
        <c:axPos val="l"/>
        <c:majorGridlines>
          <c:spPr>
            <a:ln w="12700" cap="flat">
              <a:solidFill>
                <a:srgbClr val="E7E6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404040"/>
                </a:solidFill>
                <a:latin typeface="Arial"/>
              </a:defRPr>
            </a:pPr>
            <a:endParaRPr lang="en-US"/>
          </a:p>
        </c:txPr>
        <c:crossAx val="2094734554"/>
        <c:crosses val="autoZero"/>
        <c:crossBetween val="between"/>
      </c:valAx>
      <c:valAx>
        <c:axId val="2094734553"/>
        <c:scaling>
          <c:orientation val="minMax"/>
          <c:max val="25"/>
        </c:scaling>
        <c:delete val="0"/>
        <c:axPos val="r"/>
        <c:majorGridlines>
          <c:spPr>
            <a:ln w="12700" cap="flat">
              <a:solidFill>
                <a:srgbClr val="E7E6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404040"/>
                </a:solidFill>
                <a:latin typeface="Arial"/>
              </a:defRPr>
            </a:pPr>
            <a:endParaRPr lang="en-US"/>
          </a:p>
        </c:txPr>
        <c:crossAx val="2094734555"/>
        <c:crosses val="max"/>
        <c:crossBetween val="between"/>
      </c:valAx>
      <c:catAx>
        <c:axId val="2094734555"/>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404040"/>
                </a:solidFill>
                <a:latin typeface="Arial"/>
              </a:defRPr>
            </a:pPr>
            <a:endParaRPr lang="en-US"/>
          </a:p>
        </c:txPr>
        <c:crossAx val="2094734553"/>
        <c:crosses val="autoZero"/>
        <c:auto val="1"/>
        <c:lblAlgn val="ctr"/>
        <c:noMultiLvlLbl val="1"/>
      </c:catAx>
      <c:spPr>
        <a:noFill/>
        <a:ln>
          <a:noFill/>
        </a:ln>
        <a:effectLst/>
      </c:spPr>
    </c:plotArea>
    <c:legend>
      <c:legendPos val="b"/>
      <c:overlay val="0"/>
      <c:txPr>
        <a:bodyPr/>
        <a:lstStyle/>
        <a:p>
          <a:pPr>
            <a:defRPr sz="800">
              <a:solidFill>
                <a:srgbClr val="404040"/>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chart" Target="/ppt/charts/chart5.xml"/><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864"/>
        </a:solidFill>
      </p:bgPr>
    </p:bg>
    <p:spTree>
      <p:nvGrpSpPr>
        <p:cNvPr id="1" name=""/>
        <p:cNvGrpSpPr/>
        <p:nvPr/>
      </p:nvGrpSpPr>
      <p:grpSpPr>
        <a:xfrm>
          <a:off x="0" y="0"/>
          <a:ext cx="0" cy="0"/>
          <a:chOff x="0" y="0"/>
          <a:chExt cx="0" cy="0"/>
        </a:xfrm>
      </p:grpSpPr>
      <p:sp>
        <p:nvSpPr>
          <p:cNvPr id="2" name="Text 0"/>
          <p:cNvSpPr/>
          <p:nvPr/>
        </p:nvSpPr>
        <p:spPr>
          <a:xfrm>
            <a:off x="822960" y="2331720"/>
            <a:ext cx="9144000" cy="548640"/>
          </a:xfrm>
          <a:prstGeom prst="rect">
            <a:avLst/>
          </a:prstGeom>
          <a:noFill/>
          <a:ln/>
        </p:spPr>
        <p:txBody>
          <a:bodyPr wrap="square" lIns="0" tIns="0" rIns="0" bIns="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ACME Corp</a:t>
            </a:r>
            <a:endParaRPr lang="en-US" sz="2600" dirty="0"/>
          </a:p>
        </p:txBody>
      </p:sp>
      <p:sp>
        <p:nvSpPr>
          <p:cNvPr id="3" name="Text 1"/>
          <p:cNvSpPr/>
          <p:nvPr/>
        </p:nvSpPr>
        <p:spPr>
          <a:xfrm>
            <a:off x="822960" y="2926080"/>
            <a:ext cx="10058400" cy="822960"/>
          </a:xfrm>
          <a:prstGeom prst="rect">
            <a:avLst/>
          </a:prstGeom>
          <a:noFill/>
          <a:ln/>
        </p:spPr>
        <p:txBody>
          <a:bodyPr wrap="square" lIns="0" tIns="0" rIns="0" bIns="0" rtlCol="0" anchor="ctr"/>
          <a:lstStyle/>
          <a:p>
            <a:pPr algn="l" indent="0" marL="0">
              <a:buNone/>
            </a:pPr>
            <a:r>
              <a:rPr lang="en-US" sz="3800" b="1" dirty="0">
                <a:solidFill>
                  <a:srgbClr val="FFFFFF"/>
                </a:solidFill>
                <a:latin typeface="Arial" pitchFamily="34" charset="0"/>
                <a:ea typeface="Arial" pitchFamily="34" charset="-122"/>
                <a:cs typeface="Arial" pitchFamily="34" charset="-120"/>
              </a:rPr>
              <a:t>Sales Strategy Case Study</a:t>
            </a:r>
            <a:endParaRPr lang="en-US" sz="3800" dirty="0"/>
          </a:p>
        </p:txBody>
      </p:sp>
      <p:sp>
        <p:nvSpPr>
          <p:cNvPr id="4" name="Text 2"/>
          <p:cNvSpPr/>
          <p:nvPr/>
        </p:nvSpPr>
        <p:spPr>
          <a:xfrm>
            <a:off x="822960" y="3794760"/>
            <a:ext cx="7315200" cy="320040"/>
          </a:xfrm>
          <a:prstGeom prst="rect">
            <a:avLst/>
          </a:prstGeom>
          <a:noFill/>
          <a:ln/>
        </p:spPr>
        <p:txBody>
          <a:bodyPr wrap="square" lIns="0" tIns="0" rIns="0" bIns="0" rtlCol="0" anchor="ctr"/>
          <a:lstStyle/>
          <a:p>
            <a:pPr algn="l" indent="0" marL="0">
              <a:buNone/>
            </a:pPr>
            <a:r>
              <a:rPr lang="en-US" sz="1500" dirty="0">
                <a:solidFill>
                  <a:srgbClr val="D9D9D9"/>
                </a:solidFill>
                <a:latin typeface="Arial" pitchFamily="34" charset="0"/>
                <a:ea typeface="Arial" pitchFamily="34" charset="-122"/>
                <a:cs typeface="Arial" pitchFamily="34" charset="-120"/>
              </a:rPr>
              <a:t>Dan McHugh</a:t>
            </a:r>
            <a:endParaRPr lang="en-US" sz="1500" dirty="0"/>
          </a:p>
        </p:txBody>
      </p:sp>
      <p:sp>
        <p:nvSpPr>
          <p:cNvPr id="5" name="Text 3"/>
          <p:cNvSpPr/>
          <p:nvPr/>
        </p:nvSpPr>
        <p:spPr>
          <a:xfrm>
            <a:off x="822960" y="4096512"/>
            <a:ext cx="7315200" cy="320040"/>
          </a:xfrm>
          <a:prstGeom prst="rect">
            <a:avLst/>
          </a:prstGeom>
          <a:noFill/>
          <a:ln/>
        </p:spPr>
        <p:txBody>
          <a:bodyPr wrap="square" lIns="0" tIns="0" rIns="0" bIns="0" rtlCol="0" anchor="ctr"/>
          <a:lstStyle/>
          <a:p>
            <a:pPr algn="l" indent="0" marL="0">
              <a:buNone/>
            </a:pPr>
            <a:r>
              <a:rPr lang="en-US" sz="1500" dirty="0">
                <a:solidFill>
                  <a:srgbClr val="D9D9D9"/>
                </a:solidFill>
                <a:latin typeface="Arial" pitchFamily="34" charset="0"/>
                <a:ea typeface="Arial" pitchFamily="34" charset="-122"/>
                <a:cs typeface="Arial" pitchFamily="34" charset="-120"/>
              </a:rPr>
              <a:t>Aug 3rd 2023</a:t>
            </a:r>
            <a:endParaRPr lang="en-US" sz="1500" dirty="0"/>
          </a:p>
        </p:txBody>
      </p:sp>
      <p:sp>
        <p:nvSpPr>
          <p:cNvPr id="6" name="Text 4"/>
          <p:cNvSpPr/>
          <p:nvPr/>
        </p:nvSpPr>
        <p:spPr>
          <a:xfrm>
            <a:off x="11551615" y="6446520"/>
            <a:ext cx="365760" cy="274320"/>
          </a:xfrm>
          <a:prstGeom prst="rect">
            <a:avLst/>
          </a:prstGeom>
          <a:noFill/>
          <a:ln/>
        </p:spPr>
        <p:txBody>
          <a:bodyPr wrap="square" lIns="0" tIns="0" rIns="0" bIns="0" rtlCol="0" anchor="ctr"/>
          <a:lstStyle/>
          <a:p>
            <a:pPr algn="r" indent="0" marL="0">
              <a:buNone/>
            </a:pPr>
            <a:r>
              <a:rPr lang="en-US" sz="1000" dirty="0">
                <a:solidFill>
                  <a:srgbClr val="7F7F7F"/>
                </a:solidFill>
                <a:latin typeface="Arial" pitchFamily="34" charset="0"/>
                <a:ea typeface="Arial" pitchFamily="34" charset="-122"/>
                <a:cs typeface="Arial" pitchFamily="34" charset="-120"/>
              </a:rPr>
              <a:t>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FFFFFF"/>
          </a:solidFill>
          <a:ln w="19050">
            <a:solidFill>
              <a:srgbClr val="D9D9D9"/>
            </a:solidFill>
            <a:prstDash val="solid"/>
          </a:ln>
        </p:spPr>
      </p:sp>
      <p:sp>
        <p:nvSpPr>
          <p:cNvPr id="3" name="Text 1"/>
          <p:cNvSpPr/>
          <p:nvPr/>
        </p:nvSpPr>
        <p:spPr>
          <a:xfrm>
            <a:off x="457200" y="201168"/>
            <a:ext cx="11277295" cy="59436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Additional Resources</a:t>
            </a:r>
            <a:endParaRPr lang="en-US" sz="2400" dirty="0"/>
          </a:p>
        </p:txBody>
      </p:sp>
      <p:sp>
        <p:nvSpPr>
          <p:cNvPr id="4" name="Text 2"/>
          <p:cNvSpPr/>
          <p:nvPr/>
        </p:nvSpPr>
        <p:spPr>
          <a:xfrm>
            <a:off x="457200" y="1463040"/>
            <a:ext cx="11277295" cy="1371600"/>
          </a:xfrm>
          <a:prstGeom prst="rect">
            <a:avLst/>
          </a:prstGeom>
          <a:noFill/>
          <a:ln/>
        </p:spPr>
        <p:txBody>
          <a:bodyPr wrap="square" lIns="0" tIns="0" rIns="0" bIns="0" rtlCol="0" anchor="t"/>
          <a:lstStyle/>
          <a:p>
            <a:pPr algn="l" marL="228600" indent="-228600">
              <a:spcAft>
                <a:spcPts val="1200"/>
              </a:spcAft>
              <a:buSzPct val="100000"/>
              <a:buChar char="•"/>
            </a:pPr>
            <a:r>
              <a:rPr lang="en-US" sz="1500" dirty="0">
                <a:solidFill>
                  <a:srgbClr val="404040"/>
                </a:solidFill>
                <a:latin typeface="Arial" pitchFamily="34" charset="0"/>
                <a:ea typeface="Arial" pitchFamily="34" charset="-122"/>
                <a:cs typeface="Arial" pitchFamily="34" charset="-120"/>
              </a:rPr>
              <a:t>Google Sheet with workings &amp; approach</a:t>
            </a:r>
            <a:endParaRPr lang="en-US" sz="1500" dirty="0"/>
          </a:p>
          <a:p>
            <a:pPr algn="l" marL="228600" indent="-228600">
              <a:spcAft>
                <a:spcPts val="1200"/>
              </a:spcAft>
              <a:buSzPct val="100000"/>
              <a:buChar char="•"/>
            </a:pPr>
            <a:r>
              <a:rPr lang="en-US" sz="1500" dirty="0">
                <a:solidFill>
                  <a:srgbClr val="404040"/>
                </a:solidFill>
                <a:latin typeface="Arial" pitchFamily="34" charset="0"/>
                <a:ea typeface="Arial" pitchFamily="34" charset="-122"/>
                <a:cs typeface="Arial" pitchFamily="34" charset="-120"/>
              </a:rPr>
              <a:t>Google Doc with commentary to key questions</a:t>
            </a:r>
            <a:endParaRPr lang="en-US" sz="1500" dirty="0"/>
          </a:p>
        </p:txBody>
      </p:sp>
      <p:sp>
        <p:nvSpPr>
          <p:cNvPr id="5" name="Text 3"/>
          <p:cNvSpPr/>
          <p:nvPr/>
        </p:nvSpPr>
        <p:spPr>
          <a:xfrm>
            <a:off x="11551615" y="6446520"/>
            <a:ext cx="365760" cy="274320"/>
          </a:xfrm>
          <a:prstGeom prst="rect">
            <a:avLst/>
          </a:prstGeom>
          <a:noFill/>
          <a:ln/>
        </p:spPr>
        <p:txBody>
          <a:bodyPr wrap="square" lIns="0" tIns="0" rIns="0" bIns="0" rtlCol="0" anchor="ctr"/>
          <a:lstStyle/>
          <a:p>
            <a:pPr algn="r" indent="0" marL="0">
              <a:buNone/>
            </a:pPr>
            <a:r>
              <a:rPr lang="en-US" sz="1000" dirty="0">
                <a:solidFill>
                  <a:srgbClr val="7F7F7F"/>
                </a:solidFill>
                <a:latin typeface="Arial" pitchFamily="34" charset="0"/>
                <a:ea typeface="Arial" pitchFamily="34" charset="-122"/>
                <a:cs typeface="Arial"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404040"/>
        </a:solidFill>
      </p:bgPr>
    </p:bg>
    <p:spTree>
      <p:nvGrpSpPr>
        <p:cNvPr id="1" name=""/>
        <p:cNvGrpSpPr/>
        <p:nvPr/>
      </p:nvGrpSpPr>
      <p:grpSpPr>
        <a:xfrm>
          <a:off x="0" y="0"/>
          <a:ext cx="0" cy="0"/>
          <a:chOff x="0" y="0"/>
          <a:chExt cx="0" cy="0"/>
        </a:xfrm>
      </p:grpSpPr>
      <p:sp>
        <p:nvSpPr>
          <p:cNvPr id="2" name="Text 0"/>
          <p:cNvSpPr/>
          <p:nvPr/>
        </p:nvSpPr>
        <p:spPr>
          <a:xfrm>
            <a:off x="822960" y="2468880"/>
            <a:ext cx="5486400" cy="457200"/>
          </a:xfrm>
          <a:prstGeom prst="rect">
            <a:avLst/>
          </a:prstGeom>
          <a:noFill/>
          <a:ln/>
        </p:spPr>
        <p:txBody>
          <a:bodyPr wrap="square" lIns="0" tIns="0" rIns="0" bIns="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ACME Corp</a:t>
            </a:r>
            <a:endParaRPr lang="en-US" sz="1600" dirty="0"/>
          </a:p>
        </p:txBody>
      </p:sp>
      <p:sp>
        <p:nvSpPr>
          <p:cNvPr id="3" name="Text 1"/>
          <p:cNvSpPr/>
          <p:nvPr/>
        </p:nvSpPr>
        <p:spPr>
          <a:xfrm>
            <a:off x="822960" y="3017520"/>
            <a:ext cx="7315200" cy="822960"/>
          </a:xfrm>
          <a:prstGeom prst="rect">
            <a:avLst/>
          </a:prstGeom>
          <a:noFill/>
          <a:ln/>
        </p:spPr>
        <p:txBody>
          <a:bodyPr wrap="square" lIns="0" tIns="0" rIns="0" bIns="0" rtlCol="0" anchor="ctr"/>
          <a:lstStyle/>
          <a:p>
            <a:pPr algn="l" indent="0" marL="0">
              <a:buNone/>
            </a:pPr>
            <a:r>
              <a:rPr lang="en-US" sz="3400" b="1" dirty="0">
                <a:solidFill>
                  <a:srgbClr val="ED7D31"/>
                </a:solidFill>
                <a:latin typeface="Arial" pitchFamily="34" charset="0"/>
                <a:ea typeface="Arial" pitchFamily="34" charset="-122"/>
                <a:cs typeface="Arial" pitchFamily="34" charset="-120"/>
              </a:rPr>
              <a:t>Question 1</a:t>
            </a:r>
            <a:endParaRPr lang="en-US" sz="3400" dirty="0"/>
          </a:p>
        </p:txBody>
      </p:sp>
      <p:sp>
        <p:nvSpPr>
          <p:cNvPr id="4" name="Text 2"/>
          <p:cNvSpPr/>
          <p:nvPr/>
        </p:nvSpPr>
        <p:spPr>
          <a:xfrm>
            <a:off x="11551615" y="6446520"/>
            <a:ext cx="365760" cy="274320"/>
          </a:xfrm>
          <a:prstGeom prst="rect">
            <a:avLst/>
          </a:prstGeom>
          <a:noFill/>
          <a:ln/>
        </p:spPr>
        <p:txBody>
          <a:bodyPr wrap="square" lIns="0" tIns="0" rIns="0" bIns="0" rtlCol="0" anchor="ctr"/>
          <a:lstStyle/>
          <a:p>
            <a:pPr algn="r" indent="0" marL="0">
              <a:buNone/>
            </a:pPr>
            <a:r>
              <a:rPr lang="en-US" sz="1000" dirty="0">
                <a:solidFill>
                  <a:srgbClr val="7F7F7F"/>
                </a:solidFill>
                <a:latin typeface="Arial" pitchFamily="34" charset="0"/>
                <a:ea typeface="Arial" pitchFamily="34" charset="-122"/>
                <a:cs typeface="Arial"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FFFFFF"/>
          </a:solidFill>
          <a:ln w="19050">
            <a:solidFill>
              <a:srgbClr val="D9D9D9"/>
            </a:solidFill>
            <a:prstDash val="solid"/>
          </a:ln>
        </p:spPr>
      </p:sp>
      <p:sp>
        <p:nvSpPr>
          <p:cNvPr id="3" name="Text 1"/>
          <p:cNvSpPr/>
          <p:nvPr/>
        </p:nvSpPr>
        <p:spPr>
          <a:xfrm>
            <a:off x="457200" y="201168"/>
            <a:ext cx="11277295" cy="59436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FY22 Opportunity Characteristics</a:t>
            </a:r>
            <a:endParaRPr lang="en-US" sz="2400" dirty="0"/>
          </a:p>
        </p:txBody>
      </p:sp>
      <p:sp>
        <p:nvSpPr>
          <p:cNvPr id="4" name="Text 2"/>
          <p:cNvSpPr/>
          <p:nvPr/>
        </p:nvSpPr>
        <p:spPr>
          <a:xfrm>
            <a:off x="457200" y="1143000"/>
            <a:ext cx="7498080" cy="320040"/>
          </a:xfrm>
          <a:prstGeom prst="rect">
            <a:avLst/>
          </a:prstGeom>
          <a:noFill/>
          <a:ln/>
        </p:spPr>
        <p:txBody>
          <a:bodyPr wrap="square" lIns="0" tIns="0" rIns="0" bIns="0" rtlCol="0" anchor="ctr"/>
          <a:lstStyle/>
          <a:p>
            <a:pPr indent="0" marL="0">
              <a:buNone/>
            </a:pPr>
            <a:r>
              <a:rPr lang="en-US" sz="1300" dirty="0">
                <a:solidFill>
                  <a:srgbClr val="404040"/>
                </a:solidFill>
                <a:latin typeface="Arial" pitchFamily="34" charset="0"/>
                <a:ea typeface="Arial" pitchFamily="34" charset="-122"/>
                <a:cs typeface="Arial" pitchFamily="34" charset="-120"/>
              </a:rPr>
              <a:t>FY22 Territory Opp Score Distribution vs Normal Distribution</a:t>
            </a:r>
            <a:endParaRPr lang="en-US" sz="1300" dirty="0"/>
          </a:p>
        </p:txBody>
      </p:sp>
      <p:graphicFrame>
        <p:nvGraphicFramePr>
          <p:cNvPr id="5" name="Chart 0" descr=""/>
          <p:cNvGraphicFramePr/>
          <p:nvPr/>
        </p:nvGraphicFramePr>
        <p:xfrm>
          <a:off x="457200" y="1463040"/>
          <a:ext cx="7498080" cy="429768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8229600" y="1463040"/>
            <a:ext cx="3520440" cy="3657600"/>
          </a:xfrm>
          <a:prstGeom prst="roundRect">
            <a:avLst>
              <a:gd name="adj" fmla="val 1299"/>
            </a:avLst>
          </a:prstGeom>
          <a:solidFill>
            <a:srgbClr val="F2F2F2"/>
          </a:solidFill>
          <a:ln w="12700">
            <a:solidFill>
              <a:srgbClr val="D9D9D9"/>
            </a:solidFill>
            <a:prstDash val="solid"/>
          </a:ln>
        </p:spPr>
      </p:sp>
      <p:sp>
        <p:nvSpPr>
          <p:cNvPr id="7" name="Text 4"/>
          <p:cNvSpPr/>
          <p:nvPr/>
        </p:nvSpPr>
        <p:spPr>
          <a:xfrm>
            <a:off x="8458200" y="1645920"/>
            <a:ext cx="3108960" cy="3291840"/>
          </a:xfrm>
          <a:prstGeom prst="rect">
            <a:avLst/>
          </a:prstGeom>
          <a:noFill/>
          <a:ln/>
        </p:spPr>
        <p:txBody>
          <a:bodyPr wrap="square" lIns="0" tIns="0" rIns="0" bIns="0" rtlCol="0" anchor="t"/>
          <a:lstStyle/>
          <a:p>
            <a:pPr algn="l" marL="228600" indent="-228600">
              <a:spcAft>
                <a:spcPts val="1200"/>
              </a:spcAft>
              <a:buSzPct val="100000"/>
              <a:buChar char="•"/>
            </a:pPr>
            <a:r>
              <a:rPr lang="en-US" sz="1150" dirty="0">
                <a:solidFill>
                  <a:srgbClr val="404040"/>
                </a:solidFill>
                <a:latin typeface="Arial" pitchFamily="34" charset="0"/>
                <a:ea typeface="Arial" pitchFamily="34" charset="-122"/>
                <a:cs typeface="Arial" pitchFamily="34" charset="-120"/>
              </a:rPr>
              <a:t>Overall distribution is poorly matched to an average distribution pattern, with a larger frequency of Territories having very high-score opportunity patches, which gaps are significant in the larger majority and the lower end.</a:t>
            </a:r>
            <a:endParaRPr lang="en-US" sz="1150" dirty="0"/>
          </a:p>
          <a:p>
            <a:pPr algn="l" marL="228600" indent="-228600">
              <a:spcAft>
                <a:spcPts val="1200"/>
              </a:spcAft>
              <a:buSzPct val="100000"/>
              <a:buChar char="•"/>
            </a:pPr>
            <a:r>
              <a:rPr lang="en-US" sz="1150" dirty="0">
                <a:solidFill>
                  <a:srgbClr val="404040"/>
                </a:solidFill>
                <a:latin typeface="Arial" pitchFamily="34" charset="0"/>
                <a:ea typeface="Arial" pitchFamily="34" charset="-122"/>
                <a:cs typeface="Arial" pitchFamily="34" charset="-120"/>
              </a:rPr>
              <a:t>This may lead to a barbell effect where there are a proportion of high performers and a larger proportion missing target due to poor Territories. 17% of Territories are +2 std dev away from the Mean vs 10% expected</a:t>
            </a:r>
            <a:endParaRPr lang="en-US" sz="1150" dirty="0"/>
          </a:p>
        </p:txBody>
      </p:sp>
      <p:sp>
        <p:nvSpPr>
          <p:cNvPr id="8" name="Text 5"/>
          <p:cNvSpPr/>
          <p:nvPr/>
        </p:nvSpPr>
        <p:spPr>
          <a:xfrm>
            <a:off x="11551615" y="6446520"/>
            <a:ext cx="365760" cy="274320"/>
          </a:xfrm>
          <a:prstGeom prst="rect">
            <a:avLst/>
          </a:prstGeom>
          <a:noFill/>
          <a:ln/>
        </p:spPr>
        <p:txBody>
          <a:bodyPr wrap="square" lIns="0" tIns="0" rIns="0" bIns="0" rtlCol="0" anchor="ctr"/>
          <a:lstStyle/>
          <a:p>
            <a:pPr algn="r" indent="0" marL="0">
              <a:buNone/>
            </a:pPr>
            <a:r>
              <a:rPr lang="en-US" sz="1000" dirty="0">
                <a:solidFill>
                  <a:srgbClr val="7F7F7F"/>
                </a:solidFill>
                <a:latin typeface="Arial" pitchFamily="34" charset="0"/>
                <a:ea typeface="Arial" pitchFamily="34" charset="-122"/>
                <a:cs typeface="Arial"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FFFFFF"/>
          </a:solidFill>
          <a:ln w="19050">
            <a:solidFill>
              <a:srgbClr val="D9D9D9"/>
            </a:solidFill>
            <a:prstDash val="solid"/>
          </a:ln>
        </p:spPr>
      </p:sp>
      <p:sp>
        <p:nvSpPr>
          <p:cNvPr id="3" name="Text 1"/>
          <p:cNvSpPr/>
          <p:nvPr/>
        </p:nvSpPr>
        <p:spPr>
          <a:xfrm>
            <a:off x="457200" y="201168"/>
            <a:ext cx="11277295" cy="59436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FY22 Opportunity Characteristics</a:t>
            </a:r>
            <a:endParaRPr lang="en-US" sz="2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5394960" cy="1463040"/>
        </p:xfrm>
        <a:graphic>
          <a:graphicData uri="http://schemas.openxmlformats.org/drawingml/2006/table">
            <a:tbl>
              <a:tblPr/>
              <a:tblGrid>
                <a:gridCol w="2377440"/>
                <a:gridCol w="1005840"/>
                <a:gridCol w="1005840"/>
                <a:gridCol w="1005840"/>
              </a:tblGrid>
              <a:tr h="292608">
                <a:tc>
                  <a:txBody>
                    <a:bodyPr/>
                    <a:lstStyle/>
                    <a:p>
                      <a:pPr algn="l" indent="0" marL="0">
                        <a:buNone/>
                      </a:pPr>
                      <a:r>
                        <a:rPr lang="en-US" sz="1150" b="1" dirty="0">
                          <a:solidFill>
                            <a:srgbClr val="000000"/>
                          </a:solidFill>
                          <a:latin typeface="Arial" pitchFamily="34" charset="0"/>
                          <a:ea typeface="Arial" pitchFamily="34" charset="-122"/>
                          <a:cs typeface="Arial" pitchFamily="34" charset="-120"/>
                        </a:rPr>
                        <a:t>Grouped FY22 Account Owner Name</a:t>
                      </a:r>
                      <a:endParaRPr lang="en-US" sz="1150" dirty="0">
                        <a:latin typeface="Arial" charset="0"/>
                        <a:ea typeface="Arial" charset="0"/>
                        <a:cs typeface="Arial"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D9D9D9"/>
                    </a:solidFill>
                  </a:tcPr>
                </a:tc>
                <a:tc>
                  <a:txBody>
                    <a:bodyPr/>
                    <a:lstStyle/>
                    <a:p>
                      <a:pPr algn="ctr" indent="0" marL="0">
                        <a:buNone/>
                      </a:pPr>
                      <a:r>
                        <a:rPr lang="en-US" sz="1150" b="1" dirty="0">
                          <a:solidFill>
                            <a:srgbClr val="000000"/>
                          </a:solidFill>
                          <a:latin typeface="Arial" pitchFamily="34" charset="0"/>
                          <a:ea typeface="Arial" pitchFamily="34" charset="-122"/>
                          <a:cs typeface="Arial" pitchFamily="34" charset="-120"/>
                        </a:rPr>
                        <a:t>Customer</a:t>
                      </a:r>
                      <a:endParaRPr lang="en-US" sz="1150" dirty="0">
                        <a:latin typeface="Arial" charset="0"/>
                        <a:ea typeface="Arial" charset="0"/>
                        <a:cs typeface="Arial"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D9D9D9"/>
                    </a:solidFill>
                  </a:tcPr>
                </a:tc>
                <a:tc>
                  <a:txBody>
                    <a:bodyPr/>
                    <a:lstStyle/>
                    <a:p>
                      <a:pPr algn="ctr" indent="0" marL="0">
                        <a:buNone/>
                      </a:pPr>
                      <a:r>
                        <a:rPr lang="en-US" sz="1150" b="1" dirty="0">
                          <a:solidFill>
                            <a:srgbClr val="000000"/>
                          </a:solidFill>
                          <a:latin typeface="Arial" pitchFamily="34" charset="0"/>
                          <a:ea typeface="Arial" pitchFamily="34" charset="-122"/>
                          <a:cs typeface="Arial" pitchFamily="34" charset="-120"/>
                        </a:rPr>
                        <a:t>Prospect</a:t>
                      </a:r>
                      <a:endParaRPr lang="en-US" sz="1150" dirty="0">
                        <a:latin typeface="Arial" charset="0"/>
                        <a:ea typeface="Arial" charset="0"/>
                        <a:cs typeface="Arial"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D9D9D9"/>
                    </a:solidFill>
                  </a:tcPr>
                </a:tc>
                <a:tc>
                  <a:txBody>
                    <a:bodyPr/>
                    <a:lstStyle/>
                    <a:p>
                      <a:pPr algn="ctr" indent="0" marL="0">
                        <a:buNone/>
                      </a:pPr>
                      <a:r>
                        <a:rPr lang="en-US" sz="1150" b="1" dirty="0">
                          <a:solidFill>
                            <a:srgbClr val="000000"/>
                          </a:solidFill>
                          <a:latin typeface="Arial" pitchFamily="34" charset="0"/>
                          <a:ea typeface="Arial" pitchFamily="34" charset="-122"/>
                          <a:cs typeface="Arial" pitchFamily="34" charset="-120"/>
                        </a:rPr>
                        <a:t>Grand Total</a:t>
                      </a:r>
                      <a:endParaRPr lang="en-US" sz="1150" dirty="0">
                        <a:latin typeface="Arial" charset="0"/>
                        <a:ea typeface="Arial" charset="0"/>
                        <a:cs typeface="Arial"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D9D9D9"/>
                    </a:solidFill>
                  </a:tcPr>
                </a:tc>
              </a:tr>
              <a:tr h="292608">
                <a:tc>
                  <a:txBody>
                    <a:bodyPr/>
                    <a:lstStyle/>
                    <a:p>
                      <a:pPr indent="0" marL="0">
                        <a:buNone/>
                      </a:pPr>
                      <a:r>
                        <a:rPr lang="en-US" sz="1150" b="1" dirty="0">
                          <a:solidFill>
                            <a:srgbClr val="000000"/>
                          </a:solidFill>
                          <a:latin typeface="Arial" pitchFamily="34" charset="0"/>
                          <a:ea typeface="Arial" pitchFamily="34" charset="-122"/>
                          <a:cs typeface="Arial" pitchFamily="34" charset="-120"/>
                        </a:rPr>
                        <a:t>AMER</a:t>
                      </a:r>
                      <a:endParaRPr lang="en-US" sz="1150" dirty="0">
                        <a:latin typeface="Arial" charset="0"/>
                        <a:ea typeface="Arial" charset="0"/>
                        <a:cs typeface="Arial"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algn="ctr" indent="0" marL="0">
                        <a:buNone/>
                      </a:pPr>
                      <a:r>
                        <a:rPr lang="en-US" sz="1150" dirty="0">
                          <a:solidFill>
                            <a:srgbClr val="000000"/>
                          </a:solidFill>
                          <a:latin typeface="Arial" pitchFamily="34" charset="0"/>
                          <a:ea typeface="Arial" pitchFamily="34" charset="-122"/>
                          <a:cs typeface="Arial" pitchFamily="34" charset="-120"/>
                        </a:rPr>
                        <a:t>9%</a:t>
                      </a:r>
                      <a:endParaRPr lang="en-US" sz="1150" dirty="0">
                        <a:latin typeface="Arial" charset="0"/>
                        <a:ea typeface="Arial" charset="0"/>
                        <a:cs typeface="Arial"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algn="ctr" indent="0" marL="0">
                        <a:buNone/>
                      </a:pPr>
                      <a:r>
                        <a:rPr lang="en-US" sz="1150" dirty="0">
                          <a:solidFill>
                            <a:srgbClr val="000000"/>
                          </a:solidFill>
                          <a:latin typeface="Arial" pitchFamily="34" charset="0"/>
                          <a:ea typeface="Arial" pitchFamily="34" charset="-122"/>
                          <a:cs typeface="Arial" pitchFamily="34" charset="-120"/>
                        </a:rPr>
                        <a:t>91%</a:t>
                      </a:r>
                      <a:endParaRPr lang="en-US" sz="1150" dirty="0">
                        <a:latin typeface="Arial" charset="0"/>
                        <a:ea typeface="Arial" charset="0"/>
                        <a:cs typeface="Arial"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algn="ctr" indent="0" marL="0">
                        <a:buNone/>
                      </a:pPr>
                      <a:r>
                        <a:rPr lang="en-US" sz="1150" dirty="0">
                          <a:solidFill>
                            <a:srgbClr val="000000"/>
                          </a:solidFill>
                          <a:latin typeface="Arial" pitchFamily="34" charset="0"/>
                          <a:ea typeface="Arial" pitchFamily="34" charset="-122"/>
                          <a:cs typeface="Arial" pitchFamily="34" charset="-120"/>
                        </a:rPr>
                        <a:t>100%</a:t>
                      </a:r>
                      <a:endParaRPr lang="en-US" sz="1150" dirty="0">
                        <a:latin typeface="Arial" charset="0"/>
                        <a:ea typeface="Arial" charset="0"/>
                        <a:cs typeface="Arial"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r>
              <a:tr h="292608">
                <a:tc>
                  <a:txBody>
                    <a:bodyPr/>
                    <a:lstStyle/>
                    <a:p>
                      <a:pPr indent="0" marL="0">
                        <a:buNone/>
                      </a:pPr>
                      <a:r>
                        <a:rPr lang="en-US" sz="1150" b="1" dirty="0">
                          <a:solidFill>
                            <a:srgbClr val="000000"/>
                          </a:solidFill>
                          <a:latin typeface="Arial" pitchFamily="34" charset="0"/>
                          <a:ea typeface="Arial" pitchFamily="34" charset="-122"/>
                          <a:cs typeface="Arial" pitchFamily="34" charset="-120"/>
                        </a:rPr>
                        <a:t>APAC</a:t>
                      </a:r>
                      <a:endParaRPr lang="en-US" sz="1150" dirty="0">
                        <a:latin typeface="Arial" charset="0"/>
                        <a:ea typeface="Arial" charset="0"/>
                        <a:cs typeface="Arial"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algn="ctr" indent="0" marL="0">
                        <a:buNone/>
                      </a:pPr>
                      <a:r>
                        <a:rPr lang="en-US" sz="1150" dirty="0">
                          <a:solidFill>
                            <a:srgbClr val="000000"/>
                          </a:solidFill>
                          <a:latin typeface="Arial" pitchFamily="34" charset="0"/>
                          <a:ea typeface="Arial" pitchFamily="34" charset="-122"/>
                          <a:cs typeface="Arial" pitchFamily="34" charset="-120"/>
                        </a:rPr>
                        <a:t>5%</a:t>
                      </a:r>
                      <a:endParaRPr lang="en-US" sz="1150" dirty="0">
                        <a:latin typeface="Arial" charset="0"/>
                        <a:ea typeface="Arial" charset="0"/>
                        <a:cs typeface="Arial"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algn="ctr" indent="0" marL="0">
                        <a:buNone/>
                      </a:pPr>
                      <a:r>
                        <a:rPr lang="en-US" sz="1150" dirty="0">
                          <a:solidFill>
                            <a:srgbClr val="000000"/>
                          </a:solidFill>
                          <a:latin typeface="Arial" pitchFamily="34" charset="0"/>
                          <a:ea typeface="Arial" pitchFamily="34" charset="-122"/>
                          <a:cs typeface="Arial" pitchFamily="34" charset="-120"/>
                        </a:rPr>
                        <a:t>95%</a:t>
                      </a:r>
                      <a:endParaRPr lang="en-US" sz="1150" dirty="0">
                        <a:latin typeface="Arial" charset="0"/>
                        <a:ea typeface="Arial" charset="0"/>
                        <a:cs typeface="Arial"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algn="ctr" indent="0" marL="0">
                        <a:buNone/>
                      </a:pPr>
                      <a:r>
                        <a:rPr lang="en-US" sz="1150" dirty="0">
                          <a:solidFill>
                            <a:srgbClr val="000000"/>
                          </a:solidFill>
                          <a:latin typeface="Arial" pitchFamily="34" charset="0"/>
                          <a:ea typeface="Arial" pitchFamily="34" charset="-122"/>
                          <a:cs typeface="Arial" pitchFamily="34" charset="-120"/>
                        </a:rPr>
                        <a:t>100%</a:t>
                      </a:r>
                      <a:endParaRPr lang="en-US" sz="1150" dirty="0">
                        <a:latin typeface="Arial" charset="0"/>
                        <a:ea typeface="Arial" charset="0"/>
                        <a:cs typeface="Arial"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r>
              <a:tr h="292608">
                <a:tc>
                  <a:txBody>
                    <a:bodyPr/>
                    <a:lstStyle/>
                    <a:p>
                      <a:pPr indent="0" marL="0">
                        <a:buNone/>
                      </a:pPr>
                      <a:r>
                        <a:rPr lang="en-US" sz="1150" b="1" dirty="0">
                          <a:solidFill>
                            <a:srgbClr val="000000"/>
                          </a:solidFill>
                          <a:latin typeface="Arial" pitchFamily="34" charset="0"/>
                          <a:ea typeface="Arial" pitchFamily="34" charset="-122"/>
                          <a:cs typeface="Arial" pitchFamily="34" charset="-120"/>
                        </a:rPr>
                        <a:t>EMEA</a:t>
                      </a:r>
                      <a:endParaRPr lang="en-US" sz="1150" dirty="0">
                        <a:latin typeface="Arial" charset="0"/>
                        <a:ea typeface="Arial" charset="0"/>
                        <a:cs typeface="Arial"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algn="ctr" indent="0" marL="0">
                        <a:buNone/>
                      </a:pPr>
                      <a:r>
                        <a:rPr lang="en-US" sz="1150" dirty="0">
                          <a:solidFill>
                            <a:srgbClr val="000000"/>
                          </a:solidFill>
                          <a:latin typeface="Arial" pitchFamily="34" charset="0"/>
                          <a:ea typeface="Arial" pitchFamily="34" charset="-122"/>
                          <a:cs typeface="Arial" pitchFamily="34" charset="-120"/>
                        </a:rPr>
                        <a:t>16%</a:t>
                      </a:r>
                      <a:endParaRPr lang="en-US" sz="1150" dirty="0">
                        <a:latin typeface="Arial" charset="0"/>
                        <a:ea typeface="Arial" charset="0"/>
                        <a:cs typeface="Arial"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algn="ctr" indent="0" marL="0">
                        <a:buNone/>
                      </a:pPr>
                      <a:r>
                        <a:rPr lang="en-US" sz="1150" dirty="0">
                          <a:solidFill>
                            <a:srgbClr val="000000"/>
                          </a:solidFill>
                          <a:latin typeface="Arial" pitchFamily="34" charset="0"/>
                          <a:ea typeface="Arial" pitchFamily="34" charset="-122"/>
                          <a:cs typeface="Arial" pitchFamily="34" charset="-120"/>
                        </a:rPr>
                        <a:t>84%</a:t>
                      </a:r>
                      <a:endParaRPr lang="en-US" sz="1150" dirty="0">
                        <a:latin typeface="Arial" charset="0"/>
                        <a:ea typeface="Arial" charset="0"/>
                        <a:cs typeface="Arial"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algn="ctr" indent="0" marL="0">
                        <a:buNone/>
                      </a:pPr>
                      <a:r>
                        <a:rPr lang="en-US" sz="1150" dirty="0">
                          <a:solidFill>
                            <a:srgbClr val="000000"/>
                          </a:solidFill>
                          <a:latin typeface="Arial" pitchFamily="34" charset="0"/>
                          <a:ea typeface="Arial" pitchFamily="34" charset="-122"/>
                          <a:cs typeface="Arial" pitchFamily="34" charset="-120"/>
                        </a:rPr>
                        <a:t>100%</a:t>
                      </a:r>
                      <a:endParaRPr lang="en-US" sz="1150" dirty="0">
                        <a:latin typeface="Arial" charset="0"/>
                        <a:ea typeface="Arial" charset="0"/>
                        <a:cs typeface="Arial"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r>
              <a:tr h="292608">
                <a:tc>
                  <a:txBody>
                    <a:bodyPr/>
                    <a:lstStyle/>
                    <a:p>
                      <a:pPr indent="0" marL="0">
                        <a:buNone/>
                      </a:pPr>
                      <a:r>
                        <a:rPr lang="en-US" sz="1150" b="1" dirty="0">
                          <a:solidFill>
                            <a:srgbClr val="000000"/>
                          </a:solidFill>
                          <a:latin typeface="Arial" pitchFamily="34" charset="0"/>
                          <a:ea typeface="Arial" pitchFamily="34" charset="-122"/>
                          <a:cs typeface="Arial" pitchFamily="34" charset="-120"/>
                        </a:rPr>
                        <a:t>Grand Total</a:t>
                      </a:r>
                      <a:endParaRPr lang="en-US" sz="1150" dirty="0">
                        <a:latin typeface="Arial" charset="0"/>
                        <a:ea typeface="Arial" charset="0"/>
                        <a:cs typeface="Arial"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150" b="1" dirty="0">
                          <a:solidFill>
                            <a:srgbClr val="000000"/>
                          </a:solidFill>
                          <a:latin typeface="Arial" pitchFamily="34" charset="0"/>
                          <a:ea typeface="Arial" pitchFamily="34" charset="-122"/>
                          <a:cs typeface="Arial" pitchFamily="34" charset="-120"/>
                        </a:rPr>
                        <a:t>10%</a:t>
                      </a:r>
                      <a:endParaRPr lang="en-US" sz="1150" dirty="0">
                        <a:latin typeface="Arial" charset="0"/>
                        <a:ea typeface="Arial" charset="0"/>
                        <a:cs typeface="Arial"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150" b="1" dirty="0">
                          <a:solidFill>
                            <a:srgbClr val="000000"/>
                          </a:solidFill>
                          <a:latin typeface="Arial" pitchFamily="34" charset="0"/>
                          <a:ea typeface="Arial" pitchFamily="34" charset="-122"/>
                          <a:cs typeface="Arial" pitchFamily="34" charset="-120"/>
                        </a:rPr>
                        <a:t>90%</a:t>
                      </a:r>
                      <a:endParaRPr lang="en-US" sz="1150" dirty="0">
                        <a:latin typeface="Arial" charset="0"/>
                        <a:ea typeface="Arial" charset="0"/>
                        <a:cs typeface="Arial"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150" b="1" dirty="0">
                          <a:solidFill>
                            <a:srgbClr val="000000"/>
                          </a:solidFill>
                          <a:latin typeface="Arial" pitchFamily="34" charset="0"/>
                          <a:ea typeface="Arial" pitchFamily="34" charset="-122"/>
                          <a:cs typeface="Arial" pitchFamily="34" charset="-120"/>
                        </a:rPr>
                        <a:t>100%</a:t>
                      </a:r>
                      <a:endParaRPr lang="en-US" sz="1150" dirty="0">
                        <a:latin typeface="Arial" charset="0"/>
                        <a:ea typeface="Arial" charset="0"/>
                        <a:cs typeface="Arial"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r>
            </a:tbl>
          </a:graphicData>
        </a:graphic>
      </p:graphicFrame>
      <p:graphicFrame>
        <p:nvGraphicFramePr>
          <p:cNvPr id="11" name="Table 1"/>
          <p:cNvGraphicFramePr>
            <a:graphicFrameLocks noGrp="1"/>
          </p:cNvGraphicFramePr>
          <p:nvPr>
            <p:extLst>
              <p:ext uri="{D42A27DB-BD31-4B8C-83A1-F6EECF244321}">
                <p14:modId xmlns:p14="http://schemas.microsoft.com/office/powerpoint/2010/main" val="1579011935"/>
              </p:ext>
            </p:extLst>
          </p:nvPr>
        </p:nvGraphicFramePr>
        <p:xfrm>
          <a:off x="457200" y="3017520"/>
          <a:ext cx="3383280" cy="1463040"/>
        </p:xfrm>
        <a:graphic>
          <a:graphicData uri="http://schemas.openxmlformats.org/drawingml/2006/table">
            <a:tbl>
              <a:tblPr/>
              <a:tblGrid>
                <a:gridCol w="2377440"/>
                <a:gridCol w="1005840"/>
              </a:tblGrid>
              <a:tr h="292608">
                <a:tc>
                  <a:txBody>
                    <a:bodyPr/>
                    <a:lstStyle/>
                    <a:p>
                      <a:pPr algn="l" indent="0" marL="0">
                        <a:buNone/>
                      </a:pPr>
                      <a:r>
                        <a:rPr lang="en-US" sz="1150" b="1" dirty="0">
                          <a:solidFill>
                            <a:srgbClr val="000000"/>
                          </a:solidFill>
                          <a:latin typeface="Arial" pitchFamily="34" charset="0"/>
                          <a:ea typeface="Arial" pitchFamily="34" charset="-122"/>
                          <a:cs typeface="Arial" pitchFamily="34" charset="-120"/>
                        </a:rPr>
                        <a:t>Grouped FY22 Account Owner Name</a:t>
                      </a:r>
                      <a:endParaRPr lang="en-US" sz="1150" dirty="0">
                        <a:latin typeface="Arial" charset="0"/>
                        <a:ea typeface="Arial" charset="0"/>
                        <a:cs typeface="Arial"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D9D9D9"/>
                    </a:solidFill>
                  </a:tcPr>
                </a:tc>
                <a:tc>
                  <a:txBody>
                    <a:bodyPr/>
                    <a:lstStyle/>
                    <a:p>
                      <a:pPr algn="ctr" indent="0" marL="0">
                        <a:buNone/>
                      </a:pPr>
                      <a:r>
                        <a:rPr lang="en-US" sz="1150" b="1" dirty="0">
                          <a:solidFill>
                            <a:srgbClr val="000000"/>
                          </a:solidFill>
                          <a:latin typeface="Arial" pitchFamily="34" charset="0"/>
                          <a:ea typeface="Arial" pitchFamily="34" charset="-122"/>
                          <a:cs typeface="Arial" pitchFamily="34" charset="-120"/>
                        </a:rPr>
                        <a:t>Opportunity Score Ave</a:t>
                      </a:r>
                      <a:endParaRPr lang="en-US" sz="1150" dirty="0">
                        <a:latin typeface="Arial" charset="0"/>
                        <a:ea typeface="Arial" charset="0"/>
                        <a:cs typeface="Arial"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D9D9D9"/>
                    </a:solidFill>
                  </a:tcPr>
                </a:tc>
              </a:tr>
              <a:tr h="292608">
                <a:tc>
                  <a:txBody>
                    <a:bodyPr/>
                    <a:lstStyle/>
                    <a:p>
                      <a:pPr indent="0" marL="0">
                        <a:buNone/>
                      </a:pPr>
                      <a:r>
                        <a:rPr lang="en-US" sz="1150" dirty="0">
                          <a:solidFill>
                            <a:srgbClr val="000000"/>
                          </a:solidFill>
                          <a:latin typeface="Arial" pitchFamily="34" charset="0"/>
                          <a:ea typeface="Arial" pitchFamily="34" charset="-122"/>
                          <a:cs typeface="Arial" pitchFamily="34" charset="-120"/>
                        </a:rPr>
                        <a:t>AMER</a:t>
                      </a:r>
                      <a:endParaRPr lang="en-US" sz="1150" dirty="0">
                        <a:latin typeface="Arial" charset="0"/>
                        <a:ea typeface="Arial" charset="0"/>
                        <a:cs typeface="Arial"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algn="ctr" indent="0" marL="0">
                        <a:buNone/>
                      </a:pPr>
                      <a:r>
                        <a:rPr lang="en-US" sz="1150" dirty="0">
                          <a:solidFill>
                            <a:srgbClr val="000000"/>
                          </a:solidFill>
                          <a:latin typeface="Arial" pitchFamily="34" charset="0"/>
                          <a:ea typeface="Arial" pitchFamily="34" charset="-122"/>
                          <a:cs typeface="Arial" pitchFamily="34" charset="-120"/>
                        </a:rPr>
                        <a:t>46%</a:t>
                      </a:r>
                      <a:endParaRPr lang="en-US" sz="1150" dirty="0">
                        <a:latin typeface="Arial" charset="0"/>
                        <a:ea typeface="Arial" charset="0"/>
                        <a:cs typeface="Arial"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r>
              <a:tr h="292608">
                <a:tc>
                  <a:txBody>
                    <a:bodyPr/>
                    <a:lstStyle/>
                    <a:p>
                      <a:pPr indent="0" marL="0">
                        <a:buNone/>
                      </a:pPr>
                      <a:r>
                        <a:rPr lang="en-US" sz="1150" dirty="0">
                          <a:solidFill>
                            <a:srgbClr val="000000"/>
                          </a:solidFill>
                          <a:latin typeface="Arial" pitchFamily="34" charset="0"/>
                          <a:ea typeface="Arial" pitchFamily="34" charset="-122"/>
                          <a:cs typeface="Arial" pitchFamily="34" charset="-120"/>
                        </a:rPr>
                        <a:t>APAC</a:t>
                      </a:r>
                      <a:endParaRPr lang="en-US" sz="1150" dirty="0">
                        <a:latin typeface="Arial" charset="0"/>
                        <a:ea typeface="Arial" charset="0"/>
                        <a:cs typeface="Arial"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algn="ctr" indent="0" marL="0">
                        <a:buNone/>
                      </a:pPr>
                      <a:r>
                        <a:rPr lang="en-US" sz="1150" dirty="0">
                          <a:solidFill>
                            <a:srgbClr val="000000"/>
                          </a:solidFill>
                          <a:latin typeface="Arial" pitchFamily="34" charset="0"/>
                          <a:ea typeface="Arial" pitchFamily="34" charset="-122"/>
                          <a:cs typeface="Arial" pitchFamily="34" charset="-120"/>
                        </a:rPr>
                        <a:t>34%</a:t>
                      </a:r>
                      <a:endParaRPr lang="en-US" sz="1150" dirty="0">
                        <a:latin typeface="Arial" charset="0"/>
                        <a:ea typeface="Arial" charset="0"/>
                        <a:cs typeface="Arial"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r>
              <a:tr h="292608">
                <a:tc>
                  <a:txBody>
                    <a:bodyPr/>
                    <a:lstStyle/>
                    <a:p>
                      <a:pPr indent="0" marL="0">
                        <a:buNone/>
                      </a:pPr>
                      <a:r>
                        <a:rPr lang="en-US" sz="1150" dirty="0">
                          <a:solidFill>
                            <a:srgbClr val="000000"/>
                          </a:solidFill>
                          <a:latin typeface="Arial" pitchFamily="34" charset="0"/>
                          <a:ea typeface="Arial" pitchFamily="34" charset="-122"/>
                          <a:cs typeface="Arial" pitchFamily="34" charset="-120"/>
                        </a:rPr>
                        <a:t>EMEA</a:t>
                      </a:r>
                      <a:endParaRPr lang="en-US" sz="1150" dirty="0">
                        <a:latin typeface="Arial" charset="0"/>
                        <a:ea typeface="Arial" charset="0"/>
                        <a:cs typeface="Arial"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algn="ctr" indent="0" marL="0">
                        <a:buNone/>
                      </a:pPr>
                      <a:r>
                        <a:rPr lang="en-US" sz="1150" dirty="0">
                          <a:solidFill>
                            <a:srgbClr val="000000"/>
                          </a:solidFill>
                          <a:latin typeface="Arial" pitchFamily="34" charset="0"/>
                          <a:ea typeface="Arial" pitchFamily="34" charset="-122"/>
                          <a:cs typeface="Arial" pitchFamily="34" charset="-120"/>
                        </a:rPr>
                        <a:t>42%</a:t>
                      </a:r>
                      <a:endParaRPr lang="en-US" sz="1150" dirty="0">
                        <a:latin typeface="Arial" charset="0"/>
                        <a:ea typeface="Arial" charset="0"/>
                        <a:cs typeface="Arial"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r>
              <a:tr h="292608">
                <a:tc>
                  <a:txBody>
                    <a:bodyPr/>
                    <a:lstStyle/>
                    <a:p>
                      <a:pPr indent="0" marL="0">
                        <a:buNone/>
                      </a:pPr>
                      <a:r>
                        <a:rPr lang="en-US" sz="1150" b="1" dirty="0">
                          <a:solidFill>
                            <a:srgbClr val="000000"/>
                          </a:solidFill>
                          <a:latin typeface="Arial" pitchFamily="34" charset="0"/>
                          <a:ea typeface="Arial" pitchFamily="34" charset="-122"/>
                          <a:cs typeface="Arial" pitchFamily="34" charset="-120"/>
                        </a:rPr>
                        <a:t>Grand Total</a:t>
                      </a:r>
                      <a:endParaRPr lang="en-US" sz="1150" dirty="0">
                        <a:latin typeface="Arial" charset="0"/>
                        <a:ea typeface="Arial" charset="0"/>
                        <a:cs typeface="Arial"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150" b="1" dirty="0">
                          <a:solidFill>
                            <a:srgbClr val="000000"/>
                          </a:solidFill>
                          <a:latin typeface="Arial" pitchFamily="34" charset="0"/>
                          <a:ea typeface="Arial" pitchFamily="34" charset="-122"/>
                          <a:cs typeface="Arial" pitchFamily="34" charset="-120"/>
                        </a:rPr>
                        <a:t>41%</a:t>
                      </a:r>
                      <a:endParaRPr lang="en-US" sz="1150" dirty="0">
                        <a:latin typeface="Arial" charset="0"/>
                        <a:ea typeface="Arial" charset="0"/>
                        <a:cs typeface="Arial"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r>
            </a:tbl>
          </a:graphicData>
        </a:graphic>
      </p:graphicFrame>
      <p:sp>
        <p:nvSpPr>
          <p:cNvPr id="6" name="Shape 2"/>
          <p:cNvSpPr/>
          <p:nvPr/>
        </p:nvSpPr>
        <p:spPr>
          <a:xfrm>
            <a:off x="6583680" y="1234440"/>
            <a:ext cx="5166360" cy="1463040"/>
          </a:xfrm>
          <a:prstGeom prst="roundRect">
            <a:avLst>
              <a:gd name="adj" fmla="val 3125"/>
            </a:avLst>
          </a:prstGeom>
          <a:solidFill>
            <a:srgbClr val="F2F2F2"/>
          </a:solidFill>
          <a:ln w="12700">
            <a:solidFill>
              <a:srgbClr val="D9D9D9"/>
            </a:solidFill>
            <a:prstDash val="solid"/>
          </a:ln>
        </p:spPr>
      </p:sp>
      <p:sp>
        <p:nvSpPr>
          <p:cNvPr id="7" name="Text 3"/>
          <p:cNvSpPr/>
          <p:nvPr/>
        </p:nvSpPr>
        <p:spPr>
          <a:xfrm>
            <a:off x="6812280" y="1371600"/>
            <a:ext cx="4754880" cy="1280160"/>
          </a:xfrm>
          <a:prstGeom prst="rect">
            <a:avLst/>
          </a:prstGeom>
          <a:noFill/>
          <a:ln/>
        </p:spPr>
        <p:txBody>
          <a:bodyPr wrap="square" lIns="0" tIns="0" rIns="0" bIns="0" rtlCol="0" anchor="t"/>
          <a:lstStyle/>
          <a:p>
            <a:pPr algn="l" indent="0" marL="0">
              <a:spcAft>
                <a:spcPts val="1200"/>
              </a:spcAft>
              <a:buNone/>
            </a:pPr>
            <a:r>
              <a:rPr lang="en-US" sz="1150" dirty="0">
                <a:solidFill>
                  <a:srgbClr val="404040"/>
                </a:solidFill>
                <a:latin typeface="Arial" pitchFamily="34" charset="0"/>
                <a:ea typeface="Arial" pitchFamily="34" charset="-122"/>
                <a:cs typeface="Arial" pitchFamily="34" charset="-120"/>
              </a:rPr>
              <a:t>Overall composition of Prospects to Existing Customers (Customers) is skewed more towards Prospects, but differences between EMEA (16% Customers) and AMER &amp; APAC (+90% Customers) indicate an uneven approach to driving new growth in the EMEA region</a:t>
            </a:r>
            <a:endParaRPr lang="en-US" sz="1150" dirty="0"/>
          </a:p>
        </p:txBody>
      </p:sp>
      <p:sp>
        <p:nvSpPr>
          <p:cNvPr id="8" name="Shape 4"/>
          <p:cNvSpPr/>
          <p:nvPr/>
        </p:nvSpPr>
        <p:spPr>
          <a:xfrm>
            <a:off x="6583680" y="3017520"/>
            <a:ext cx="5166360" cy="1737360"/>
          </a:xfrm>
          <a:prstGeom prst="roundRect">
            <a:avLst>
              <a:gd name="adj" fmla="val 2632"/>
            </a:avLst>
          </a:prstGeom>
          <a:solidFill>
            <a:srgbClr val="F2F2F2"/>
          </a:solidFill>
          <a:ln w="12700">
            <a:solidFill>
              <a:srgbClr val="D9D9D9"/>
            </a:solidFill>
            <a:prstDash val="solid"/>
          </a:ln>
        </p:spPr>
      </p:sp>
      <p:sp>
        <p:nvSpPr>
          <p:cNvPr id="9" name="Text 5"/>
          <p:cNvSpPr/>
          <p:nvPr/>
        </p:nvSpPr>
        <p:spPr>
          <a:xfrm>
            <a:off x="6812280" y="3154680"/>
            <a:ext cx="4754880" cy="1554480"/>
          </a:xfrm>
          <a:prstGeom prst="rect">
            <a:avLst/>
          </a:prstGeom>
          <a:noFill/>
          <a:ln/>
        </p:spPr>
        <p:txBody>
          <a:bodyPr wrap="square" lIns="0" tIns="0" rIns="0" bIns="0" rtlCol="0" anchor="t"/>
          <a:lstStyle/>
          <a:p>
            <a:pPr algn="l" indent="0" marL="0">
              <a:spcAft>
                <a:spcPts val="1200"/>
              </a:spcAft>
              <a:buNone/>
            </a:pPr>
            <a:r>
              <a:rPr lang="en-US" sz="1150" dirty="0">
                <a:solidFill>
                  <a:srgbClr val="404040"/>
                </a:solidFill>
                <a:latin typeface="Arial" pitchFamily="34" charset="0"/>
                <a:ea typeface="Arial" pitchFamily="34" charset="-122"/>
                <a:cs typeface="Arial" pitchFamily="34" charset="-120"/>
              </a:rPr>
              <a:t>Overall Opportunity Score is distributed evenly in EMEA and AMER, however the quality of Existing Customer opportunity in APAC is significantly lower. Potentially driving poor behavior or gaps in seller attainment compared to peers if on a global compensation plan</a:t>
            </a:r>
            <a:endParaRPr lang="en-US" sz="1150" dirty="0"/>
          </a:p>
        </p:txBody>
      </p:sp>
      <p:sp>
        <p:nvSpPr>
          <p:cNvPr id="10" name="Text 6"/>
          <p:cNvSpPr/>
          <p:nvPr/>
        </p:nvSpPr>
        <p:spPr>
          <a:xfrm>
            <a:off x="11551615" y="6446520"/>
            <a:ext cx="365760" cy="274320"/>
          </a:xfrm>
          <a:prstGeom prst="rect">
            <a:avLst/>
          </a:prstGeom>
          <a:noFill/>
          <a:ln/>
        </p:spPr>
        <p:txBody>
          <a:bodyPr wrap="square" lIns="0" tIns="0" rIns="0" bIns="0" rtlCol="0" anchor="ctr"/>
          <a:lstStyle/>
          <a:p>
            <a:pPr algn="r" indent="0" marL="0">
              <a:buNone/>
            </a:pPr>
            <a:r>
              <a:rPr lang="en-US" sz="1000" dirty="0">
                <a:solidFill>
                  <a:srgbClr val="7F7F7F"/>
                </a:solidFill>
                <a:latin typeface="Arial" pitchFamily="34" charset="0"/>
                <a:ea typeface="Arial" pitchFamily="34" charset="-122"/>
                <a:cs typeface="Arial"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FFFFFF"/>
          </a:solidFill>
          <a:ln w="19050">
            <a:solidFill>
              <a:srgbClr val="D9D9D9"/>
            </a:solidFill>
            <a:prstDash val="solid"/>
          </a:ln>
        </p:spPr>
      </p:sp>
      <p:sp>
        <p:nvSpPr>
          <p:cNvPr id="3" name="Text 1"/>
          <p:cNvSpPr/>
          <p:nvPr/>
        </p:nvSpPr>
        <p:spPr>
          <a:xfrm>
            <a:off x="457200" y="201168"/>
            <a:ext cx="11277295" cy="59436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FY22 Opportunity Characteristics</a:t>
            </a:r>
            <a:endParaRPr lang="en-US" sz="2400" dirty="0"/>
          </a:p>
        </p:txBody>
      </p:sp>
      <p:sp>
        <p:nvSpPr>
          <p:cNvPr id="4" name="Text 2"/>
          <p:cNvSpPr/>
          <p:nvPr/>
        </p:nvSpPr>
        <p:spPr>
          <a:xfrm>
            <a:off x="457200" y="1143000"/>
            <a:ext cx="6400800" cy="320040"/>
          </a:xfrm>
          <a:prstGeom prst="rect">
            <a:avLst/>
          </a:prstGeom>
          <a:noFill/>
          <a:ln/>
        </p:spPr>
        <p:txBody>
          <a:bodyPr wrap="square" lIns="0" tIns="0" rIns="0" bIns="0" rtlCol="0" anchor="ctr"/>
          <a:lstStyle/>
          <a:p>
            <a:pPr indent="0" marL="0">
              <a:buNone/>
            </a:pPr>
            <a:r>
              <a:rPr lang="en-US" sz="1300" dirty="0">
                <a:solidFill>
                  <a:srgbClr val="404040"/>
                </a:solidFill>
                <a:latin typeface="Arial" pitchFamily="34" charset="0"/>
                <a:ea typeface="Arial" pitchFamily="34" charset="-122"/>
                <a:cs typeface="Arial" pitchFamily="34" charset="-120"/>
              </a:rPr>
              <a:t>Customer and Prospect Mix by Region</a:t>
            </a:r>
            <a:endParaRPr lang="en-US" sz="1300" dirty="0"/>
          </a:p>
        </p:txBody>
      </p:sp>
      <p:graphicFrame>
        <p:nvGraphicFramePr>
          <p:cNvPr id="5" name="Chart 0" descr=""/>
          <p:cNvGraphicFramePr/>
          <p:nvPr/>
        </p:nvGraphicFramePr>
        <p:xfrm>
          <a:off x="457200" y="1508760"/>
          <a:ext cx="6766560" cy="420624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457200" y="5806440"/>
            <a:ext cx="6766560" cy="548640"/>
          </a:xfrm>
          <a:prstGeom prst="rect">
            <a:avLst/>
          </a:prstGeom>
          <a:noFill/>
          <a:ln/>
        </p:spPr>
        <p:txBody>
          <a:bodyPr wrap="square" lIns="0" tIns="0" rIns="0" bIns="0" rtlCol="0" anchor="t"/>
          <a:lstStyle/>
          <a:p>
            <a:pPr algn="l" indent="0" marL="0">
              <a:buNone/>
            </a:pPr>
            <a:r>
              <a:rPr lang="en-US" sz="900" i="1" dirty="0">
                <a:solidFill>
                  <a:srgbClr val="7F7F7F"/>
                </a:solidFill>
                <a:latin typeface="Arial" pitchFamily="34" charset="0"/>
                <a:ea typeface="Arial" pitchFamily="34" charset="-122"/>
                <a:cs typeface="Arial" pitchFamily="34" charset="-120"/>
              </a:rPr>
              <a:t>Note: original slide showed per-territory (individual seller) detail across ~45 territories. Recreated here at region level using the aggregate figures reported alongside it, since exact per-territory values could not be reliably read from the source chart image.</a:t>
            </a:r>
            <a:endParaRPr lang="en-US" sz="900" dirty="0"/>
          </a:p>
        </p:txBody>
      </p:sp>
      <p:sp>
        <p:nvSpPr>
          <p:cNvPr id="7" name="Shape 4"/>
          <p:cNvSpPr/>
          <p:nvPr/>
        </p:nvSpPr>
        <p:spPr>
          <a:xfrm>
            <a:off x="7498080" y="1508760"/>
            <a:ext cx="4251960" cy="2926080"/>
          </a:xfrm>
          <a:prstGeom prst="roundRect">
            <a:avLst>
              <a:gd name="adj" fmla="val 1563"/>
            </a:avLst>
          </a:prstGeom>
          <a:solidFill>
            <a:srgbClr val="F2F2F2"/>
          </a:solidFill>
          <a:ln w="12700">
            <a:solidFill>
              <a:srgbClr val="D9D9D9"/>
            </a:solidFill>
            <a:prstDash val="solid"/>
          </a:ln>
        </p:spPr>
      </p:sp>
      <p:sp>
        <p:nvSpPr>
          <p:cNvPr id="8" name="Text 5"/>
          <p:cNvSpPr/>
          <p:nvPr/>
        </p:nvSpPr>
        <p:spPr>
          <a:xfrm>
            <a:off x="7726680" y="1691640"/>
            <a:ext cx="3794760" cy="2651760"/>
          </a:xfrm>
          <a:prstGeom prst="rect">
            <a:avLst/>
          </a:prstGeom>
          <a:noFill/>
          <a:ln/>
        </p:spPr>
        <p:txBody>
          <a:bodyPr wrap="square" lIns="0" tIns="0" rIns="0" bIns="0" rtlCol="0" anchor="t"/>
          <a:lstStyle/>
          <a:p>
            <a:pPr algn="l" marL="228600" indent="-228600">
              <a:spcAft>
                <a:spcPts val="1200"/>
              </a:spcAft>
              <a:buSzPct val="100000"/>
              <a:buChar char="•"/>
            </a:pPr>
            <a:r>
              <a:rPr lang="en-US" sz="1200" dirty="0">
                <a:solidFill>
                  <a:srgbClr val="404040"/>
                </a:solidFill>
                <a:latin typeface="Arial" pitchFamily="34" charset="0"/>
                <a:ea typeface="Arial" pitchFamily="34" charset="-122"/>
                <a:cs typeface="Arial" pitchFamily="34" charset="-120"/>
              </a:rPr>
              <a:t>Inconsistent distribution of Prospects across Territories, without more detail on selling role (AE vs BD), it is hard to judge if this is by design or haphazardness</a:t>
            </a:r>
            <a:endParaRPr lang="en-US" sz="1200" dirty="0"/>
          </a:p>
          <a:p>
            <a:pPr algn="l" marL="228600" indent="-228600">
              <a:spcAft>
                <a:spcPts val="1200"/>
              </a:spcAft>
              <a:buSzPct val="100000"/>
              <a:buChar char="•"/>
            </a:pPr>
            <a:r>
              <a:rPr lang="en-US" sz="1200" dirty="0">
                <a:solidFill>
                  <a:srgbClr val="404040"/>
                </a:solidFill>
                <a:latin typeface="Arial" pitchFamily="34" charset="0"/>
                <a:ea typeface="Arial" pitchFamily="34" charset="-122"/>
                <a:cs typeface="Arial" pitchFamily="34" charset="-120"/>
              </a:rPr>
              <a:t>APAC has significantly lower percentage of Customers, indication newer, less mature customer install base and a focus on customer acquisition</a:t>
            </a:r>
            <a:endParaRPr lang="en-US" sz="1200" dirty="0"/>
          </a:p>
        </p:txBody>
      </p:sp>
      <p:sp>
        <p:nvSpPr>
          <p:cNvPr id="9" name="Text 6"/>
          <p:cNvSpPr/>
          <p:nvPr/>
        </p:nvSpPr>
        <p:spPr>
          <a:xfrm>
            <a:off x="11551615" y="6446520"/>
            <a:ext cx="365760" cy="274320"/>
          </a:xfrm>
          <a:prstGeom prst="rect">
            <a:avLst/>
          </a:prstGeom>
          <a:noFill/>
          <a:ln/>
        </p:spPr>
        <p:txBody>
          <a:bodyPr wrap="square" lIns="0" tIns="0" rIns="0" bIns="0" rtlCol="0" anchor="ctr"/>
          <a:lstStyle/>
          <a:p>
            <a:pPr algn="r" indent="0" marL="0">
              <a:buNone/>
            </a:pPr>
            <a:r>
              <a:rPr lang="en-US" sz="1000" dirty="0">
                <a:solidFill>
                  <a:srgbClr val="7F7F7F"/>
                </a:solidFill>
                <a:latin typeface="Arial" pitchFamily="34" charset="0"/>
                <a:ea typeface="Arial" pitchFamily="34" charset="-122"/>
                <a:cs typeface="Arial"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FFFFFF"/>
          </a:solidFill>
          <a:ln w="19050">
            <a:solidFill>
              <a:srgbClr val="D9D9D9"/>
            </a:solidFill>
            <a:prstDash val="solid"/>
          </a:ln>
        </p:spPr>
      </p:sp>
      <p:sp>
        <p:nvSpPr>
          <p:cNvPr id="3" name="Text 1"/>
          <p:cNvSpPr/>
          <p:nvPr/>
        </p:nvSpPr>
        <p:spPr>
          <a:xfrm>
            <a:off x="457200" y="201168"/>
            <a:ext cx="11277295" cy="59436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FY22 Opportunity Characteristics</a:t>
            </a:r>
            <a:endParaRPr lang="en-US" sz="2400" dirty="0"/>
          </a:p>
        </p:txBody>
      </p:sp>
      <p:sp>
        <p:nvSpPr>
          <p:cNvPr id="4" name="Text 2"/>
          <p:cNvSpPr/>
          <p:nvPr/>
        </p:nvSpPr>
        <p:spPr>
          <a:xfrm>
            <a:off x="457200" y="1143000"/>
            <a:ext cx="6949440" cy="320040"/>
          </a:xfrm>
          <a:prstGeom prst="rect">
            <a:avLst/>
          </a:prstGeom>
          <a:noFill/>
          <a:ln/>
        </p:spPr>
        <p:txBody>
          <a:bodyPr wrap="square" lIns="0" tIns="0" rIns="0" bIns="0" rtlCol="0" anchor="ctr"/>
          <a:lstStyle/>
          <a:p>
            <a:pPr indent="0" marL="0">
              <a:buNone/>
            </a:pPr>
            <a:r>
              <a:rPr lang="en-US" sz="1300" dirty="0">
                <a:solidFill>
                  <a:srgbClr val="404040"/>
                </a:solidFill>
                <a:latin typeface="Arial" pitchFamily="34" charset="0"/>
                <a:ea typeface="Arial" pitchFamily="34" charset="-122"/>
                <a:cs typeface="Arial" pitchFamily="34" charset="-120"/>
              </a:rPr>
              <a:t>Opportunity Score Range by Region (Min / Average / Max)</a:t>
            </a:r>
            <a:endParaRPr lang="en-US" sz="1300" dirty="0"/>
          </a:p>
        </p:txBody>
      </p:sp>
      <p:graphicFrame>
        <p:nvGraphicFramePr>
          <p:cNvPr id="5" name="Chart 0" descr=""/>
          <p:cNvGraphicFramePr/>
          <p:nvPr/>
        </p:nvGraphicFramePr>
        <p:xfrm>
          <a:off x="457200" y="1508760"/>
          <a:ext cx="7223760" cy="420624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457200" y="5806440"/>
            <a:ext cx="7223760" cy="548640"/>
          </a:xfrm>
          <a:prstGeom prst="rect">
            <a:avLst/>
          </a:prstGeom>
          <a:noFill/>
          <a:ln/>
        </p:spPr>
        <p:txBody>
          <a:bodyPr wrap="square" lIns="0" tIns="0" rIns="0" bIns="0" rtlCol="0" anchor="t"/>
          <a:lstStyle/>
          <a:p>
            <a:pPr algn="l" indent="0" marL="0">
              <a:buNone/>
            </a:pPr>
            <a:r>
              <a:rPr lang="en-US" sz="900" i="1" dirty="0">
                <a:solidFill>
                  <a:srgbClr val="7F7F7F"/>
                </a:solidFill>
                <a:latin typeface="Arial" pitchFamily="34" charset="0"/>
                <a:ea typeface="Arial" pitchFamily="34" charset="-122"/>
                <a:cs typeface="Arial" pitchFamily="34" charset="-120"/>
              </a:rPr>
              <a:t>Note: original slide plotted individual territory Opportunity Scores as a scatter (~45 points). Recreated here as a min/average/max summary per region, since individual account-owner values could not be reliably read from the source chart image.</a:t>
            </a:r>
            <a:endParaRPr lang="en-US" sz="900" dirty="0"/>
          </a:p>
        </p:txBody>
      </p:sp>
      <p:sp>
        <p:nvSpPr>
          <p:cNvPr id="7" name="Shape 4"/>
          <p:cNvSpPr/>
          <p:nvPr/>
        </p:nvSpPr>
        <p:spPr>
          <a:xfrm>
            <a:off x="7955280" y="1508760"/>
            <a:ext cx="3794760" cy="4206240"/>
          </a:xfrm>
          <a:prstGeom prst="roundRect">
            <a:avLst>
              <a:gd name="adj" fmla="val 1205"/>
            </a:avLst>
          </a:prstGeom>
          <a:solidFill>
            <a:srgbClr val="F2F2F2"/>
          </a:solidFill>
          <a:ln w="12700">
            <a:solidFill>
              <a:srgbClr val="D9D9D9"/>
            </a:solidFill>
            <a:prstDash val="solid"/>
          </a:ln>
        </p:spPr>
      </p:sp>
      <p:sp>
        <p:nvSpPr>
          <p:cNvPr id="8" name="Text 5"/>
          <p:cNvSpPr/>
          <p:nvPr/>
        </p:nvSpPr>
        <p:spPr>
          <a:xfrm>
            <a:off x="8183880" y="1691640"/>
            <a:ext cx="3337560" cy="3840480"/>
          </a:xfrm>
          <a:prstGeom prst="rect">
            <a:avLst/>
          </a:prstGeom>
          <a:noFill/>
          <a:ln/>
        </p:spPr>
        <p:txBody>
          <a:bodyPr wrap="square" lIns="0" tIns="0" rIns="0" bIns="0" rtlCol="0" anchor="t"/>
          <a:lstStyle/>
          <a:p>
            <a:pPr algn="l" marL="228600" indent="-228600">
              <a:spcAft>
                <a:spcPts val="1200"/>
              </a:spcAft>
              <a:buSzPct val="100000"/>
              <a:buChar char="•"/>
            </a:pPr>
            <a:r>
              <a:rPr lang="en-US" sz="1150" dirty="0">
                <a:solidFill>
                  <a:srgbClr val="404040"/>
                </a:solidFill>
                <a:latin typeface="Arial" pitchFamily="34" charset="0"/>
                <a:ea typeface="Arial" pitchFamily="34" charset="-122"/>
                <a:cs typeface="Arial" pitchFamily="34" charset="-120"/>
              </a:rPr>
              <a:t>Overall Opportunity Scores in APAC is lower than EMEA and AMER, and has a tighter spread between top territories and bottom territories</a:t>
            </a:r>
            <a:endParaRPr lang="en-US" sz="1150" dirty="0"/>
          </a:p>
          <a:p>
            <a:pPr algn="l" marL="228600" indent="-228600">
              <a:spcAft>
                <a:spcPts val="1200"/>
              </a:spcAft>
              <a:buSzPct val="100000"/>
              <a:buChar char="•"/>
            </a:pPr>
            <a:r>
              <a:rPr lang="en-US" sz="1150" dirty="0">
                <a:solidFill>
                  <a:srgbClr val="404040"/>
                </a:solidFill>
                <a:latin typeface="Arial" pitchFamily="34" charset="0"/>
                <a:ea typeface="Arial" pitchFamily="34" charset="-122"/>
                <a:cs typeface="Arial" pitchFamily="34" charset="-120"/>
              </a:rPr>
              <a:t>AMER has the largest spread between top and bottom Opportunity-scored territories</a:t>
            </a:r>
            <a:endParaRPr lang="en-US" sz="1150" dirty="0"/>
          </a:p>
          <a:p>
            <a:pPr algn="l" marL="228600" indent="-228600">
              <a:spcAft>
                <a:spcPts val="1200"/>
              </a:spcAft>
              <a:buSzPct val="100000"/>
              <a:buChar char="•"/>
            </a:pPr>
            <a:r>
              <a:rPr lang="en-US" sz="1150" dirty="0">
                <a:solidFill>
                  <a:srgbClr val="404040"/>
                </a:solidFill>
                <a:latin typeface="Arial" pitchFamily="34" charset="0"/>
                <a:ea typeface="Arial" pitchFamily="34" charset="-122"/>
                <a:cs typeface="Arial" pitchFamily="34" charset="-120"/>
              </a:rPr>
              <a:t>APAC has significantly lower percentage of Customers to Prospects - which may be an indication of a newly established business or a focus on New Business (Logos) rather than growth through account expansion</a:t>
            </a:r>
            <a:endParaRPr lang="en-US" sz="1150" dirty="0"/>
          </a:p>
        </p:txBody>
      </p:sp>
      <p:sp>
        <p:nvSpPr>
          <p:cNvPr id="9" name="Text 6"/>
          <p:cNvSpPr/>
          <p:nvPr/>
        </p:nvSpPr>
        <p:spPr>
          <a:xfrm>
            <a:off x="11551615" y="6446520"/>
            <a:ext cx="365760" cy="274320"/>
          </a:xfrm>
          <a:prstGeom prst="rect">
            <a:avLst/>
          </a:prstGeom>
          <a:noFill/>
          <a:ln/>
        </p:spPr>
        <p:txBody>
          <a:bodyPr wrap="square" lIns="0" tIns="0" rIns="0" bIns="0" rtlCol="0" anchor="ctr"/>
          <a:lstStyle/>
          <a:p>
            <a:pPr algn="r" indent="0" marL="0">
              <a:buNone/>
            </a:pPr>
            <a:r>
              <a:rPr lang="en-US" sz="1000" dirty="0">
                <a:solidFill>
                  <a:srgbClr val="7F7F7F"/>
                </a:solidFill>
                <a:latin typeface="Arial" pitchFamily="34" charset="0"/>
                <a:ea typeface="Arial" pitchFamily="34" charset="-122"/>
                <a:cs typeface="Arial"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404040"/>
        </a:solidFill>
      </p:bgPr>
    </p:bg>
    <p:spTree>
      <p:nvGrpSpPr>
        <p:cNvPr id="1" name=""/>
        <p:cNvGrpSpPr/>
        <p:nvPr/>
      </p:nvGrpSpPr>
      <p:grpSpPr>
        <a:xfrm>
          <a:off x="0" y="0"/>
          <a:ext cx="0" cy="0"/>
          <a:chOff x="0" y="0"/>
          <a:chExt cx="0" cy="0"/>
        </a:xfrm>
      </p:grpSpPr>
      <p:sp>
        <p:nvSpPr>
          <p:cNvPr id="2" name="Text 0"/>
          <p:cNvSpPr/>
          <p:nvPr/>
        </p:nvSpPr>
        <p:spPr>
          <a:xfrm>
            <a:off x="822960" y="2468880"/>
            <a:ext cx="5486400" cy="457200"/>
          </a:xfrm>
          <a:prstGeom prst="rect">
            <a:avLst/>
          </a:prstGeom>
          <a:noFill/>
          <a:ln/>
        </p:spPr>
        <p:txBody>
          <a:bodyPr wrap="square" lIns="0" tIns="0" rIns="0" bIns="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ACME Corp</a:t>
            </a:r>
            <a:endParaRPr lang="en-US" sz="1600" dirty="0"/>
          </a:p>
        </p:txBody>
      </p:sp>
      <p:sp>
        <p:nvSpPr>
          <p:cNvPr id="3" name="Text 1"/>
          <p:cNvSpPr/>
          <p:nvPr/>
        </p:nvSpPr>
        <p:spPr>
          <a:xfrm>
            <a:off x="822960" y="3017520"/>
            <a:ext cx="7315200" cy="822960"/>
          </a:xfrm>
          <a:prstGeom prst="rect">
            <a:avLst/>
          </a:prstGeom>
          <a:noFill/>
          <a:ln/>
        </p:spPr>
        <p:txBody>
          <a:bodyPr wrap="square" lIns="0" tIns="0" rIns="0" bIns="0" rtlCol="0" anchor="ctr"/>
          <a:lstStyle/>
          <a:p>
            <a:pPr algn="l" indent="0" marL="0">
              <a:buNone/>
            </a:pPr>
            <a:r>
              <a:rPr lang="en-US" sz="3400" b="1" dirty="0">
                <a:solidFill>
                  <a:srgbClr val="ED7D31"/>
                </a:solidFill>
                <a:latin typeface="Arial" pitchFamily="34" charset="0"/>
                <a:ea typeface="Arial" pitchFamily="34" charset="-122"/>
                <a:cs typeface="Arial" pitchFamily="34" charset="-120"/>
              </a:rPr>
              <a:t>Question 2</a:t>
            </a:r>
            <a:endParaRPr lang="en-US" sz="3400" dirty="0"/>
          </a:p>
        </p:txBody>
      </p:sp>
      <p:sp>
        <p:nvSpPr>
          <p:cNvPr id="4" name="Text 2"/>
          <p:cNvSpPr/>
          <p:nvPr/>
        </p:nvSpPr>
        <p:spPr>
          <a:xfrm>
            <a:off x="11551615" y="6446520"/>
            <a:ext cx="365760" cy="274320"/>
          </a:xfrm>
          <a:prstGeom prst="rect">
            <a:avLst/>
          </a:prstGeom>
          <a:noFill/>
          <a:ln/>
        </p:spPr>
        <p:txBody>
          <a:bodyPr wrap="square" lIns="0" tIns="0" rIns="0" bIns="0" rtlCol="0" anchor="ctr"/>
          <a:lstStyle/>
          <a:p>
            <a:pPr algn="r" indent="0" marL="0">
              <a:buNone/>
            </a:pPr>
            <a:r>
              <a:rPr lang="en-US" sz="1000" dirty="0">
                <a:solidFill>
                  <a:srgbClr val="7F7F7F"/>
                </a:solidFill>
                <a:latin typeface="Arial" pitchFamily="34" charset="0"/>
                <a:ea typeface="Arial" pitchFamily="34" charset="-122"/>
                <a:cs typeface="Arial"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FFFFFF"/>
          </a:solidFill>
          <a:ln w="19050">
            <a:solidFill>
              <a:srgbClr val="D9D9D9"/>
            </a:solidFill>
            <a:prstDash val="solid"/>
          </a:ln>
        </p:spPr>
      </p:sp>
      <p:sp>
        <p:nvSpPr>
          <p:cNvPr id="3" name="Text 1"/>
          <p:cNvSpPr/>
          <p:nvPr/>
        </p:nvSpPr>
        <p:spPr>
          <a:xfrm>
            <a:off x="457200" y="201168"/>
            <a:ext cx="11277295" cy="59436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FY22 vs FY23 Territory Opp Score Compare</a:t>
            </a:r>
            <a:endParaRPr lang="en-US" sz="2400" dirty="0"/>
          </a:p>
        </p:txBody>
      </p:sp>
      <p:sp>
        <p:nvSpPr>
          <p:cNvPr id="4" name="Text 2"/>
          <p:cNvSpPr/>
          <p:nvPr/>
        </p:nvSpPr>
        <p:spPr>
          <a:xfrm>
            <a:off x="457200" y="1097280"/>
            <a:ext cx="5120640" cy="274320"/>
          </a:xfrm>
          <a:prstGeom prst="rect">
            <a:avLst/>
          </a:prstGeom>
          <a:noFill/>
          <a:ln/>
        </p:spPr>
        <p:txBody>
          <a:bodyPr wrap="square" lIns="0" tIns="0" rIns="0" bIns="0" rtlCol="0" anchor="ctr"/>
          <a:lstStyle/>
          <a:p>
            <a:pPr indent="0" marL="0">
              <a:buNone/>
            </a:pPr>
            <a:r>
              <a:rPr lang="en-US" sz="1200" dirty="0">
                <a:solidFill>
                  <a:srgbClr val="404040"/>
                </a:solidFill>
                <a:latin typeface="Arial" pitchFamily="34" charset="0"/>
                <a:ea typeface="Arial" pitchFamily="34" charset="-122"/>
                <a:cs typeface="Arial" pitchFamily="34" charset="-120"/>
              </a:rPr>
              <a:t>FY22 Territory Opp Score Distribution</a:t>
            </a:r>
            <a:endParaRPr lang="en-US" sz="1200" dirty="0"/>
          </a:p>
        </p:txBody>
      </p:sp>
      <p:graphicFrame>
        <p:nvGraphicFramePr>
          <p:cNvPr id="5" name="Chart 0" descr=""/>
          <p:cNvGraphicFramePr/>
          <p:nvPr/>
        </p:nvGraphicFramePr>
        <p:xfrm>
          <a:off x="457200" y="1417320"/>
          <a:ext cx="5394960" cy="301752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217920" y="1097280"/>
            <a:ext cx="5120640" cy="274320"/>
          </a:xfrm>
          <a:prstGeom prst="rect">
            <a:avLst/>
          </a:prstGeom>
          <a:noFill/>
          <a:ln/>
        </p:spPr>
        <p:txBody>
          <a:bodyPr wrap="square" lIns="0" tIns="0" rIns="0" bIns="0" rtlCol="0" anchor="ctr"/>
          <a:lstStyle/>
          <a:p>
            <a:pPr indent="0" marL="0">
              <a:buNone/>
            </a:pPr>
            <a:r>
              <a:rPr lang="en-US" sz="1200" dirty="0">
                <a:solidFill>
                  <a:srgbClr val="404040"/>
                </a:solidFill>
                <a:latin typeface="Arial" pitchFamily="34" charset="0"/>
                <a:ea typeface="Arial" pitchFamily="34" charset="-122"/>
                <a:cs typeface="Arial" pitchFamily="34" charset="-120"/>
              </a:rPr>
              <a:t>FY23 Territory Opp Score Distribution</a:t>
            </a:r>
            <a:endParaRPr lang="en-US" sz="1200" dirty="0"/>
          </a:p>
        </p:txBody>
      </p:sp>
      <p:graphicFrame>
        <p:nvGraphicFramePr>
          <p:cNvPr id="7" name="Chart 1" descr=""/>
          <p:cNvGraphicFramePr/>
          <p:nvPr/>
        </p:nvGraphicFramePr>
        <p:xfrm>
          <a:off x="6217920" y="1417320"/>
          <a:ext cx="5394960" cy="3017520"/>
        </p:xfrm>
        <a:graphic xmlns:a="http://schemas.openxmlformats.org/drawingml/2006/main">
          <a:graphicData uri="http://schemas.openxmlformats.org/drawingml/2006/chart">
            <c:chart xmlns:c="http://schemas.openxmlformats.org/drawingml/2006/chart" r:id="rId2"/>
          </a:graphicData>
        </a:graphic>
      </p:graphicFrame>
      <p:sp>
        <p:nvSpPr>
          <p:cNvPr id="8" name="Text 4"/>
          <p:cNvSpPr/>
          <p:nvPr/>
        </p:nvSpPr>
        <p:spPr>
          <a:xfrm>
            <a:off x="457200" y="4617720"/>
            <a:ext cx="5394960" cy="1005840"/>
          </a:xfrm>
          <a:prstGeom prst="rect">
            <a:avLst/>
          </a:prstGeom>
          <a:noFill/>
          <a:ln/>
        </p:spPr>
        <p:txBody>
          <a:bodyPr wrap="square" lIns="0" tIns="0" rIns="0" bIns="0" rtlCol="0" anchor="t"/>
          <a:lstStyle/>
          <a:p>
            <a:pPr algn="l" indent="0" marL="0">
              <a:spcAft>
                <a:spcPts val="1200"/>
              </a:spcAft>
              <a:buNone/>
            </a:pPr>
            <a:r>
              <a:rPr lang="en-US" sz="1100" dirty="0">
                <a:solidFill>
                  <a:srgbClr val="404040"/>
                </a:solidFill>
                <a:latin typeface="Arial" pitchFamily="34" charset="0"/>
                <a:ea typeface="Arial" pitchFamily="34" charset="-122"/>
                <a:cs typeface="Arial" pitchFamily="34" charset="-120"/>
              </a:rPr>
              <a:t>Improvement in distribution against a standard mean for Opportunity score between FY22 &amp; FY23. While this is positive from a seller equity standpoint, there may be unintended consequences in moving high-opportunity accounts off specific Sellers.</a:t>
            </a:r>
            <a:endParaRPr lang="en-US" sz="11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217920" y="4617720"/>
          <a:ext cx="5394960" cy="1417320"/>
        </p:xfrm>
        <a:graphic>
          <a:graphicData uri="http://schemas.openxmlformats.org/drawingml/2006/table">
            <a:tbl>
              <a:tblPr/>
              <a:tblGrid>
                <a:gridCol w="3383280"/>
                <a:gridCol w="1005840"/>
                <a:gridCol w="1005840"/>
              </a:tblGrid>
              <a:tr h="283464">
                <a:tc>
                  <a:txBody>
                    <a:bodyPr/>
                    <a:lstStyle/>
                    <a:p>
                      <a:pPr algn="l" indent="0" marL="0">
                        <a:buNone/>
                      </a:pPr>
                      <a:r>
                        <a:rPr lang="en-US" sz="1100" b="1" dirty="0">
                          <a:solidFill>
                            <a:srgbClr val="000000"/>
                          </a:solidFill>
                          <a:latin typeface="Arial" pitchFamily="34" charset="0"/>
                          <a:ea typeface="Arial" pitchFamily="34" charset="-122"/>
                          <a:cs typeface="Arial" pitchFamily="34" charset="-120"/>
                        </a:rPr>
                        <a:t>Territory Opportunity Score Ave (Customers)</a:t>
                      </a:r>
                      <a:endParaRPr lang="en-US" sz="1100" dirty="0">
                        <a:latin typeface="Arial" charset="0"/>
                        <a:ea typeface="Arial" charset="0"/>
                        <a:cs typeface="Arial"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D9D9D9"/>
                    </a:solidFill>
                  </a:tcPr>
                </a:tc>
                <a:tc>
                  <a:txBody>
                    <a:bodyPr/>
                    <a:lstStyle/>
                    <a:p>
                      <a:pPr algn="ctr" indent="0" marL="0">
                        <a:buNone/>
                      </a:pPr>
                      <a:r>
                        <a:rPr lang="en-US" sz="1100" b="1" dirty="0">
                          <a:solidFill>
                            <a:srgbClr val="000000"/>
                          </a:solidFill>
                          <a:latin typeface="Arial" pitchFamily="34" charset="0"/>
                          <a:ea typeface="Arial" pitchFamily="34" charset="-122"/>
                          <a:cs typeface="Arial" pitchFamily="34" charset="-120"/>
                        </a:rPr>
                        <a:t>FY23</a:t>
                      </a:r>
                      <a:endParaRPr lang="en-US" sz="1100" dirty="0">
                        <a:latin typeface="Arial" charset="0"/>
                        <a:ea typeface="Arial" charset="0"/>
                        <a:cs typeface="Arial"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D9D9D9"/>
                    </a:solidFill>
                  </a:tcPr>
                </a:tc>
                <a:tc>
                  <a:txBody>
                    <a:bodyPr/>
                    <a:lstStyle/>
                    <a:p>
                      <a:pPr algn="ctr" indent="0" marL="0">
                        <a:buNone/>
                      </a:pPr>
                      <a:r>
                        <a:rPr lang="en-US" sz="1100" b="1" dirty="0">
                          <a:solidFill>
                            <a:srgbClr val="000000"/>
                          </a:solidFill>
                          <a:latin typeface="Arial" pitchFamily="34" charset="0"/>
                          <a:ea typeface="Arial" pitchFamily="34" charset="-122"/>
                          <a:cs typeface="Arial" pitchFamily="34" charset="-120"/>
                        </a:rPr>
                        <a:t>FY22</a:t>
                      </a:r>
                      <a:endParaRPr lang="en-US" sz="1100" dirty="0">
                        <a:latin typeface="Arial" charset="0"/>
                        <a:ea typeface="Arial" charset="0"/>
                        <a:cs typeface="Arial"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D9D9D9"/>
                    </a:solidFill>
                  </a:tcPr>
                </a:tc>
              </a:tr>
              <a:tr h="283464">
                <a:tc>
                  <a:txBody>
                    <a:bodyPr/>
                    <a:lstStyle/>
                    <a:p>
                      <a:pPr indent="0" marL="0">
                        <a:buNone/>
                      </a:pPr>
                      <a:r>
                        <a:rPr lang="en-US" sz="1100" dirty="0">
                          <a:solidFill>
                            <a:srgbClr val="000000"/>
                          </a:solidFill>
                          <a:latin typeface="Arial" pitchFamily="34" charset="0"/>
                          <a:ea typeface="Arial" pitchFamily="34" charset="-122"/>
                          <a:cs typeface="Arial" pitchFamily="34" charset="-120"/>
                        </a:rPr>
                        <a:t>AMER</a:t>
                      </a:r>
                      <a:endParaRPr lang="en-US" sz="1100" dirty="0">
                        <a:latin typeface="Arial" charset="0"/>
                        <a:ea typeface="Arial" charset="0"/>
                        <a:cs typeface="Arial"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algn="ctr" indent="0" marL="0">
                        <a:buNone/>
                      </a:pPr>
                      <a:r>
                        <a:rPr lang="en-US" sz="1100" dirty="0">
                          <a:solidFill>
                            <a:srgbClr val="000000"/>
                          </a:solidFill>
                          <a:latin typeface="Arial" pitchFamily="34" charset="0"/>
                          <a:ea typeface="Arial" pitchFamily="34" charset="-122"/>
                          <a:cs typeface="Arial" pitchFamily="34" charset="-120"/>
                        </a:rPr>
                        <a:t>44%</a:t>
                      </a:r>
                      <a:endParaRPr lang="en-US" sz="1100" dirty="0">
                        <a:latin typeface="Arial" charset="0"/>
                        <a:ea typeface="Arial" charset="0"/>
                        <a:cs typeface="Arial"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algn="ctr" indent="0" marL="0">
                        <a:buNone/>
                      </a:pPr>
                      <a:r>
                        <a:rPr lang="en-US" sz="1100" dirty="0">
                          <a:solidFill>
                            <a:srgbClr val="000000"/>
                          </a:solidFill>
                          <a:latin typeface="Arial" pitchFamily="34" charset="0"/>
                          <a:ea typeface="Arial" pitchFamily="34" charset="-122"/>
                          <a:cs typeface="Arial" pitchFamily="34" charset="-120"/>
                        </a:rPr>
                        <a:t>46%</a:t>
                      </a:r>
                      <a:endParaRPr lang="en-US" sz="1100" dirty="0">
                        <a:latin typeface="Arial" charset="0"/>
                        <a:ea typeface="Arial" charset="0"/>
                        <a:cs typeface="Arial"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r>
              <a:tr h="283464">
                <a:tc>
                  <a:txBody>
                    <a:bodyPr/>
                    <a:lstStyle/>
                    <a:p>
                      <a:pPr indent="0" marL="0">
                        <a:buNone/>
                      </a:pPr>
                      <a:r>
                        <a:rPr lang="en-US" sz="1100" dirty="0">
                          <a:solidFill>
                            <a:srgbClr val="000000"/>
                          </a:solidFill>
                          <a:latin typeface="Arial" pitchFamily="34" charset="0"/>
                          <a:ea typeface="Arial" pitchFamily="34" charset="-122"/>
                          <a:cs typeface="Arial" pitchFamily="34" charset="-120"/>
                        </a:rPr>
                        <a:t>APAC</a:t>
                      </a:r>
                      <a:endParaRPr lang="en-US" sz="1100" dirty="0">
                        <a:latin typeface="Arial" charset="0"/>
                        <a:ea typeface="Arial" charset="0"/>
                        <a:cs typeface="Arial"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algn="ctr" indent="0" marL="0">
                        <a:buNone/>
                      </a:pPr>
                      <a:r>
                        <a:rPr lang="en-US" sz="1100" dirty="0">
                          <a:solidFill>
                            <a:srgbClr val="000000"/>
                          </a:solidFill>
                          <a:latin typeface="Arial" pitchFamily="34" charset="0"/>
                          <a:ea typeface="Arial" pitchFamily="34" charset="-122"/>
                          <a:cs typeface="Arial" pitchFamily="34" charset="-120"/>
                        </a:rPr>
                        <a:t>36%</a:t>
                      </a:r>
                      <a:endParaRPr lang="en-US" sz="1100" dirty="0">
                        <a:latin typeface="Arial" charset="0"/>
                        <a:ea typeface="Arial" charset="0"/>
                        <a:cs typeface="Arial"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algn="ctr" indent="0" marL="0">
                        <a:buNone/>
                      </a:pPr>
                      <a:r>
                        <a:rPr lang="en-US" sz="1100" dirty="0">
                          <a:solidFill>
                            <a:srgbClr val="000000"/>
                          </a:solidFill>
                          <a:latin typeface="Arial" pitchFamily="34" charset="0"/>
                          <a:ea typeface="Arial" pitchFamily="34" charset="-122"/>
                          <a:cs typeface="Arial" pitchFamily="34" charset="-120"/>
                        </a:rPr>
                        <a:t>34%</a:t>
                      </a:r>
                      <a:endParaRPr lang="en-US" sz="1100" dirty="0">
                        <a:latin typeface="Arial" charset="0"/>
                        <a:ea typeface="Arial" charset="0"/>
                        <a:cs typeface="Arial"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r>
              <a:tr h="283464">
                <a:tc>
                  <a:txBody>
                    <a:bodyPr/>
                    <a:lstStyle/>
                    <a:p>
                      <a:pPr indent="0" marL="0">
                        <a:buNone/>
                      </a:pPr>
                      <a:r>
                        <a:rPr lang="en-US" sz="1100" dirty="0">
                          <a:solidFill>
                            <a:srgbClr val="000000"/>
                          </a:solidFill>
                          <a:latin typeface="Arial" pitchFamily="34" charset="0"/>
                          <a:ea typeface="Arial" pitchFamily="34" charset="-122"/>
                          <a:cs typeface="Arial" pitchFamily="34" charset="-120"/>
                        </a:rPr>
                        <a:t>EMEA</a:t>
                      </a:r>
                      <a:endParaRPr lang="en-US" sz="1100" dirty="0">
                        <a:latin typeface="Arial" charset="0"/>
                        <a:ea typeface="Arial" charset="0"/>
                        <a:cs typeface="Arial"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algn="ctr" indent="0" marL="0">
                        <a:buNone/>
                      </a:pPr>
                      <a:r>
                        <a:rPr lang="en-US" sz="1100" dirty="0">
                          <a:solidFill>
                            <a:srgbClr val="000000"/>
                          </a:solidFill>
                          <a:latin typeface="Arial" pitchFamily="34" charset="0"/>
                          <a:ea typeface="Arial" pitchFamily="34" charset="-122"/>
                          <a:cs typeface="Arial" pitchFamily="34" charset="-120"/>
                        </a:rPr>
                        <a:t>39%</a:t>
                      </a:r>
                      <a:endParaRPr lang="en-US" sz="1100" dirty="0">
                        <a:latin typeface="Arial" charset="0"/>
                        <a:ea typeface="Arial" charset="0"/>
                        <a:cs typeface="Arial"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algn="ctr" indent="0" marL="0">
                        <a:buNone/>
                      </a:pPr>
                      <a:r>
                        <a:rPr lang="en-US" sz="1100" dirty="0">
                          <a:solidFill>
                            <a:srgbClr val="000000"/>
                          </a:solidFill>
                          <a:latin typeface="Arial" pitchFamily="34" charset="0"/>
                          <a:ea typeface="Arial" pitchFamily="34" charset="-122"/>
                          <a:cs typeface="Arial" pitchFamily="34" charset="-120"/>
                        </a:rPr>
                        <a:t>42%</a:t>
                      </a:r>
                      <a:endParaRPr lang="en-US" sz="1100" dirty="0">
                        <a:latin typeface="Arial" charset="0"/>
                        <a:ea typeface="Arial" charset="0"/>
                        <a:cs typeface="Arial"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r>
              <a:tr h="283464">
                <a:tc>
                  <a:txBody>
                    <a:bodyPr/>
                    <a:lstStyle/>
                    <a:p>
                      <a:pPr indent="0" marL="0">
                        <a:buNone/>
                      </a:pPr>
                      <a:r>
                        <a:rPr lang="en-US" sz="1100" b="1" dirty="0">
                          <a:solidFill>
                            <a:srgbClr val="000000"/>
                          </a:solidFill>
                          <a:latin typeface="Arial" pitchFamily="34" charset="0"/>
                          <a:ea typeface="Arial" pitchFamily="34" charset="-122"/>
                          <a:cs typeface="Arial" pitchFamily="34" charset="-120"/>
                        </a:rPr>
                        <a:t>Grand Total</a:t>
                      </a:r>
                      <a:endParaRPr lang="en-US" sz="1100" dirty="0">
                        <a:latin typeface="Arial" charset="0"/>
                        <a:ea typeface="Arial" charset="0"/>
                        <a:cs typeface="Arial"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100" b="1" dirty="0">
                          <a:solidFill>
                            <a:srgbClr val="000000"/>
                          </a:solidFill>
                          <a:latin typeface="Arial" pitchFamily="34" charset="0"/>
                          <a:ea typeface="Arial" pitchFamily="34" charset="-122"/>
                          <a:cs typeface="Arial" pitchFamily="34" charset="-120"/>
                        </a:rPr>
                        <a:t>41%</a:t>
                      </a:r>
                      <a:endParaRPr lang="en-US" sz="1100" dirty="0">
                        <a:latin typeface="Arial" charset="0"/>
                        <a:ea typeface="Arial" charset="0"/>
                        <a:cs typeface="Arial"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100" b="1" dirty="0">
                          <a:solidFill>
                            <a:srgbClr val="000000"/>
                          </a:solidFill>
                          <a:latin typeface="Arial" pitchFamily="34" charset="0"/>
                          <a:ea typeface="Arial" pitchFamily="34" charset="-122"/>
                          <a:cs typeface="Arial" pitchFamily="34" charset="-120"/>
                        </a:rPr>
                        <a:t>41%</a:t>
                      </a:r>
                      <a:endParaRPr lang="en-US" sz="1100" dirty="0">
                        <a:latin typeface="Arial" charset="0"/>
                        <a:ea typeface="Arial" charset="0"/>
                        <a:cs typeface="Arial"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r>
            </a:tbl>
          </a:graphicData>
        </a:graphic>
      </p:graphicFrame>
      <p:sp>
        <p:nvSpPr>
          <p:cNvPr id="10" name="Text 5"/>
          <p:cNvSpPr/>
          <p:nvPr/>
        </p:nvSpPr>
        <p:spPr>
          <a:xfrm>
            <a:off x="6217920" y="6080760"/>
            <a:ext cx="5394960" cy="457200"/>
          </a:xfrm>
          <a:prstGeom prst="rect">
            <a:avLst/>
          </a:prstGeom>
          <a:noFill/>
          <a:ln/>
        </p:spPr>
        <p:txBody>
          <a:bodyPr wrap="square" lIns="0" tIns="0" rIns="0" bIns="0" rtlCol="0" anchor="ctr"/>
          <a:lstStyle/>
          <a:p>
            <a:pPr indent="0" marL="0">
              <a:buNone/>
            </a:pPr>
            <a:r>
              <a:rPr lang="en-US" sz="850" i="1" dirty="0">
                <a:solidFill>
                  <a:srgbClr val="7F7F7F"/>
                </a:solidFill>
                <a:latin typeface="Arial" pitchFamily="34" charset="0"/>
                <a:ea typeface="Arial" pitchFamily="34" charset="-122"/>
                <a:cs typeface="Arial" pitchFamily="34" charset="-120"/>
              </a:rPr>
              <a:t>Note: source table headed both columns "FY23"; relabeled second column "FY22" to match the values, which tie to the FY22 figures on the prior slide.</a:t>
            </a:r>
            <a:endParaRPr lang="en-US" sz="850" dirty="0"/>
          </a:p>
        </p:txBody>
      </p:sp>
      <p:sp>
        <p:nvSpPr>
          <p:cNvPr id="11" name="Text 6"/>
          <p:cNvSpPr/>
          <p:nvPr/>
        </p:nvSpPr>
        <p:spPr>
          <a:xfrm>
            <a:off x="11551615" y="6446520"/>
            <a:ext cx="365760" cy="274320"/>
          </a:xfrm>
          <a:prstGeom prst="rect">
            <a:avLst/>
          </a:prstGeom>
          <a:noFill/>
          <a:ln/>
        </p:spPr>
        <p:txBody>
          <a:bodyPr wrap="square" lIns="0" tIns="0" rIns="0" bIns="0" rtlCol="0" anchor="ctr"/>
          <a:lstStyle/>
          <a:p>
            <a:pPr algn="r" indent="0" marL="0">
              <a:buNone/>
            </a:pPr>
            <a:r>
              <a:rPr lang="en-US" sz="1000" dirty="0">
                <a:solidFill>
                  <a:srgbClr val="7F7F7F"/>
                </a:solidFill>
                <a:latin typeface="Arial" pitchFamily="34" charset="0"/>
                <a:ea typeface="Arial" pitchFamily="34" charset="-122"/>
                <a:cs typeface="Arial"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404040"/>
        </a:solidFill>
      </p:bgPr>
    </p:bg>
    <p:spTree>
      <p:nvGrpSpPr>
        <p:cNvPr id="1" name=""/>
        <p:cNvGrpSpPr/>
        <p:nvPr/>
      </p:nvGrpSpPr>
      <p:grpSpPr>
        <a:xfrm>
          <a:off x="0" y="0"/>
          <a:ext cx="0" cy="0"/>
          <a:chOff x="0" y="0"/>
          <a:chExt cx="0" cy="0"/>
        </a:xfrm>
      </p:grpSpPr>
      <p:sp>
        <p:nvSpPr>
          <p:cNvPr id="2" name="Text 0"/>
          <p:cNvSpPr/>
          <p:nvPr/>
        </p:nvSpPr>
        <p:spPr>
          <a:xfrm>
            <a:off x="822960" y="2468880"/>
            <a:ext cx="5486400" cy="457200"/>
          </a:xfrm>
          <a:prstGeom prst="rect">
            <a:avLst/>
          </a:prstGeom>
          <a:noFill/>
          <a:ln/>
        </p:spPr>
        <p:txBody>
          <a:bodyPr wrap="square" lIns="0" tIns="0" rIns="0" bIns="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ACME Corp</a:t>
            </a:r>
            <a:endParaRPr lang="en-US" sz="1600" dirty="0"/>
          </a:p>
        </p:txBody>
      </p:sp>
      <p:sp>
        <p:nvSpPr>
          <p:cNvPr id="3" name="Text 1"/>
          <p:cNvSpPr/>
          <p:nvPr/>
        </p:nvSpPr>
        <p:spPr>
          <a:xfrm>
            <a:off x="822960" y="3017520"/>
            <a:ext cx="7315200" cy="822960"/>
          </a:xfrm>
          <a:prstGeom prst="rect">
            <a:avLst/>
          </a:prstGeom>
          <a:noFill/>
          <a:ln/>
        </p:spPr>
        <p:txBody>
          <a:bodyPr wrap="square" lIns="0" tIns="0" rIns="0" bIns="0" rtlCol="0" anchor="ctr"/>
          <a:lstStyle/>
          <a:p>
            <a:pPr algn="l" indent="0" marL="0">
              <a:buNone/>
            </a:pPr>
            <a:r>
              <a:rPr lang="en-US" sz="3400" b="1" dirty="0">
                <a:solidFill>
                  <a:srgbClr val="ED7D31"/>
                </a:solidFill>
                <a:latin typeface="Arial" pitchFamily="34" charset="0"/>
                <a:ea typeface="Arial" pitchFamily="34" charset="-122"/>
                <a:cs typeface="Arial" pitchFamily="34" charset="-120"/>
              </a:rPr>
              <a:t>Question 3</a:t>
            </a:r>
            <a:endParaRPr lang="en-US" sz="3400" dirty="0"/>
          </a:p>
        </p:txBody>
      </p:sp>
      <p:sp>
        <p:nvSpPr>
          <p:cNvPr id="4" name="Text 2"/>
          <p:cNvSpPr/>
          <p:nvPr/>
        </p:nvSpPr>
        <p:spPr>
          <a:xfrm>
            <a:off x="11551615" y="6446520"/>
            <a:ext cx="365760" cy="274320"/>
          </a:xfrm>
          <a:prstGeom prst="rect">
            <a:avLst/>
          </a:prstGeom>
          <a:noFill/>
          <a:ln/>
        </p:spPr>
        <p:txBody>
          <a:bodyPr wrap="square" lIns="0" tIns="0" rIns="0" bIns="0" rtlCol="0" anchor="ctr"/>
          <a:lstStyle/>
          <a:p>
            <a:pPr algn="r" indent="0" marL="0">
              <a:buNone/>
            </a:pPr>
            <a:r>
              <a:rPr lang="en-US" sz="1000" dirty="0">
                <a:solidFill>
                  <a:srgbClr val="7F7F7F"/>
                </a:solidFill>
                <a:latin typeface="Arial" pitchFamily="34" charset="0"/>
                <a:ea typeface="Arial" pitchFamily="34" charset="-122"/>
                <a:cs typeface="Arial"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FFFFFF"/>
          </a:solidFill>
          <a:ln w="19050">
            <a:solidFill>
              <a:srgbClr val="D9D9D9"/>
            </a:solidFill>
            <a:prstDash val="solid"/>
          </a:ln>
        </p:spPr>
      </p:sp>
      <p:sp>
        <p:nvSpPr>
          <p:cNvPr id="3" name="Text 1"/>
          <p:cNvSpPr/>
          <p:nvPr/>
        </p:nvSpPr>
        <p:spPr>
          <a:xfrm>
            <a:off x="457200" y="201168"/>
            <a:ext cx="11277295" cy="59436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Territory &amp; Account Disruption → +95% of all accounts disrupted across Geos</a:t>
            </a:r>
            <a:endParaRPr lang="en-US" sz="2400" dirty="0"/>
          </a:p>
        </p:txBody>
      </p:sp>
      <p:sp>
        <p:nvSpPr>
          <p:cNvPr id="4" name="Text 2"/>
          <p:cNvSpPr/>
          <p:nvPr/>
        </p:nvSpPr>
        <p:spPr>
          <a:xfrm>
            <a:off x="457200" y="1097280"/>
            <a:ext cx="7315200" cy="256032"/>
          </a:xfrm>
          <a:prstGeom prst="rect">
            <a:avLst/>
          </a:prstGeom>
          <a:noFill/>
          <a:ln/>
        </p:spPr>
        <p:txBody>
          <a:bodyPr wrap="square" lIns="0" tIns="0" rIns="0" bIns="0" rtlCol="0" anchor="ctr"/>
          <a:lstStyle/>
          <a:p>
            <a:pPr indent="0" marL="0">
              <a:buNone/>
            </a:pPr>
            <a:r>
              <a:rPr lang="en-US" sz="1100" b="1" i="1" dirty="0">
                <a:solidFill>
                  <a:srgbClr val="404040"/>
                </a:solidFill>
                <a:latin typeface="Arial" pitchFamily="34" charset="0"/>
                <a:ea typeface="Arial" pitchFamily="34" charset="-122"/>
                <a:cs typeface="Arial" pitchFamily="34" charset="-120"/>
              </a:rPr>
              <a:t>SUM of ARR Impact</a:t>
            </a:r>
            <a:endParaRPr lang="en-US" sz="11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5943600" cy="914400"/>
        </p:xfrm>
        <a:graphic>
          <a:graphicData uri="http://schemas.openxmlformats.org/drawingml/2006/table">
            <a:tbl>
              <a:tblPr/>
              <a:tblGrid>
                <a:gridCol w="1554480"/>
                <a:gridCol w="1554480"/>
                <a:gridCol w="1463040"/>
                <a:gridCol w="1371600"/>
              </a:tblGrid>
              <a:tr h="219456">
                <a:tc>
                  <a:txBody>
                    <a:bodyPr/>
                    <a:lstStyle/>
                    <a:p>
                      <a:pPr algn="l" indent="0" marL="0">
                        <a:buNone/>
                      </a:pPr>
                      <a:r>
                        <a:rPr lang="en-US" sz="1050" b="1" dirty="0">
                          <a:solidFill>
                            <a:srgbClr val="000000"/>
                          </a:solidFill>
                          <a:latin typeface="Arial" pitchFamily="34" charset="0"/>
                          <a:ea typeface="Arial" pitchFamily="34" charset="-122"/>
                          <a:cs typeface="Arial" pitchFamily="34" charset="-120"/>
                        </a:rPr>
                        <a:t>Region</a:t>
                      </a:r>
                      <a:endParaRPr lang="en-US" sz="1050" dirty="0">
                        <a:latin typeface="Arial" charset="0"/>
                        <a:ea typeface="Arial" charset="0"/>
                        <a:cs typeface="Arial"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D9D9D9"/>
                    </a:solidFill>
                  </a:tcPr>
                </a:tc>
                <a:tc>
                  <a:txBody>
                    <a:bodyPr/>
                    <a:lstStyle/>
                    <a:p>
                      <a:pPr algn="ctr" indent="0" marL="0">
                        <a:buNone/>
                      </a:pPr>
                      <a:r>
                        <a:rPr lang="en-US" sz="1050" b="1" dirty="0">
                          <a:solidFill>
                            <a:srgbClr val="000000"/>
                          </a:solidFill>
                          <a:latin typeface="Arial" pitchFamily="34" charset="0"/>
                          <a:ea typeface="Arial" pitchFamily="34" charset="-122"/>
                          <a:cs typeface="Arial" pitchFamily="34" charset="-120"/>
                        </a:rPr>
                        <a:t>Disrupted</a:t>
                      </a:r>
                      <a:endParaRPr lang="en-US" sz="1050" dirty="0">
                        <a:latin typeface="Arial" charset="0"/>
                        <a:ea typeface="Arial" charset="0"/>
                        <a:cs typeface="Arial"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D9D9D9"/>
                    </a:solidFill>
                  </a:tcPr>
                </a:tc>
                <a:tc>
                  <a:txBody>
                    <a:bodyPr/>
                    <a:lstStyle/>
                    <a:p>
                      <a:pPr algn="ctr" indent="0" marL="0">
                        <a:buNone/>
                      </a:pPr>
                      <a:r>
                        <a:rPr lang="en-US" sz="1050" b="1" dirty="0">
                          <a:solidFill>
                            <a:srgbClr val="000000"/>
                          </a:solidFill>
                          <a:latin typeface="Arial" pitchFamily="34" charset="0"/>
                          <a:ea typeface="Arial" pitchFamily="34" charset="-122"/>
                          <a:cs typeface="Arial" pitchFamily="34" charset="-120"/>
                        </a:rPr>
                        <a:t>Unchanged</a:t>
                      </a:r>
                      <a:endParaRPr lang="en-US" sz="1050" dirty="0">
                        <a:latin typeface="Arial" charset="0"/>
                        <a:ea typeface="Arial" charset="0"/>
                        <a:cs typeface="Arial"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D9D9D9"/>
                    </a:solidFill>
                  </a:tcPr>
                </a:tc>
                <a:tc>
                  <a:txBody>
                    <a:bodyPr/>
                    <a:lstStyle/>
                    <a:p>
                      <a:pPr algn="ctr" indent="0" marL="0">
                        <a:buNone/>
                      </a:pPr>
                      <a:r>
                        <a:rPr lang="en-US" sz="1050" b="1" dirty="0">
                          <a:solidFill>
                            <a:srgbClr val="000000"/>
                          </a:solidFill>
                          <a:latin typeface="Arial" pitchFamily="34" charset="0"/>
                          <a:ea typeface="Arial" pitchFamily="34" charset="-122"/>
                          <a:cs typeface="Arial" pitchFamily="34" charset="-120"/>
                        </a:rPr>
                        <a:t>Grand Total</a:t>
                      </a:r>
                      <a:endParaRPr lang="en-US" sz="1050" dirty="0">
                        <a:latin typeface="Arial" charset="0"/>
                        <a:ea typeface="Arial" charset="0"/>
                        <a:cs typeface="Arial"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D9D9D9"/>
                    </a:solidFill>
                  </a:tcPr>
                </a:tc>
              </a:tr>
              <a:tr h="219456">
                <a:tc>
                  <a:txBody>
                    <a:bodyPr/>
                    <a:lstStyle/>
                    <a:p>
                      <a:pPr indent="0" marL="0">
                        <a:buNone/>
                      </a:pPr>
                      <a:r>
                        <a:rPr lang="en-US" sz="1050" dirty="0">
                          <a:solidFill>
                            <a:srgbClr val="000000"/>
                          </a:solidFill>
                          <a:latin typeface="Arial" pitchFamily="34" charset="0"/>
                          <a:ea typeface="Arial" pitchFamily="34" charset="-122"/>
                          <a:cs typeface="Arial" pitchFamily="34" charset="-120"/>
                        </a:rPr>
                        <a:t>AMER</a:t>
                      </a:r>
                      <a:endParaRPr lang="en-US" sz="1050" dirty="0">
                        <a:latin typeface="Arial" charset="0"/>
                        <a:ea typeface="Arial" charset="0"/>
                        <a:cs typeface="Arial"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algn="r" indent="0" marL="0">
                        <a:buNone/>
                      </a:pPr>
                      <a:r>
                        <a:rPr lang="en-US" sz="1050" dirty="0">
                          <a:solidFill>
                            <a:srgbClr val="000000"/>
                          </a:solidFill>
                          <a:latin typeface="Arial" pitchFamily="34" charset="0"/>
                          <a:ea typeface="Arial" pitchFamily="34" charset="-122"/>
                          <a:cs typeface="Arial" pitchFamily="34" charset="-120"/>
                        </a:rPr>
                        <a:t>$1,074,443,100</a:t>
                      </a:r>
                      <a:endParaRPr lang="en-US" sz="1050" dirty="0">
                        <a:latin typeface="Arial" charset="0"/>
                        <a:ea typeface="Arial" charset="0"/>
                        <a:cs typeface="Arial"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algn="r" indent="0" marL="0">
                        <a:buNone/>
                      </a:pPr>
                      <a:r>
                        <a:rPr lang="en-US" sz="1050" dirty="0">
                          <a:solidFill>
                            <a:srgbClr val="000000"/>
                          </a:solidFill>
                          <a:latin typeface="Arial" pitchFamily="34" charset="0"/>
                          <a:ea typeface="Arial" pitchFamily="34" charset="-122"/>
                          <a:cs typeface="Arial" pitchFamily="34" charset="-120"/>
                        </a:rPr>
                        <a:t>$102,829,265</a:t>
                      </a:r>
                      <a:endParaRPr lang="en-US" sz="1050" dirty="0">
                        <a:latin typeface="Arial" charset="0"/>
                        <a:ea typeface="Arial" charset="0"/>
                        <a:cs typeface="Arial"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algn="r" indent="0" marL="0">
                        <a:buNone/>
                      </a:pPr>
                      <a:r>
                        <a:rPr lang="en-US" sz="1050" dirty="0">
                          <a:solidFill>
                            <a:srgbClr val="000000"/>
                          </a:solidFill>
                          <a:latin typeface="Arial" pitchFamily="34" charset="0"/>
                          <a:ea typeface="Arial" pitchFamily="34" charset="-122"/>
                          <a:cs typeface="Arial" pitchFamily="34" charset="-120"/>
                        </a:rPr>
                        <a:t>$1,177,272,365</a:t>
                      </a:r>
                      <a:endParaRPr lang="en-US" sz="1050" dirty="0">
                        <a:latin typeface="Arial" charset="0"/>
                        <a:ea typeface="Arial" charset="0"/>
                        <a:cs typeface="Arial"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r>
              <a:tr h="219456">
                <a:tc>
                  <a:txBody>
                    <a:bodyPr/>
                    <a:lstStyle/>
                    <a:p>
                      <a:pPr indent="0" marL="0">
                        <a:buNone/>
                      </a:pPr>
                      <a:r>
                        <a:rPr lang="en-US" sz="1050" dirty="0">
                          <a:solidFill>
                            <a:srgbClr val="000000"/>
                          </a:solidFill>
                          <a:latin typeface="Arial" pitchFamily="34" charset="0"/>
                          <a:ea typeface="Arial" pitchFamily="34" charset="-122"/>
                          <a:cs typeface="Arial" pitchFamily="34" charset="-120"/>
                        </a:rPr>
                        <a:t>APAC</a:t>
                      </a:r>
                      <a:endParaRPr lang="en-US" sz="1050" dirty="0">
                        <a:latin typeface="Arial" charset="0"/>
                        <a:ea typeface="Arial" charset="0"/>
                        <a:cs typeface="Arial"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algn="r" indent="0" marL="0">
                        <a:buNone/>
                      </a:pPr>
                      <a:r>
                        <a:rPr lang="en-US" sz="1050" dirty="0">
                          <a:solidFill>
                            <a:srgbClr val="000000"/>
                          </a:solidFill>
                          <a:latin typeface="Arial" pitchFamily="34" charset="0"/>
                          <a:ea typeface="Arial" pitchFamily="34" charset="-122"/>
                          <a:cs typeface="Arial" pitchFamily="34" charset="-120"/>
                        </a:rPr>
                        <a:t>$170,586,122</a:t>
                      </a:r>
                      <a:endParaRPr lang="en-US" sz="1050" dirty="0">
                        <a:latin typeface="Arial" charset="0"/>
                        <a:ea typeface="Arial" charset="0"/>
                        <a:cs typeface="Arial"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algn="r" indent="0" marL="0">
                        <a:buNone/>
                      </a:pPr>
                      <a:r>
                        <a:rPr lang="en-US" sz="1050" dirty="0">
                          <a:solidFill>
                            <a:srgbClr val="000000"/>
                          </a:solidFill>
                          <a:latin typeface="Arial" pitchFamily="34" charset="0"/>
                          <a:ea typeface="Arial" pitchFamily="34" charset="-122"/>
                          <a:cs typeface="Arial" pitchFamily="34" charset="-120"/>
                        </a:rPr>
                        <a:t>$4,160,493</a:t>
                      </a:r>
                      <a:endParaRPr lang="en-US" sz="1050" dirty="0">
                        <a:latin typeface="Arial" charset="0"/>
                        <a:ea typeface="Arial" charset="0"/>
                        <a:cs typeface="Arial"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algn="r" indent="0" marL="0">
                        <a:buNone/>
                      </a:pPr>
                      <a:r>
                        <a:rPr lang="en-US" sz="1050" dirty="0">
                          <a:solidFill>
                            <a:srgbClr val="000000"/>
                          </a:solidFill>
                          <a:latin typeface="Arial" pitchFamily="34" charset="0"/>
                          <a:ea typeface="Arial" pitchFamily="34" charset="-122"/>
                          <a:cs typeface="Arial" pitchFamily="34" charset="-120"/>
                        </a:rPr>
                        <a:t>$174,746,615</a:t>
                      </a:r>
                      <a:endParaRPr lang="en-US" sz="1050" dirty="0">
                        <a:latin typeface="Arial" charset="0"/>
                        <a:ea typeface="Arial" charset="0"/>
                        <a:cs typeface="Arial"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r>
              <a:tr h="219456">
                <a:tc>
                  <a:txBody>
                    <a:bodyPr/>
                    <a:lstStyle/>
                    <a:p>
                      <a:pPr indent="0" marL="0">
                        <a:buNone/>
                      </a:pPr>
                      <a:r>
                        <a:rPr lang="en-US" sz="1050" dirty="0">
                          <a:solidFill>
                            <a:srgbClr val="000000"/>
                          </a:solidFill>
                          <a:latin typeface="Arial" pitchFamily="34" charset="0"/>
                          <a:ea typeface="Arial" pitchFamily="34" charset="-122"/>
                          <a:cs typeface="Arial" pitchFamily="34" charset="-120"/>
                        </a:rPr>
                        <a:t>EMEA</a:t>
                      </a:r>
                      <a:endParaRPr lang="en-US" sz="1050" dirty="0">
                        <a:latin typeface="Arial" charset="0"/>
                        <a:ea typeface="Arial" charset="0"/>
                        <a:cs typeface="Arial"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algn="r" indent="0" marL="0">
                        <a:buNone/>
                      </a:pPr>
                      <a:r>
                        <a:rPr lang="en-US" sz="1050" dirty="0">
                          <a:solidFill>
                            <a:srgbClr val="000000"/>
                          </a:solidFill>
                          <a:latin typeface="Arial" pitchFamily="34" charset="0"/>
                          <a:ea typeface="Arial" pitchFamily="34" charset="-122"/>
                          <a:cs typeface="Arial" pitchFamily="34" charset="-120"/>
                        </a:rPr>
                        <a:t>$806,297,620</a:t>
                      </a:r>
                      <a:endParaRPr lang="en-US" sz="1050" dirty="0">
                        <a:latin typeface="Arial" charset="0"/>
                        <a:ea typeface="Arial" charset="0"/>
                        <a:cs typeface="Arial"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algn="r" indent="0" marL="0">
                        <a:buNone/>
                      </a:pPr>
                      <a:r>
                        <a:rPr lang="en-US" sz="1050" dirty="0">
                          <a:solidFill>
                            <a:srgbClr val="000000"/>
                          </a:solidFill>
                          <a:latin typeface="Arial" pitchFamily="34" charset="0"/>
                          <a:ea typeface="Arial" pitchFamily="34" charset="-122"/>
                          <a:cs typeface="Arial" pitchFamily="34" charset="-120"/>
                        </a:rPr>
                        <a:t>$1,251,724</a:t>
                      </a:r>
                      <a:endParaRPr lang="en-US" sz="1050" dirty="0">
                        <a:latin typeface="Arial" charset="0"/>
                        <a:ea typeface="Arial" charset="0"/>
                        <a:cs typeface="Arial"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algn="r" indent="0" marL="0">
                        <a:buNone/>
                      </a:pPr>
                      <a:r>
                        <a:rPr lang="en-US" sz="1050" dirty="0">
                          <a:solidFill>
                            <a:srgbClr val="000000"/>
                          </a:solidFill>
                          <a:latin typeface="Arial" pitchFamily="34" charset="0"/>
                          <a:ea typeface="Arial" pitchFamily="34" charset="-122"/>
                          <a:cs typeface="Arial" pitchFamily="34" charset="-120"/>
                        </a:rPr>
                        <a:t>$807,549,344</a:t>
                      </a:r>
                      <a:endParaRPr lang="en-US" sz="1050" dirty="0">
                        <a:latin typeface="Arial" charset="0"/>
                        <a:ea typeface="Arial" charset="0"/>
                        <a:cs typeface="Arial"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r>
              <a:tr h="219456">
                <a:tc>
                  <a:txBody>
                    <a:bodyPr/>
                    <a:lstStyle/>
                    <a:p>
                      <a:pPr indent="0" marL="0">
                        <a:buNone/>
                      </a:pPr>
                      <a:r>
                        <a:rPr lang="en-US" sz="1050" b="1" dirty="0">
                          <a:solidFill>
                            <a:srgbClr val="000000"/>
                          </a:solidFill>
                          <a:latin typeface="Arial" pitchFamily="34" charset="0"/>
                          <a:ea typeface="Arial" pitchFamily="34" charset="-122"/>
                          <a:cs typeface="Arial" pitchFamily="34" charset="-120"/>
                        </a:rPr>
                        <a:t>Grand Total</a:t>
                      </a:r>
                      <a:endParaRPr lang="en-US" sz="1050" dirty="0">
                        <a:latin typeface="Arial" charset="0"/>
                        <a:ea typeface="Arial" charset="0"/>
                        <a:cs typeface="Arial"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algn="r" indent="0" marL="0">
                        <a:buNone/>
                      </a:pPr>
                      <a:r>
                        <a:rPr lang="en-US" sz="1050" b="1" dirty="0">
                          <a:solidFill>
                            <a:srgbClr val="000000"/>
                          </a:solidFill>
                          <a:latin typeface="Arial" pitchFamily="34" charset="0"/>
                          <a:ea typeface="Arial" pitchFamily="34" charset="-122"/>
                          <a:cs typeface="Arial" pitchFamily="34" charset="-120"/>
                        </a:rPr>
                        <a:t>$2,051,326,842</a:t>
                      </a:r>
                      <a:endParaRPr lang="en-US" sz="1050" dirty="0">
                        <a:latin typeface="Arial" charset="0"/>
                        <a:ea typeface="Arial" charset="0"/>
                        <a:cs typeface="Arial"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algn="r" indent="0" marL="0">
                        <a:buNone/>
                      </a:pPr>
                      <a:r>
                        <a:rPr lang="en-US" sz="1050" b="1" dirty="0">
                          <a:solidFill>
                            <a:srgbClr val="000000"/>
                          </a:solidFill>
                          <a:latin typeface="Arial" pitchFamily="34" charset="0"/>
                          <a:ea typeface="Arial" pitchFamily="34" charset="-122"/>
                          <a:cs typeface="Arial" pitchFamily="34" charset="-120"/>
                        </a:rPr>
                        <a:t>$108,241,482</a:t>
                      </a:r>
                      <a:endParaRPr lang="en-US" sz="1050" dirty="0">
                        <a:latin typeface="Arial" charset="0"/>
                        <a:ea typeface="Arial" charset="0"/>
                        <a:cs typeface="Arial"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algn="r" indent="0" marL="0">
                        <a:buNone/>
                      </a:pPr>
                      <a:r>
                        <a:rPr lang="en-US" sz="1050" b="1" dirty="0">
                          <a:solidFill>
                            <a:srgbClr val="000000"/>
                          </a:solidFill>
                          <a:latin typeface="Arial" pitchFamily="34" charset="0"/>
                          <a:ea typeface="Arial" pitchFamily="34" charset="-122"/>
                          <a:cs typeface="Arial" pitchFamily="34" charset="-120"/>
                        </a:rPr>
                        <a:t>$2,159,568,324</a:t>
                      </a:r>
                      <a:endParaRPr lang="en-US" sz="1050" dirty="0">
                        <a:latin typeface="Arial" charset="0"/>
                        <a:ea typeface="Arial" charset="0"/>
                        <a:cs typeface="Arial"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r>
            </a:tbl>
          </a:graphicData>
        </a:graphic>
      </p:graphicFrame>
      <p:sp>
        <p:nvSpPr>
          <p:cNvPr id="6" name="Text 3"/>
          <p:cNvSpPr/>
          <p:nvPr/>
        </p:nvSpPr>
        <p:spPr>
          <a:xfrm>
            <a:off x="457200" y="2514600"/>
            <a:ext cx="7315200" cy="256032"/>
          </a:xfrm>
          <a:prstGeom prst="rect">
            <a:avLst/>
          </a:prstGeom>
          <a:noFill/>
          <a:ln/>
        </p:spPr>
        <p:txBody>
          <a:bodyPr wrap="square" lIns="0" tIns="0" rIns="0" bIns="0" rtlCol="0" anchor="ctr"/>
          <a:lstStyle/>
          <a:p>
            <a:pPr indent="0" marL="0">
              <a:buNone/>
            </a:pPr>
            <a:r>
              <a:rPr lang="en-US" sz="1100" b="1" i="1" dirty="0">
                <a:solidFill>
                  <a:srgbClr val="404040"/>
                </a:solidFill>
                <a:latin typeface="Arial" pitchFamily="34" charset="0"/>
                <a:ea typeface="Arial" pitchFamily="34" charset="-122"/>
                <a:cs typeface="Arial" pitchFamily="34" charset="-120"/>
              </a:rPr>
              <a:t>SUM of ARR Impact (%)</a:t>
            </a:r>
            <a:endParaRPr lang="en-US" sz="1100" dirty="0"/>
          </a:p>
        </p:txBody>
      </p:sp>
      <p:graphicFrame>
        <p:nvGraphicFramePr>
          <p:cNvPr id="23" name="Table 1"/>
          <p:cNvGraphicFramePr>
            <a:graphicFrameLocks noGrp="1"/>
          </p:cNvGraphicFramePr>
          <p:nvPr>
            <p:extLst>
              <p:ext uri="{D42A27DB-BD31-4B8C-83A1-F6EECF244321}">
                <p14:modId xmlns:p14="http://schemas.microsoft.com/office/powerpoint/2010/main" val="1579011935"/>
              </p:ext>
            </p:extLst>
          </p:nvPr>
        </p:nvGraphicFramePr>
        <p:xfrm>
          <a:off x="457200" y="2788920"/>
          <a:ext cx="5943600" cy="914400"/>
        </p:xfrm>
        <a:graphic>
          <a:graphicData uri="http://schemas.openxmlformats.org/drawingml/2006/table">
            <a:tbl>
              <a:tblPr/>
              <a:tblGrid>
                <a:gridCol w="1554480"/>
                <a:gridCol w="1554480"/>
                <a:gridCol w="1463040"/>
                <a:gridCol w="1371600"/>
              </a:tblGrid>
              <a:tr h="219456">
                <a:tc>
                  <a:txBody>
                    <a:bodyPr/>
                    <a:lstStyle/>
                    <a:p>
                      <a:pPr algn="l" indent="0" marL="0">
                        <a:buNone/>
                      </a:pPr>
                      <a:r>
                        <a:rPr lang="en-US" sz="1050" b="1" dirty="0">
                          <a:solidFill>
                            <a:srgbClr val="000000"/>
                          </a:solidFill>
                          <a:latin typeface="Arial" pitchFamily="34" charset="0"/>
                          <a:ea typeface="Arial" pitchFamily="34" charset="-122"/>
                          <a:cs typeface="Arial" pitchFamily="34" charset="-120"/>
                        </a:rPr>
                        <a:t>Region</a:t>
                      </a:r>
                      <a:endParaRPr lang="en-US" sz="1050" dirty="0">
                        <a:latin typeface="Arial" charset="0"/>
                        <a:ea typeface="Arial" charset="0"/>
                        <a:cs typeface="Arial"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D9D9D9"/>
                    </a:solidFill>
                  </a:tcPr>
                </a:tc>
                <a:tc>
                  <a:txBody>
                    <a:bodyPr/>
                    <a:lstStyle/>
                    <a:p>
                      <a:pPr algn="ctr" indent="0" marL="0">
                        <a:buNone/>
                      </a:pPr>
                      <a:r>
                        <a:rPr lang="en-US" sz="1050" b="1" dirty="0">
                          <a:solidFill>
                            <a:srgbClr val="000000"/>
                          </a:solidFill>
                          <a:latin typeface="Arial" pitchFamily="34" charset="0"/>
                          <a:ea typeface="Arial" pitchFamily="34" charset="-122"/>
                          <a:cs typeface="Arial" pitchFamily="34" charset="-120"/>
                        </a:rPr>
                        <a:t>Disrupted</a:t>
                      </a:r>
                      <a:endParaRPr lang="en-US" sz="1050" dirty="0">
                        <a:latin typeface="Arial" charset="0"/>
                        <a:ea typeface="Arial" charset="0"/>
                        <a:cs typeface="Arial"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D9D9D9"/>
                    </a:solidFill>
                  </a:tcPr>
                </a:tc>
                <a:tc>
                  <a:txBody>
                    <a:bodyPr/>
                    <a:lstStyle/>
                    <a:p>
                      <a:pPr algn="ctr" indent="0" marL="0">
                        <a:buNone/>
                      </a:pPr>
                      <a:r>
                        <a:rPr lang="en-US" sz="1050" b="1" dirty="0">
                          <a:solidFill>
                            <a:srgbClr val="000000"/>
                          </a:solidFill>
                          <a:latin typeface="Arial" pitchFamily="34" charset="0"/>
                          <a:ea typeface="Arial" pitchFamily="34" charset="-122"/>
                          <a:cs typeface="Arial" pitchFamily="34" charset="-120"/>
                        </a:rPr>
                        <a:t>Unchanged</a:t>
                      </a:r>
                      <a:endParaRPr lang="en-US" sz="1050" dirty="0">
                        <a:latin typeface="Arial" charset="0"/>
                        <a:ea typeface="Arial" charset="0"/>
                        <a:cs typeface="Arial"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D9D9D9"/>
                    </a:solidFill>
                  </a:tcPr>
                </a:tc>
                <a:tc>
                  <a:txBody>
                    <a:bodyPr/>
                    <a:lstStyle/>
                    <a:p>
                      <a:pPr algn="ctr" indent="0" marL="0">
                        <a:buNone/>
                      </a:pPr>
                      <a:r>
                        <a:rPr lang="en-US" sz="1050" b="1" dirty="0">
                          <a:solidFill>
                            <a:srgbClr val="000000"/>
                          </a:solidFill>
                          <a:latin typeface="Arial" pitchFamily="34" charset="0"/>
                          <a:ea typeface="Arial" pitchFamily="34" charset="-122"/>
                          <a:cs typeface="Arial" pitchFamily="34" charset="-120"/>
                        </a:rPr>
                        <a:t>Grand Total</a:t>
                      </a:r>
                      <a:endParaRPr lang="en-US" sz="1050" dirty="0">
                        <a:latin typeface="Arial" charset="0"/>
                        <a:ea typeface="Arial" charset="0"/>
                        <a:cs typeface="Arial"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D9D9D9"/>
                    </a:solidFill>
                  </a:tcPr>
                </a:tc>
              </a:tr>
              <a:tr h="219456">
                <a:tc>
                  <a:txBody>
                    <a:bodyPr/>
                    <a:lstStyle/>
                    <a:p>
                      <a:pPr indent="0" marL="0">
                        <a:buNone/>
                      </a:pPr>
                      <a:r>
                        <a:rPr lang="en-US" sz="1050" dirty="0">
                          <a:solidFill>
                            <a:srgbClr val="000000"/>
                          </a:solidFill>
                          <a:latin typeface="Arial" pitchFamily="34" charset="0"/>
                          <a:ea typeface="Arial" pitchFamily="34" charset="-122"/>
                          <a:cs typeface="Arial" pitchFamily="34" charset="-120"/>
                        </a:rPr>
                        <a:t>AMER</a:t>
                      </a:r>
                      <a:endParaRPr lang="en-US" sz="1050" dirty="0">
                        <a:latin typeface="Arial" charset="0"/>
                        <a:ea typeface="Arial" charset="0"/>
                        <a:cs typeface="Arial"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algn="ctr" indent="0" marL="0">
                        <a:buNone/>
                      </a:pPr>
                      <a:r>
                        <a:rPr lang="en-US" sz="1050" dirty="0">
                          <a:solidFill>
                            <a:srgbClr val="000000"/>
                          </a:solidFill>
                          <a:latin typeface="Arial" pitchFamily="34" charset="0"/>
                          <a:ea typeface="Arial" pitchFamily="34" charset="-122"/>
                          <a:cs typeface="Arial" pitchFamily="34" charset="-120"/>
                        </a:rPr>
                        <a:t>91.3%</a:t>
                      </a:r>
                      <a:endParaRPr lang="en-US" sz="1050" dirty="0">
                        <a:latin typeface="Arial" charset="0"/>
                        <a:ea typeface="Arial" charset="0"/>
                        <a:cs typeface="Arial"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algn="ctr" indent="0" marL="0">
                        <a:buNone/>
                      </a:pPr>
                      <a:r>
                        <a:rPr lang="en-US" sz="1050" dirty="0">
                          <a:solidFill>
                            <a:srgbClr val="000000"/>
                          </a:solidFill>
                          <a:latin typeface="Arial" pitchFamily="34" charset="0"/>
                          <a:ea typeface="Arial" pitchFamily="34" charset="-122"/>
                          <a:cs typeface="Arial" pitchFamily="34" charset="-120"/>
                        </a:rPr>
                        <a:t>8.7%</a:t>
                      </a:r>
                      <a:endParaRPr lang="en-US" sz="1050" dirty="0">
                        <a:latin typeface="Arial" charset="0"/>
                        <a:ea typeface="Arial" charset="0"/>
                        <a:cs typeface="Arial"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algn="ctr" indent="0" marL="0">
                        <a:buNone/>
                      </a:pPr>
                      <a:r>
                        <a:rPr lang="en-US" sz="1050" dirty="0">
                          <a:solidFill>
                            <a:srgbClr val="000000"/>
                          </a:solidFill>
                          <a:latin typeface="Arial" pitchFamily="34" charset="0"/>
                          <a:ea typeface="Arial" pitchFamily="34" charset="-122"/>
                          <a:cs typeface="Arial" pitchFamily="34" charset="-120"/>
                        </a:rPr>
                        <a:t>100.0%</a:t>
                      </a:r>
                      <a:endParaRPr lang="en-US" sz="1050" dirty="0">
                        <a:latin typeface="Arial" charset="0"/>
                        <a:ea typeface="Arial" charset="0"/>
                        <a:cs typeface="Arial"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r>
              <a:tr h="219456">
                <a:tc>
                  <a:txBody>
                    <a:bodyPr/>
                    <a:lstStyle/>
                    <a:p>
                      <a:pPr indent="0" marL="0">
                        <a:buNone/>
                      </a:pPr>
                      <a:r>
                        <a:rPr lang="en-US" sz="1050" dirty="0">
                          <a:solidFill>
                            <a:srgbClr val="000000"/>
                          </a:solidFill>
                          <a:latin typeface="Arial" pitchFamily="34" charset="0"/>
                          <a:ea typeface="Arial" pitchFamily="34" charset="-122"/>
                          <a:cs typeface="Arial" pitchFamily="34" charset="-120"/>
                        </a:rPr>
                        <a:t>APAC</a:t>
                      </a:r>
                      <a:endParaRPr lang="en-US" sz="1050" dirty="0">
                        <a:latin typeface="Arial" charset="0"/>
                        <a:ea typeface="Arial" charset="0"/>
                        <a:cs typeface="Arial"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algn="ctr" indent="0" marL="0">
                        <a:buNone/>
                      </a:pPr>
                      <a:r>
                        <a:rPr lang="en-US" sz="1050" dirty="0">
                          <a:solidFill>
                            <a:srgbClr val="000000"/>
                          </a:solidFill>
                          <a:latin typeface="Arial" pitchFamily="34" charset="0"/>
                          <a:ea typeface="Arial" pitchFamily="34" charset="-122"/>
                          <a:cs typeface="Arial" pitchFamily="34" charset="-120"/>
                        </a:rPr>
                        <a:t>97.6%</a:t>
                      </a:r>
                      <a:endParaRPr lang="en-US" sz="1050" dirty="0">
                        <a:latin typeface="Arial" charset="0"/>
                        <a:ea typeface="Arial" charset="0"/>
                        <a:cs typeface="Arial"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algn="ctr" indent="0" marL="0">
                        <a:buNone/>
                      </a:pPr>
                      <a:r>
                        <a:rPr lang="en-US" sz="1050" dirty="0">
                          <a:solidFill>
                            <a:srgbClr val="000000"/>
                          </a:solidFill>
                          <a:latin typeface="Arial" pitchFamily="34" charset="0"/>
                          <a:ea typeface="Arial" pitchFamily="34" charset="-122"/>
                          <a:cs typeface="Arial" pitchFamily="34" charset="-120"/>
                        </a:rPr>
                        <a:t>2.4%</a:t>
                      </a:r>
                      <a:endParaRPr lang="en-US" sz="1050" dirty="0">
                        <a:latin typeface="Arial" charset="0"/>
                        <a:ea typeface="Arial" charset="0"/>
                        <a:cs typeface="Arial"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algn="ctr" indent="0" marL="0">
                        <a:buNone/>
                      </a:pPr>
                      <a:r>
                        <a:rPr lang="en-US" sz="1050" dirty="0">
                          <a:solidFill>
                            <a:srgbClr val="000000"/>
                          </a:solidFill>
                          <a:latin typeface="Arial" pitchFamily="34" charset="0"/>
                          <a:ea typeface="Arial" pitchFamily="34" charset="-122"/>
                          <a:cs typeface="Arial" pitchFamily="34" charset="-120"/>
                        </a:rPr>
                        <a:t>100.0%</a:t>
                      </a:r>
                      <a:endParaRPr lang="en-US" sz="1050" dirty="0">
                        <a:latin typeface="Arial" charset="0"/>
                        <a:ea typeface="Arial" charset="0"/>
                        <a:cs typeface="Arial"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r>
              <a:tr h="219456">
                <a:tc>
                  <a:txBody>
                    <a:bodyPr/>
                    <a:lstStyle/>
                    <a:p>
                      <a:pPr indent="0" marL="0">
                        <a:buNone/>
                      </a:pPr>
                      <a:r>
                        <a:rPr lang="en-US" sz="1050" dirty="0">
                          <a:solidFill>
                            <a:srgbClr val="000000"/>
                          </a:solidFill>
                          <a:latin typeface="Arial" pitchFamily="34" charset="0"/>
                          <a:ea typeface="Arial" pitchFamily="34" charset="-122"/>
                          <a:cs typeface="Arial" pitchFamily="34" charset="-120"/>
                        </a:rPr>
                        <a:t>EMEA</a:t>
                      </a:r>
                      <a:endParaRPr lang="en-US" sz="1050" dirty="0">
                        <a:latin typeface="Arial" charset="0"/>
                        <a:ea typeface="Arial" charset="0"/>
                        <a:cs typeface="Arial"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algn="ctr" indent="0" marL="0">
                        <a:buNone/>
                      </a:pPr>
                      <a:r>
                        <a:rPr lang="en-US" sz="1050" dirty="0">
                          <a:solidFill>
                            <a:srgbClr val="000000"/>
                          </a:solidFill>
                          <a:latin typeface="Arial" pitchFamily="34" charset="0"/>
                          <a:ea typeface="Arial" pitchFamily="34" charset="-122"/>
                          <a:cs typeface="Arial" pitchFamily="34" charset="-120"/>
                        </a:rPr>
                        <a:t>99.8%</a:t>
                      </a:r>
                      <a:endParaRPr lang="en-US" sz="1050" dirty="0">
                        <a:latin typeface="Arial" charset="0"/>
                        <a:ea typeface="Arial" charset="0"/>
                        <a:cs typeface="Arial"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algn="ctr" indent="0" marL="0">
                        <a:buNone/>
                      </a:pPr>
                      <a:r>
                        <a:rPr lang="en-US" sz="1050" dirty="0">
                          <a:solidFill>
                            <a:srgbClr val="000000"/>
                          </a:solidFill>
                          <a:latin typeface="Arial" pitchFamily="34" charset="0"/>
                          <a:ea typeface="Arial" pitchFamily="34" charset="-122"/>
                          <a:cs typeface="Arial" pitchFamily="34" charset="-120"/>
                        </a:rPr>
                        <a:t>0.2%</a:t>
                      </a:r>
                      <a:endParaRPr lang="en-US" sz="1050" dirty="0">
                        <a:latin typeface="Arial" charset="0"/>
                        <a:ea typeface="Arial" charset="0"/>
                        <a:cs typeface="Arial"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algn="ctr" indent="0" marL="0">
                        <a:buNone/>
                      </a:pPr>
                      <a:r>
                        <a:rPr lang="en-US" sz="1050" dirty="0">
                          <a:solidFill>
                            <a:srgbClr val="000000"/>
                          </a:solidFill>
                          <a:latin typeface="Arial" pitchFamily="34" charset="0"/>
                          <a:ea typeface="Arial" pitchFamily="34" charset="-122"/>
                          <a:cs typeface="Arial" pitchFamily="34" charset="-120"/>
                        </a:rPr>
                        <a:t>100.0%</a:t>
                      </a:r>
                      <a:endParaRPr lang="en-US" sz="1050" dirty="0">
                        <a:latin typeface="Arial" charset="0"/>
                        <a:ea typeface="Arial" charset="0"/>
                        <a:cs typeface="Arial"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r>
              <a:tr h="219456">
                <a:tc>
                  <a:txBody>
                    <a:bodyPr/>
                    <a:lstStyle/>
                    <a:p>
                      <a:pPr indent="0" marL="0">
                        <a:buNone/>
                      </a:pPr>
                      <a:r>
                        <a:rPr lang="en-US" sz="1050" b="1" dirty="0">
                          <a:solidFill>
                            <a:srgbClr val="000000"/>
                          </a:solidFill>
                          <a:latin typeface="Arial" pitchFamily="34" charset="0"/>
                          <a:ea typeface="Arial" pitchFamily="34" charset="-122"/>
                          <a:cs typeface="Arial" pitchFamily="34" charset="-120"/>
                        </a:rPr>
                        <a:t>Grand Total</a:t>
                      </a:r>
                      <a:endParaRPr lang="en-US" sz="1050" dirty="0">
                        <a:latin typeface="Arial" charset="0"/>
                        <a:ea typeface="Arial" charset="0"/>
                        <a:cs typeface="Arial"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50" b="1" dirty="0">
                          <a:solidFill>
                            <a:srgbClr val="000000"/>
                          </a:solidFill>
                          <a:latin typeface="Arial" pitchFamily="34" charset="0"/>
                          <a:ea typeface="Arial" pitchFamily="34" charset="-122"/>
                          <a:cs typeface="Arial" pitchFamily="34" charset="-120"/>
                        </a:rPr>
                        <a:t>95.0%</a:t>
                      </a:r>
                      <a:endParaRPr lang="en-US" sz="1050" dirty="0">
                        <a:latin typeface="Arial" charset="0"/>
                        <a:ea typeface="Arial" charset="0"/>
                        <a:cs typeface="Arial"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50" b="1" dirty="0">
                          <a:solidFill>
                            <a:srgbClr val="000000"/>
                          </a:solidFill>
                          <a:latin typeface="Arial" pitchFamily="34" charset="0"/>
                          <a:ea typeface="Arial" pitchFamily="34" charset="-122"/>
                          <a:cs typeface="Arial" pitchFamily="34" charset="-120"/>
                        </a:rPr>
                        <a:t>5.0%</a:t>
                      </a:r>
                      <a:endParaRPr lang="en-US" sz="1050" dirty="0">
                        <a:latin typeface="Arial" charset="0"/>
                        <a:ea typeface="Arial" charset="0"/>
                        <a:cs typeface="Arial"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50" b="1" dirty="0">
                          <a:solidFill>
                            <a:srgbClr val="000000"/>
                          </a:solidFill>
                          <a:latin typeface="Arial" pitchFamily="34" charset="0"/>
                          <a:ea typeface="Arial" pitchFamily="34" charset="-122"/>
                          <a:cs typeface="Arial" pitchFamily="34" charset="-120"/>
                        </a:rPr>
                        <a:t>100.0%</a:t>
                      </a:r>
                      <a:endParaRPr lang="en-US" sz="1050" dirty="0">
                        <a:latin typeface="Arial" charset="0"/>
                        <a:ea typeface="Arial" charset="0"/>
                        <a:cs typeface="Arial"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r>
            </a:tbl>
          </a:graphicData>
        </a:graphic>
      </p:graphicFrame>
      <p:sp>
        <p:nvSpPr>
          <p:cNvPr id="8" name="Text 4"/>
          <p:cNvSpPr/>
          <p:nvPr/>
        </p:nvSpPr>
        <p:spPr>
          <a:xfrm>
            <a:off x="457200" y="3931920"/>
            <a:ext cx="7315200" cy="256032"/>
          </a:xfrm>
          <a:prstGeom prst="rect">
            <a:avLst/>
          </a:prstGeom>
          <a:noFill/>
          <a:ln/>
        </p:spPr>
        <p:txBody>
          <a:bodyPr wrap="square" lIns="0" tIns="0" rIns="0" bIns="0" rtlCol="0" anchor="ctr"/>
          <a:lstStyle/>
          <a:p>
            <a:pPr indent="0" marL="0">
              <a:buNone/>
            </a:pPr>
            <a:r>
              <a:rPr lang="en-US" sz="1100" b="1" i="1" dirty="0">
                <a:solidFill>
                  <a:srgbClr val="404040"/>
                </a:solidFill>
                <a:latin typeface="Arial" pitchFamily="34" charset="0"/>
                <a:ea typeface="Arial" pitchFamily="34" charset="-122"/>
                <a:cs typeface="Arial" pitchFamily="34" charset="-120"/>
              </a:rPr>
              <a:t>COUNTA of Territory</a:t>
            </a:r>
            <a:endParaRPr lang="en-US" sz="1100" dirty="0"/>
          </a:p>
        </p:txBody>
      </p:sp>
      <p:graphicFrame>
        <p:nvGraphicFramePr>
          <p:cNvPr id="34" name="Table 2"/>
          <p:cNvGraphicFramePr>
            <a:graphicFrameLocks noGrp="1"/>
          </p:cNvGraphicFramePr>
          <p:nvPr>
            <p:extLst>
              <p:ext uri="{D42A27DB-BD31-4B8C-83A1-F6EECF244321}">
                <p14:modId xmlns:p14="http://schemas.microsoft.com/office/powerpoint/2010/main" val="1579011935"/>
              </p:ext>
            </p:extLst>
          </p:nvPr>
        </p:nvGraphicFramePr>
        <p:xfrm>
          <a:off x="457200" y="4206240"/>
          <a:ext cx="5943600" cy="914400"/>
        </p:xfrm>
        <a:graphic>
          <a:graphicData uri="http://schemas.openxmlformats.org/drawingml/2006/table">
            <a:tbl>
              <a:tblPr/>
              <a:tblGrid>
                <a:gridCol w="1554480"/>
                <a:gridCol w="1554480"/>
                <a:gridCol w="1463040"/>
                <a:gridCol w="1371600"/>
              </a:tblGrid>
              <a:tr h="219456">
                <a:tc>
                  <a:txBody>
                    <a:bodyPr/>
                    <a:lstStyle/>
                    <a:p>
                      <a:pPr algn="l" indent="0" marL="0">
                        <a:buNone/>
                      </a:pPr>
                      <a:r>
                        <a:rPr lang="en-US" sz="1050" b="1" dirty="0">
                          <a:solidFill>
                            <a:srgbClr val="000000"/>
                          </a:solidFill>
                          <a:latin typeface="Arial" pitchFamily="34" charset="0"/>
                          <a:ea typeface="Arial" pitchFamily="34" charset="-122"/>
                          <a:cs typeface="Arial" pitchFamily="34" charset="-120"/>
                        </a:rPr>
                        <a:t>Region</a:t>
                      </a:r>
                      <a:endParaRPr lang="en-US" sz="1050" dirty="0">
                        <a:latin typeface="Arial" charset="0"/>
                        <a:ea typeface="Arial" charset="0"/>
                        <a:cs typeface="Arial"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D9D9D9"/>
                    </a:solidFill>
                  </a:tcPr>
                </a:tc>
                <a:tc>
                  <a:txBody>
                    <a:bodyPr/>
                    <a:lstStyle/>
                    <a:p>
                      <a:pPr algn="ctr" indent="0" marL="0">
                        <a:buNone/>
                      </a:pPr>
                      <a:r>
                        <a:rPr lang="en-US" sz="1050" b="1" dirty="0">
                          <a:solidFill>
                            <a:srgbClr val="000000"/>
                          </a:solidFill>
                          <a:latin typeface="Arial" pitchFamily="34" charset="0"/>
                          <a:ea typeface="Arial" pitchFamily="34" charset="-122"/>
                          <a:cs typeface="Arial" pitchFamily="34" charset="-120"/>
                        </a:rPr>
                        <a:t>Disrupted</a:t>
                      </a:r>
                      <a:endParaRPr lang="en-US" sz="1050" dirty="0">
                        <a:latin typeface="Arial" charset="0"/>
                        <a:ea typeface="Arial" charset="0"/>
                        <a:cs typeface="Arial"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D9D9D9"/>
                    </a:solidFill>
                  </a:tcPr>
                </a:tc>
                <a:tc>
                  <a:txBody>
                    <a:bodyPr/>
                    <a:lstStyle/>
                    <a:p>
                      <a:pPr algn="ctr" indent="0" marL="0">
                        <a:buNone/>
                      </a:pPr>
                      <a:r>
                        <a:rPr lang="en-US" sz="1050" b="1" dirty="0">
                          <a:solidFill>
                            <a:srgbClr val="000000"/>
                          </a:solidFill>
                          <a:latin typeface="Arial" pitchFamily="34" charset="0"/>
                          <a:ea typeface="Arial" pitchFamily="34" charset="-122"/>
                          <a:cs typeface="Arial" pitchFamily="34" charset="-120"/>
                        </a:rPr>
                        <a:t>Unchanged</a:t>
                      </a:r>
                      <a:endParaRPr lang="en-US" sz="1050" dirty="0">
                        <a:latin typeface="Arial" charset="0"/>
                        <a:ea typeface="Arial" charset="0"/>
                        <a:cs typeface="Arial"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D9D9D9"/>
                    </a:solidFill>
                  </a:tcPr>
                </a:tc>
                <a:tc>
                  <a:txBody>
                    <a:bodyPr/>
                    <a:lstStyle/>
                    <a:p>
                      <a:pPr algn="ctr" indent="0" marL="0">
                        <a:buNone/>
                      </a:pPr>
                      <a:r>
                        <a:rPr lang="en-US" sz="1050" b="1" dirty="0">
                          <a:solidFill>
                            <a:srgbClr val="000000"/>
                          </a:solidFill>
                          <a:latin typeface="Arial" pitchFamily="34" charset="0"/>
                          <a:ea typeface="Arial" pitchFamily="34" charset="-122"/>
                          <a:cs typeface="Arial" pitchFamily="34" charset="-120"/>
                        </a:rPr>
                        <a:t>Grand Total</a:t>
                      </a:r>
                      <a:endParaRPr lang="en-US" sz="1050" dirty="0">
                        <a:latin typeface="Arial" charset="0"/>
                        <a:ea typeface="Arial" charset="0"/>
                        <a:cs typeface="Arial"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D9D9D9"/>
                    </a:solidFill>
                  </a:tcPr>
                </a:tc>
              </a:tr>
              <a:tr h="219456">
                <a:tc>
                  <a:txBody>
                    <a:bodyPr/>
                    <a:lstStyle/>
                    <a:p>
                      <a:pPr indent="0" marL="0">
                        <a:buNone/>
                      </a:pPr>
                      <a:r>
                        <a:rPr lang="en-US" sz="1050" dirty="0">
                          <a:solidFill>
                            <a:srgbClr val="000000"/>
                          </a:solidFill>
                          <a:latin typeface="Arial" pitchFamily="34" charset="0"/>
                          <a:ea typeface="Arial" pitchFamily="34" charset="-122"/>
                          <a:cs typeface="Arial" pitchFamily="34" charset="-120"/>
                        </a:rPr>
                        <a:t>AMER</a:t>
                      </a:r>
                      <a:endParaRPr lang="en-US" sz="1050" dirty="0">
                        <a:latin typeface="Arial" charset="0"/>
                        <a:ea typeface="Arial" charset="0"/>
                        <a:cs typeface="Arial"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algn="ctr" indent="0" marL="0">
                        <a:buNone/>
                      </a:pPr>
                      <a:r>
                        <a:rPr lang="en-US" sz="1050" dirty="0">
                          <a:solidFill>
                            <a:srgbClr val="000000"/>
                          </a:solidFill>
                          <a:latin typeface="Arial" pitchFamily="34" charset="0"/>
                          <a:ea typeface="Arial" pitchFamily="34" charset="-122"/>
                          <a:cs typeface="Arial" pitchFamily="34" charset="-120"/>
                        </a:rPr>
                        <a:t>51</a:t>
                      </a:r>
                      <a:endParaRPr lang="en-US" sz="1050" dirty="0">
                        <a:latin typeface="Arial" charset="0"/>
                        <a:ea typeface="Arial" charset="0"/>
                        <a:cs typeface="Arial"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algn="ctr" indent="0" marL="0">
                        <a:buNone/>
                      </a:pPr>
                      <a:r>
                        <a:rPr lang="en-US" sz="1050" dirty="0">
                          <a:solidFill>
                            <a:srgbClr val="000000"/>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algn="ctr" indent="0" marL="0">
                        <a:buNone/>
                      </a:pPr>
                      <a:r>
                        <a:rPr lang="en-US" sz="1050" dirty="0">
                          <a:solidFill>
                            <a:srgbClr val="000000"/>
                          </a:solidFill>
                          <a:latin typeface="Arial" pitchFamily="34" charset="0"/>
                          <a:ea typeface="Arial" pitchFamily="34" charset="-122"/>
                          <a:cs typeface="Arial" pitchFamily="34" charset="-120"/>
                        </a:rPr>
                        <a:t>54</a:t>
                      </a:r>
                      <a:endParaRPr lang="en-US" sz="1050" dirty="0">
                        <a:latin typeface="Arial" charset="0"/>
                        <a:ea typeface="Arial" charset="0"/>
                        <a:cs typeface="Arial"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r>
              <a:tr h="219456">
                <a:tc>
                  <a:txBody>
                    <a:bodyPr/>
                    <a:lstStyle/>
                    <a:p>
                      <a:pPr indent="0" marL="0">
                        <a:buNone/>
                      </a:pPr>
                      <a:r>
                        <a:rPr lang="en-US" sz="1050" dirty="0">
                          <a:solidFill>
                            <a:srgbClr val="000000"/>
                          </a:solidFill>
                          <a:latin typeface="Arial" pitchFamily="34" charset="0"/>
                          <a:ea typeface="Arial" pitchFamily="34" charset="-122"/>
                          <a:cs typeface="Arial" pitchFamily="34" charset="-120"/>
                        </a:rPr>
                        <a:t>APAC</a:t>
                      </a:r>
                      <a:endParaRPr lang="en-US" sz="1050" dirty="0">
                        <a:latin typeface="Arial" charset="0"/>
                        <a:ea typeface="Arial" charset="0"/>
                        <a:cs typeface="Arial"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algn="ctr" indent="0" marL="0">
                        <a:buNone/>
                      </a:pPr>
                      <a:r>
                        <a:rPr lang="en-US" sz="1050" dirty="0">
                          <a:solidFill>
                            <a:srgbClr val="000000"/>
                          </a:solidFill>
                          <a:latin typeface="Arial" pitchFamily="34" charset="0"/>
                          <a:ea typeface="Arial" pitchFamily="34" charset="-122"/>
                          <a:cs typeface="Arial" pitchFamily="34" charset="-120"/>
                        </a:rPr>
                        <a:t>12</a:t>
                      </a:r>
                      <a:endParaRPr lang="en-US" sz="1050" dirty="0">
                        <a:latin typeface="Arial" charset="0"/>
                        <a:ea typeface="Arial" charset="0"/>
                        <a:cs typeface="Arial"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algn="ctr" indent="0" marL="0">
                        <a:buNone/>
                      </a:pPr>
                      <a:r>
                        <a:rPr lang="en-US" sz="1050" dirty="0">
                          <a:solidFill>
                            <a:srgbClr val="000000"/>
                          </a:solidFill>
                          <a:latin typeface="Arial" pitchFamily="34" charset="0"/>
                          <a:ea typeface="Arial" pitchFamily="34" charset="-122"/>
                          <a:cs typeface="Arial" pitchFamily="34" charset="-120"/>
                        </a:rPr>
                        <a:t>1</a:t>
                      </a:r>
                      <a:endParaRPr lang="en-US" sz="1050" dirty="0">
                        <a:latin typeface="Arial" charset="0"/>
                        <a:ea typeface="Arial" charset="0"/>
                        <a:cs typeface="Arial"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algn="ctr" indent="0" marL="0">
                        <a:buNone/>
                      </a:pPr>
                      <a:r>
                        <a:rPr lang="en-US" sz="1050" dirty="0">
                          <a:solidFill>
                            <a:srgbClr val="000000"/>
                          </a:solidFill>
                          <a:latin typeface="Arial" pitchFamily="34" charset="0"/>
                          <a:ea typeface="Arial" pitchFamily="34" charset="-122"/>
                          <a:cs typeface="Arial" pitchFamily="34" charset="-120"/>
                        </a:rPr>
                        <a:t>13</a:t>
                      </a:r>
                      <a:endParaRPr lang="en-US" sz="1050" dirty="0">
                        <a:latin typeface="Arial" charset="0"/>
                        <a:ea typeface="Arial" charset="0"/>
                        <a:cs typeface="Arial"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r>
              <a:tr h="219456">
                <a:tc>
                  <a:txBody>
                    <a:bodyPr/>
                    <a:lstStyle/>
                    <a:p>
                      <a:pPr indent="0" marL="0">
                        <a:buNone/>
                      </a:pPr>
                      <a:r>
                        <a:rPr lang="en-US" sz="1050" dirty="0">
                          <a:solidFill>
                            <a:srgbClr val="000000"/>
                          </a:solidFill>
                          <a:latin typeface="Arial" pitchFamily="34" charset="0"/>
                          <a:ea typeface="Arial" pitchFamily="34" charset="-122"/>
                          <a:cs typeface="Arial" pitchFamily="34" charset="-120"/>
                        </a:rPr>
                        <a:t>EMEA</a:t>
                      </a:r>
                      <a:endParaRPr lang="en-US" sz="1050" dirty="0">
                        <a:latin typeface="Arial" charset="0"/>
                        <a:ea typeface="Arial" charset="0"/>
                        <a:cs typeface="Arial"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algn="ctr" indent="0" marL="0">
                        <a:buNone/>
                      </a:pPr>
                      <a:r>
                        <a:rPr lang="en-US" sz="1050" dirty="0">
                          <a:solidFill>
                            <a:srgbClr val="000000"/>
                          </a:solidFill>
                          <a:latin typeface="Arial" pitchFamily="34" charset="0"/>
                          <a:ea typeface="Arial" pitchFamily="34" charset="-122"/>
                          <a:cs typeface="Arial" pitchFamily="34" charset="-120"/>
                        </a:rPr>
                        <a:t>44</a:t>
                      </a:r>
                      <a:endParaRPr lang="en-US" sz="1050" dirty="0">
                        <a:latin typeface="Arial" charset="0"/>
                        <a:ea typeface="Arial" charset="0"/>
                        <a:cs typeface="Arial"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algn="ctr" indent="0" marL="0">
                        <a:buNone/>
                      </a:pPr>
                      <a:r>
                        <a:rPr lang="en-US" sz="1050" dirty="0">
                          <a:solidFill>
                            <a:srgbClr val="000000"/>
                          </a:solidFill>
                          <a:latin typeface="Arial" pitchFamily="34" charset="0"/>
                          <a:ea typeface="Arial" pitchFamily="34" charset="-122"/>
                          <a:cs typeface="Arial" pitchFamily="34" charset="-120"/>
                        </a:rPr>
                        <a:t>1</a:t>
                      </a:r>
                      <a:endParaRPr lang="en-US" sz="1050" dirty="0">
                        <a:latin typeface="Arial" charset="0"/>
                        <a:ea typeface="Arial" charset="0"/>
                        <a:cs typeface="Arial"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algn="ctr" indent="0" marL="0">
                        <a:buNone/>
                      </a:pPr>
                      <a:r>
                        <a:rPr lang="en-US" sz="1050" dirty="0">
                          <a:solidFill>
                            <a:srgbClr val="000000"/>
                          </a:solidFill>
                          <a:latin typeface="Arial" pitchFamily="34" charset="0"/>
                          <a:ea typeface="Arial" pitchFamily="34" charset="-122"/>
                          <a:cs typeface="Arial" pitchFamily="34" charset="-120"/>
                        </a:rPr>
                        <a:t>45</a:t>
                      </a:r>
                      <a:endParaRPr lang="en-US" sz="1050" dirty="0">
                        <a:latin typeface="Arial" charset="0"/>
                        <a:ea typeface="Arial" charset="0"/>
                        <a:cs typeface="Arial"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r>
              <a:tr h="219456">
                <a:tc>
                  <a:txBody>
                    <a:bodyPr/>
                    <a:lstStyle/>
                    <a:p>
                      <a:pPr indent="0" marL="0">
                        <a:buNone/>
                      </a:pPr>
                      <a:r>
                        <a:rPr lang="en-US" sz="1050" b="1" dirty="0">
                          <a:solidFill>
                            <a:srgbClr val="000000"/>
                          </a:solidFill>
                          <a:latin typeface="Arial" pitchFamily="34" charset="0"/>
                          <a:ea typeface="Arial" pitchFamily="34" charset="-122"/>
                          <a:cs typeface="Arial" pitchFamily="34" charset="-120"/>
                        </a:rPr>
                        <a:t>Grand Total</a:t>
                      </a:r>
                      <a:endParaRPr lang="en-US" sz="1050" dirty="0">
                        <a:latin typeface="Arial" charset="0"/>
                        <a:ea typeface="Arial" charset="0"/>
                        <a:cs typeface="Arial"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50" b="1" dirty="0">
                          <a:solidFill>
                            <a:srgbClr val="000000"/>
                          </a:solidFill>
                          <a:latin typeface="Arial" pitchFamily="34" charset="0"/>
                          <a:ea typeface="Arial" pitchFamily="34" charset="-122"/>
                          <a:cs typeface="Arial" pitchFamily="34" charset="-120"/>
                        </a:rPr>
                        <a:t>107</a:t>
                      </a:r>
                      <a:endParaRPr lang="en-US" sz="1050" dirty="0">
                        <a:latin typeface="Arial" charset="0"/>
                        <a:ea typeface="Arial" charset="0"/>
                        <a:cs typeface="Arial"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50" b="1" dirty="0">
                          <a:solidFill>
                            <a:srgbClr val="000000"/>
                          </a:solidFill>
                          <a:latin typeface="Arial" pitchFamily="34" charset="0"/>
                          <a:ea typeface="Arial" pitchFamily="34" charset="-122"/>
                          <a:cs typeface="Arial" pitchFamily="34" charset="-120"/>
                        </a:rPr>
                        <a:t>5</a:t>
                      </a:r>
                      <a:endParaRPr lang="en-US" sz="1050" dirty="0">
                        <a:latin typeface="Arial" charset="0"/>
                        <a:ea typeface="Arial" charset="0"/>
                        <a:cs typeface="Arial"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50" b="1" dirty="0">
                          <a:solidFill>
                            <a:srgbClr val="000000"/>
                          </a:solidFill>
                          <a:latin typeface="Arial" pitchFamily="34" charset="0"/>
                          <a:ea typeface="Arial" pitchFamily="34" charset="-122"/>
                          <a:cs typeface="Arial" pitchFamily="34" charset="-120"/>
                        </a:rPr>
                        <a:t>112</a:t>
                      </a:r>
                      <a:endParaRPr lang="en-US" sz="1050" dirty="0">
                        <a:latin typeface="Arial" charset="0"/>
                        <a:ea typeface="Arial" charset="0"/>
                        <a:cs typeface="Arial"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r>
            </a:tbl>
          </a:graphicData>
        </a:graphic>
      </p:graphicFrame>
      <p:sp>
        <p:nvSpPr>
          <p:cNvPr id="10" name="Text 5"/>
          <p:cNvSpPr/>
          <p:nvPr/>
        </p:nvSpPr>
        <p:spPr>
          <a:xfrm>
            <a:off x="457200" y="5349240"/>
            <a:ext cx="7315200" cy="256032"/>
          </a:xfrm>
          <a:prstGeom prst="rect">
            <a:avLst/>
          </a:prstGeom>
          <a:noFill/>
          <a:ln/>
        </p:spPr>
        <p:txBody>
          <a:bodyPr wrap="square" lIns="0" tIns="0" rIns="0" bIns="0" rtlCol="0" anchor="ctr"/>
          <a:lstStyle/>
          <a:p>
            <a:pPr indent="0" marL="0">
              <a:buNone/>
            </a:pPr>
            <a:r>
              <a:rPr lang="en-US" sz="1100" b="1" i="1" dirty="0">
                <a:solidFill>
                  <a:srgbClr val="404040"/>
                </a:solidFill>
                <a:latin typeface="Arial" pitchFamily="34" charset="0"/>
                <a:ea typeface="Arial" pitchFamily="34" charset="-122"/>
                <a:cs typeface="Arial" pitchFamily="34" charset="-120"/>
              </a:rPr>
              <a:t>SUM of ARR Impact (%, alt. cut)</a:t>
            </a:r>
            <a:endParaRPr lang="en-US" sz="1100" dirty="0"/>
          </a:p>
        </p:txBody>
      </p:sp>
      <p:graphicFrame>
        <p:nvGraphicFramePr>
          <p:cNvPr id="45" name="Table 3"/>
          <p:cNvGraphicFramePr>
            <a:graphicFrameLocks noGrp="1"/>
          </p:cNvGraphicFramePr>
          <p:nvPr>
            <p:extLst>
              <p:ext uri="{D42A27DB-BD31-4B8C-83A1-F6EECF244321}">
                <p14:modId xmlns:p14="http://schemas.microsoft.com/office/powerpoint/2010/main" val="1579011935"/>
              </p:ext>
            </p:extLst>
          </p:nvPr>
        </p:nvGraphicFramePr>
        <p:xfrm>
          <a:off x="457200" y="5623560"/>
          <a:ext cx="5943600" cy="914400"/>
        </p:xfrm>
        <a:graphic>
          <a:graphicData uri="http://schemas.openxmlformats.org/drawingml/2006/table">
            <a:tbl>
              <a:tblPr/>
              <a:tblGrid>
                <a:gridCol w="1554480"/>
                <a:gridCol w="1554480"/>
                <a:gridCol w="1463040"/>
                <a:gridCol w="1371600"/>
              </a:tblGrid>
              <a:tr h="219456">
                <a:tc>
                  <a:txBody>
                    <a:bodyPr/>
                    <a:lstStyle/>
                    <a:p>
                      <a:pPr algn="l" indent="0" marL="0">
                        <a:buNone/>
                      </a:pPr>
                      <a:r>
                        <a:rPr lang="en-US" sz="1050" b="1" dirty="0">
                          <a:solidFill>
                            <a:srgbClr val="000000"/>
                          </a:solidFill>
                          <a:latin typeface="Arial" pitchFamily="34" charset="0"/>
                          <a:ea typeface="Arial" pitchFamily="34" charset="-122"/>
                          <a:cs typeface="Arial" pitchFamily="34" charset="-120"/>
                        </a:rPr>
                        <a:t>Region</a:t>
                      </a:r>
                      <a:endParaRPr lang="en-US" sz="1050" dirty="0">
                        <a:latin typeface="Arial" charset="0"/>
                        <a:ea typeface="Arial" charset="0"/>
                        <a:cs typeface="Arial"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D9D9D9"/>
                    </a:solidFill>
                  </a:tcPr>
                </a:tc>
                <a:tc>
                  <a:txBody>
                    <a:bodyPr/>
                    <a:lstStyle/>
                    <a:p>
                      <a:pPr algn="ctr" indent="0" marL="0">
                        <a:buNone/>
                      </a:pPr>
                      <a:r>
                        <a:rPr lang="en-US" sz="1050" b="1" dirty="0">
                          <a:solidFill>
                            <a:srgbClr val="000000"/>
                          </a:solidFill>
                          <a:latin typeface="Arial" pitchFamily="34" charset="0"/>
                          <a:ea typeface="Arial" pitchFamily="34" charset="-122"/>
                          <a:cs typeface="Arial" pitchFamily="34" charset="-120"/>
                        </a:rPr>
                        <a:t>Disrupted</a:t>
                      </a:r>
                      <a:endParaRPr lang="en-US" sz="1050" dirty="0">
                        <a:latin typeface="Arial" charset="0"/>
                        <a:ea typeface="Arial" charset="0"/>
                        <a:cs typeface="Arial"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D9D9D9"/>
                    </a:solidFill>
                  </a:tcPr>
                </a:tc>
                <a:tc>
                  <a:txBody>
                    <a:bodyPr/>
                    <a:lstStyle/>
                    <a:p>
                      <a:pPr algn="ctr" indent="0" marL="0">
                        <a:buNone/>
                      </a:pPr>
                      <a:r>
                        <a:rPr lang="en-US" sz="1050" b="1" dirty="0">
                          <a:solidFill>
                            <a:srgbClr val="000000"/>
                          </a:solidFill>
                          <a:latin typeface="Arial" pitchFamily="34" charset="0"/>
                          <a:ea typeface="Arial" pitchFamily="34" charset="-122"/>
                          <a:cs typeface="Arial" pitchFamily="34" charset="-120"/>
                        </a:rPr>
                        <a:t>Unchanged</a:t>
                      </a:r>
                      <a:endParaRPr lang="en-US" sz="1050" dirty="0">
                        <a:latin typeface="Arial" charset="0"/>
                        <a:ea typeface="Arial" charset="0"/>
                        <a:cs typeface="Arial"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D9D9D9"/>
                    </a:solidFill>
                  </a:tcPr>
                </a:tc>
                <a:tc>
                  <a:txBody>
                    <a:bodyPr/>
                    <a:lstStyle/>
                    <a:p>
                      <a:pPr algn="ctr" indent="0" marL="0">
                        <a:buNone/>
                      </a:pPr>
                      <a:r>
                        <a:rPr lang="en-US" sz="1050" b="1" dirty="0">
                          <a:solidFill>
                            <a:srgbClr val="000000"/>
                          </a:solidFill>
                          <a:latin typeface="Arial" pitchFamily="34" charset="0"/>
                          <a:ea typeface="Arial" pitchFamily="34" charset="-122"/>
                          <a:cs typeface="Arial" pitchFamily="34" charset="-120"/>
                        </a:rPr>
                        <a:t>Grand Total</a:t>
                      </a:r>
                      <a:endParaRPr lang="en-US" sz="1050" dirty="0">
                        <a:latin typeface="Arial" charset="0"/>
                        <a:ea typeface="Arial" charset="0"/>
                        <a:cs typeface="Arial"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D9D9D9"/>
                    </a:solidFill>
                  </a:tcPr>
                </a:tc>
              </a:tr>
              <a:tr h="219456">
                <a:tc>
                  <a:txBody>
                    <a:bodyPr/>
                    <a:lstStyle/>
                    <a:p>
                      <a:pPr indent="0" marL="0">
                        <a:buNone/>
                      </a:pPr>
                      <a:r>
                        <a:rPr lang="en-US" sz="1050" dirty="0">
                          <a:solidFill>
                            <a:srgbClr val="000000"/>
                          </a:solidFill>
                          <a:latin typeface="Arial" pitchFamily="34" charset="0"/>
                          <a:ea typeface="Arial" pitchFamily="34" charset="-122"/>
                          <a:cs typeface="Arial" pitchFamily="34" charset="-120"/>
                        </a:rPr>
                        <a:t>AMER</a:t>
                      </a:r>
                      <a:endParaRPr lang="en-US" sz="1050" dirty="0">
                        <a:latin typeface="Arial" charset="0"/>
                        <a:ea typeface="Arial" charset="0"/>
                        <a:cs typeface="Arial"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algn="ctr" indent="0" marL="0">
                        <a:buNone/>
                      </a:pPr>
                      <a:r>
                        <a:rPr lang="en-US" sz="1050" dirty="0">
                          <a:solidFill>
                            <a:srgbClr val="000000"/>
                          </a:solidFill>
                          <a:latin typeface="Arial" pitchFamily="34" charset="0"/>
                          <a:ea typeface="Arial" pitchFamily="34" charset="-122"/>
                          <a:cs typeface="Arial" pitchFamily="34" charset="-120"/>
                        </a:rPr>
                        <a:t>94.4%</a:t>
                      </a:r>
                      <a:endParaRPr lang="en-US" sz="1050" dirty="0">
                        <a:latin typeface="Arial" charset="0"/>
                        <a:ea typeface="Arial" charset="0"/>
                        <a:cs typeface="Arial"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algn="ctr" indent="0" marL="0">
                        <a:buNone/>
                      </a:pPr>
                      <a:r>
                        <a:rPr lang="en-US" sz="1050" dirty="0">
                          <a:solidFill>
                            <a:srgbClr val="000000"/>
                          </a:solidFill>
                          <a:latin typeface="Arial" pitchFamily="34" charset="0"/>
                          <a:ea typeface="Arial" pitchFamily="34" charset="-122"/>
                          <a:cs typeface="Arial" pitchFamily="34" charset="-120"/>
                        </a:rPr>
                        <a:t>5.6%</a:t>
                      </a:r>
                      <a:endParaRPr lang="en-US" sz="1050" dirty="0">
                        <a:latin typeface="Arial" charset="0"/>
                        <a:ea typeface="Arial" charset="0"/>
                        <a:cs typeface="Arial"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algn="ctr" indent="0" marL="0">
                        <a:buNone/>
                      </a:pPr>
                      <a:r>
                        <a:rPr lang="en-US" sz="1050" dirty="0">
                          <a:solidFill>
                            <a:srgbClr val="000000"/>
                          </a:solidFill>
                          <a:latin typeface="Arial" pitchFamily="34" charset="0"/>
                          <a:ea typeface="Arial" pitchFamily="34" charset="-122"/>
                          <a:cs typeface="Arial" pitchFamily="34" charset="-120"/>
                        </a:rPr>
                        <a:t>100.0%</a:t>
                      </a:r>
                      <a:endParaRPr lang="en-US" sz="1050" dirty="0">
                        <a:latin typeface="Arial" charset="0"/>
                        <a:ea typeface="Arial" charset="0"/>
                        <a:cs typeface="Arial"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r>
              <a:tr h="219456">
                <a:tc>
                  <a:txBody>
                    <a:bodyPr/>
                    <a:lstStyle/>
                    <a:p>
                      <a:pPr indent="0" marL="0">
                        <a:buNone/>
                      </a:pPr>
                      <a:r>
                        <a:rPr lang="en-US" sz="1050" dirty="0">
                          <a:solidFill>
                            <a:srgbClr val="000000"/>
                          </a:solidFill>
                          <a:latin typeface="Arial" pitchFamily="34" charset="0"/>
                          <a:ea typeface="Arial" pitchFamily="34" charset="-122"/>
                          <a:cs typeface="Arial" pitchFamily="34" charset="-120"/>
                        </a:rPr>
                        <a:t>APAC</a:t>
                      </a:r>
                      <a:endParaRPr lang="en-US" sz="1050" dirty="0">
                        <a:latin typeface="Arial" charset="0"/>
                        <a:ea typeface="Arial" charset="0"/>
                        <a:cs typeface="Arial"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algn="ctr" indent="0" marL="0">
                        <a:buNone/>
                      </a:pPr>
                      <a:r>
                        <a:rPr lang="en-US" sz="1050" dirty="0">
                          <a:solidFill>
                            <a:srgbClr val="000000"/>
                          </a:solidFill>
                          <a:latin typeface="Arial" pitchFamily="34" charset="0"/>
                          <a:ea typeface="Arial" pitchFamily="34" charset="-122"/>
                          <a:cs typeface="Arial" pitchFamily="34" charset="-120"/>
                        </a:rPr>
                        <a:t>92.3%</a:t>
                      </a:r>
                      <a:endParaRPr lang="en-US" sz="1050" dirty="0">
                        <a:latin typeface="Arial" charset="0"/>
                        <a:ea typeface="Arial" charset="0"/>
                        <a:cs typeface="Arial"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algn="ctr" indent="0" marL="0">
                        <a:buNone/>
                      </a:pPr>
                      <a:r>
                        <a:rPr lang="en-US" sz="1050" dirty="0">
                          <a:solidFill>
                            <a:srgbClr val="000000"/>
                          </a:solidFill>
                          <a:latin typeface="Arial" pitchFamily="34" charset="0"/>
                          <a:ea typeface="Arial" pitchFamily="34" charset="-122"/>
                          <a:cs typeface="Arial" pitchFamily="34" charset="-120"/>
                        </a:rPr>
                        <a:t>7.7%</a:t>
                      </a:r>
                      <a:endParaRPr lang="en-US" sz="1050" dirty="0">
                        <a:latin typeface="Arial" charset="0"/>
                        <a:ea typeface="Arial" charset="0"/>
                        <a:cs typeface="Arial"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algn="ctr" indent="0" marL="0">
                        <a:buNone/>
                      </a:pPr>
                      <a:r>
                        <a:rPr lang="en-US" sz="1050" dirty="0">
                          <a:solidFill>
                            <a:srgbClr val="000000"/>
                          </a:solidFill>
                          <a:latin typeface="Arial" pitchFamily="34" charset="0"/>
                          <a:ea typeface="Arial" pitchFamily="34" charset="-122"/>
                          <a:cs typeface="Arial" pitchFamily="34" charset="-120"/>
                        </a:rPr>
                        <a:t>100.0%</a:t>
                      </a:r>
                      <a:endParaRPr lang="en-US" sz="1050" dirty="0">
                        <a:latin typeface="Arial" charset="0"/>
                        <a:ea typeface="Arial" charset="0"/>
                        <a:cs typeface="Arial"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r>
              <a:tr h="219456">
                <a:tc>
                  <a:txBody>
                    <a:bodyPr/>
                    <a:lstStyle/>
                    <a:p>
                      <a:pPr indent="0" marL="0">
                        <a:buNone/>
                      </a:pPr>
                      <a:r>
                        <a:rPr lang="en-US" sz="1050" dirty="0">
                          <a:solidFill>
                            <a:srgbClr val="000000"/>
                          </a:solidFill>
                          <a:latin typeface="Arial" pitchFamily="34" charset="0"/>
                          <a:ea typeface="Arial" pitchFamily="34" charset="-122"/>
                          <a:cs typeface="Arial" pitchFamily="34" charset="-120"/>
                        </a:rPr>
                        <a:t>EMEA</a:t>
                      </a:r>
                      <a:endParaRPr lang="en-US" sz="1050" dirty="0">
                        <a:latin typeface="Arial" charset="0"/>
                        <a:ea typeface="Arial" charset="0"/>
                        <a:cs typeface="Arial"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algn="ctr" indent="0" marL="0">
                        <a:buNone/>
                      </a:pPr>
                      <a:r>
                        <a:rPr lang="en-US" sz="1050" dirty="0">
                          <a:solidFill>
                            <a:srgbClr val="000000"/>
                          </a:solidFill>
                          <a:latin typeface="Arial" pitchFamily="34" charset="0"/>
                          <a:ea typeface="Arial" pitchFamily="34" charset="-122"/>
                          <a:cs typeface="Arial" pitchFamily="34" charset="-120"/>
                        </a:rPr>
                        <a:t>97.8%</a:t>
                      </a:r>
                      <a:endParaRPr lang="en-US" sz="1050" dirty="0">
                        <a:latin typeface="Arial" charset="0"/>
                        <a:ea typeface="Arial" charset="0"/>
                        <a:cs typeface="Arial"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algn="ctr" indent="0" marL="0">
                        <a:buNone/>
                      </a:pPr>
                      <a:r>
                        <a:rPr lang="en-US" sz="1050" dirty="0">
                          <a:solidFill>
                            <a:srgbClr val="000000"/>
                          </a:solidFill>
                          <a:latin typeface="Arial" pitchFamily="34" charset="0"/>
                          <a:ea typeface="Arial" pitchFamily="34" charset="-122"/>
                          <a:cs typeface="Arial" pitchFamily="34" charset="-120"/>
                        </a:rPr>
                        <a:t>2.2%</a:t>
                      </a:r>
                      <a:endParaRPr lang="en-US" sz="1050" dirty="0">
                        <a:latin typeface="Arial" charset="0"/>
                        <a:ea typeface="Arial" charset="0"/>
                        <a:cs typeface="Arial"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algn="ctr" indent="0" marL="0">
                        <a:buNone/>
                      </a:pPr>
                      <a:r>
                        <a:rPr lang="en-US" sz="1050" dirty="0">
                          <a:solidFill>
                            <a:srgbClr val="000000"/>
                          </a:solidFill>
                          <a:latin typeface="Arial" pitchFamily="34" charset="0"/>
                          <a:ea typeface="Arial" pitchFamily="34" charset="-122"/>
                          <a:cs typeface="Arial" pitchFamily="34" charset="-120"/>
                        </a:rPr>
                        <a:t>100.0%</a:t>
                      </a:r>
                      <a:endParaRPr lang="en-US" sz="1050" dirty="0">
                        <a:latin typeface="Arial" charset="0"/>
                        <a:ea typeface="Arial" charset="0"/>
                        <a:cs typeface="Arial"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r>
              <a:tr h="219456">
                <a:tc>
                  <a:txBody>
                    <a:bodyPr/>
                    <a:lstStyle/>
                    <a:p>
                      <a:pPr indent="0" marL="0">
                        <a:buNone/>
                      </a:pPr>
                      <a:r>
                        <a:rPr lang="en-US" sz="1050" b="1" dirty="0">
                          <a:solidFill>
                            <a:srgbClr val="000000"/>
                          </a:solidFill>
                          <a:latin typeface="Arial" pitchFamily="34" charset="0"/>
                          <a:ea typeface="Arial" pitchFamily="34" charset="-122"/>
                          <a:cs typeface="Arial" pitchFamily="34" charset="-120"/>
                        </a:rPr>
                        <a:t>Grand Total</a:t>
                      </a:r>
                      <a:endParaRPr lang="en-US" sz="1050" dirty="0">
                        <a:latin typeface="Arial" charset="0"/>
                        <a:ea typeface="Arial" charset="0"/>
                        <a:cs typeface="Arial"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50" b="1" dirty="0">
                          <a:solidFill>
                            <a:srgbClr val="000000"/>
                          </a:solidFill>
                          <a:latin typeface="Arial" pitchFamily="34" charset="0"/>
                          <a:ea typeface="Arial" pitchFamily="34" charset="-122"/>
                          <a:cs typeface="Arial" pitchFamily="34" charset="-120"/>
                        </a:rPr>
                        <a:t>95.5%</a:t>
                      </a:r>
                      <a:endParaRPr lang="en-US" sz="1050" dirty="0">
                        <a:latin typeface="Arial" charset="0"/>
                        <a:ea typeface="Arial" charset="0"/>
                        <a:cs typeface="Arial"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50" b="1" dirty="0">
                          <a:solidFill>
                            <a:srgbClr val="000000"/>
                          </a:solidFill>
                          <a:latin typeface="Arial" pitchFamily="34" charset="0"/>
                          <a:ea typeface="Arial" pitchFamily="34" charset="-122"/>
                          <a:cs typeface="Arial" pitchFamily="34" charset="-120"/>
                        </a:rPr>
                        <a:t>4.5%</a:t>
                      </a:r>
                      <a:endParaRPr lang="en-US" sz="1050" dirty="0">
                        <a:latin typeface="Arial" charset="0"/>
                        <a:ea typeface="Arial" charset="0"/>
                        <a:cs typeface="Arial"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50" b="1" dirty="0">
                          <a:solidFill>
                            <a:srgbClr val="000000"/>
                          </a:solidFill>
                          <a:latin typeface="Arial" pitchFamily="34" charset="0"/>
                          <a:ea typeface="Arial" pitchFamily="34" charset="-122"/>
                          <a:cs typeface="Arial" pitchFamily="34" charset="-120"/>
                        </a:rPr>
                        <a:t>100.0%</a:t>
                      </a:r>
                      <a:endParaRPr lang="en-US" sz="1050" dirty="0">
                        <a:latin typeface="Arial" charset="0"/>
                        <a:ea typeface="Arial" charset="0"/>
                        <a:cs typeface="Arial" charset="0"/>
                      </a:endParaRPr>
                    </a:p>
                  </a:txBody>
                  <a:tcPr marL="91440" marR="91440" marT="45720" marB="4572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r>
            </a:tbl>
          </a:graphicData>
        </a:graphic>
      </p:graphicFrame>
      <p:sp>
        <p:nvSpPr>
          <p:cNvPr id="12" name="Text 6"/>
          <p:cNvSpPr/>
          <p:nvPr/>
        </p:nvSpPr>
        <p:spPr>
          <a:xfrm>
            <a:off x="11551615" y="6446520"/>
            <a:ext cx="365760" cy="274320"/>
          </a:xfrm>
          <a:prstGeom prst="rect">
            <a:avLst/>
          </a:prstGeom>
          <a:noFill/>
          <a:ln/>
        </p:spPr>
        <p:txBody>
          <a:bodyPr wrap="square" lIns="0" tIns="0" rIns="0" bIns="0" rtlCol="0" anchor="ctr"/>
          <a:lstStyle/>
          <a:p>
            <a:pPr algn="r" indent="0" marL="0">
              <a:buNone/>
            </a:pPr>
            <a:r>
              <a:rPr lang="en-US" sz="1000" dirty="0">
                <a:solidFill>
                  <a:srgbClr val="7F7F7F"/>
                </a:solidFill>
                <a:latin typeface="Arial" pitchFamily="34" charset="0"/>
                <a:ea typeface="Arial" pitchFamily="34" charset="-122"/>
                <a:cs typeface="Arial"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404040"/>
        </a:solidFill>
      </p:bgPr>
    </p:bg>
    <p:spTree>
      <p:nvGrpSpPr>
        <p:cNvPr id="1" name=""/>
        <p:cNvGrpSpPr/>
        <p:nvPr/>
      </p:nvGrpSpPr>
      <p:grpSpPr>
        <a:xfrm>
          <a:off x="0" y="0"/>
          <a:ext cx="0" cy="0"/>
          <a:chOff x="0" y="0"/>
          <a:chExt cx="0" cy="0"/>
        </a:xfrm>
      </p:grpSpPr>
      <p:sp>
        <p:nvSpPr>
          <p:cNvPr id="2" name="Text 0"/>
          <p:cNvSpPr/>
          <p:nvPr/>
        </p:nvSpPr>
        <p:spPr>
          <a:xfrm>
            <a:off x="822960" y="2468880"/>
            <a:ext cx="5486400" cy="457200"/>
          </a:xfrm>
          <a:prstGeom prst="rect">
            <a:avLst/>
          </a:prstGeom>
          <a:noFill/>
          <a:ln/>
        </p:spPr>
        <p:txBody>
          <a:bodyPr wrap="square" lIns="0" tIns="0" rIns="0" bIns="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ACME Corp</a:t>
            </a:r>
            <a:endParaRPr lang="en-US" sz="1600" dirty="0"/>
          </a:p>
        </p:txBody>
      </p:sp>
      <p:sp>
        <p:nvSpPr>
          <p:cNvPr id="3" name="Text 1"/>
          <p:cNvSpPr/>
          <p:nvPr/>
        </p:nvSpPr>
        <p:spPr>
          <a:xfrm>
            <a:off x="822960" y="3017520"/>
            <a:ext cx="7315200" cy="822960"/>
          </a:xfrm>
          <a:prstGeom prst="rect">
            <a:avLst/>
          </a:prstGeom>
          <a:noFill/>
          <a:ln/>
        </p:spPr>
        <p:txBody>
          <a:bodyPr wrap="square" lIns="0" tIns="0" rIns="0" bIns="0" rtlCol="0" anchor="ctr"/>
          <a:lstStyle/>
          <a:p>
            <a:pPr algn="l" indent="0" marL="0">
              <a:buNone/>
            </a:pPr>
            <a:r>
              <a:rPr lang="en-US" sz="3400" b="1" dirty="0">
                <a:solidFill>
                  <a:srgbClr val="ED7D31"/>
                </a:solidFill>
                <a:latin typeface="Arial" pitchFamily="34" charset="0"/>
                <a:ea typeface="Arial" pitchFamily="34" charset="-122"/>
                <a:cs typeface="Arial" pitchFamily="34" charset="-120"/>
              </a:rPr>
              <a:t>Question 4</a:t>
            </a:r>
            <a:endParaRPr lang="en-US" sz="3400" dirty="0"/>
          </a:p>
        </p:txBody>
      </p:sp>
      <p:sp>
        <p:nvSpPr>
          <p:cNvPr id="4" name="Text 2"/>
          <p:cNvSpPr/>
          <p:nvPr/>
        </p:nvSpPr>
        <p:spPr>
          <a:xfrm>
            <a:off x="11551615" y="6446520"/>
            <a:ext cx="365760" cy="274320"/>
          </a:xfrm>
          <a:prstGeom prst="rect">
            <a:avLst/>
          </a:prstGeom>
          <a:noFill/>
          <a:ln/>
        </p:spPr>
        <p:txBody>
          <a:bodyPr wrap="square" lIns="0" tIns="0" rIns="0" bIns="0" rtlCol="0" anchor="ctr"/>
          <a:lstStyle/>
          <a:p>
            <a:pPr algn="r" indent="0" marL="0">
              <a:buNone/>
            </a:pPr>
            <a:r>
              <a:rPr lang="en-US" sz="1000" dirty="0">
                <a:solidFill>
                  <a:srgbClr val="7F7F7F"/>
                </a:solidFill>
                <a:latin typeface="Arial" pitchFamily="34" charset="0"/>
                <a:ea typeface="Arial" pitchFamily="34" charset="-122"/>
                <a:cs typeface="Arial"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FFFFFF"/>
          </a:solidFill>
          <a:ln w="19050">
            <a:solidFill>
              <a:srgbClr val="D9D9D9"/>
            </a:solidFill>
            <a:prstDash val="solid"/>
          </a:ln>
        </p:spPr>
      </p:sp>
      <p:sp>
        <p:nvSpPr>
          <p:cNvPr id="3" name="Text 1"/>
          <p:cNvSpPr/>
          <p:nvPr/>
        </p:nvSpPr>
        <p:spPr>
          <a:xfrm>
            <a:off x="457200" y="201168"/>
            <a:ext cx="11277295" cy="59436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Impacts of Disruption</a:t>
            </a:r>
            <a:endParaRPr lang="en-US" sz="2400" dirty="0"/>
          </a:p>
        </p:txBody>
      </p:sp>
      <p:sp>
        <p:nvSpPr>
          <p:cNvPr id="4" name="Shape 2"/>
          <p:cNvSpPr/>
          <p:nvPr/>
        </p:nvSpPr>
        <p:spPr>
          <a:xfrm>
            <a:off x="457200" y="1143000"/>
            <a:ext cx="5440680" cy="411480"/>
          </a:xfrm>
          <a:prstGeom prst="rect">
            <a:avLst/>
          </a:prstGeom>
          <a:solidFill>
            <a:srgbClr val="D9D9D9"/>
          </a:solidFill>
          <a:ln w="12700">
            <a:solidFill>
              <a:srgbClr val="333333"/>
            </a:solidFill>
            <a:prstDash val="solid"/>
          </a:ln>
        </p:spPr>
      </p:sp>
      <p:sp>
        <p:nvSpPr>
          <p:cNvPr id="5" name="Text 3"/>
          <p:cNvSpPr/>
          <p:nvPr/>
        </p:nvSpPr>
        <p:spPr>
          <a:xfrm>
            <a:off x="457200" y="1143000"/>
            <a:ext cx="5440680" cy="411480"/>
          </a:xfrm>
          <a:prstGeom prst="rect">
            <a:avLst/>
          </a:prstGeom>
          <a:noFill/>
          <a:ln/>
        </p:spPr>
        <p:txBody>
          <a:bodyPr wrap="square" lIns="0" tIns="0" rIns="0" bIns="0" rtlCol="0" anchor="ctr"/>
          <a:lstStyle/>
          <a:p>
            <a:pPr algn="ctr" indent="0" marL="0">
              <a:buNone/>
            </a:pPr>
            <a:r>
              <a:rPr lang="en-US" sz="1300" b="1" dirty="0">
                <a:solidFill>
                  <a:srgbClr val="000000"/>
                </a:solidFill>
                <a:latin typeface="Arial" pitchFamily="34" charset="0"/>
                <a:ea typeface="Arial" pitchFamily="34" charset="-122"/>
                <a:cs typeface="Arial" pitchFamily="34" charset="-120"/>
              </a:rPr>
              <a:t>What changes would you expect?</a:t>
            </a:r>
            <a:endParaRPr lang="en-US" sz="1300" dirty="0"/>
          </a:p>
        </p:txBody>
      </p:sp>
      <p:sp>
        <p:nvSpPr>
          <p:cNvPr id="6" name="Shape 4"/>
          <p:cNvSpPr/>
          <p:nvPr/>
        </p:nvSpPr>
        <p:spPr>
          <a:xfrm>
            <a:off x="6263640" y="1143000"/>
            <a:ext cx="5486400" cy="411480"/>
          </a:xfrm>
          <a:prstGeom prst="rect">
            <a:avLst/>
          </a:prstGeom>
          <a:solidFill>
            <a:srgbClr val="D9D9D9"/>
          </a:solidFill>
          <a:ln w="12700">
            <a:solidFill>
              <a:srgbClr val="333333"/>
            </a:solidFill>
            <a:prstDash val="solid"/>
          </a:ln>
        </p:spPr>
      </p:sp>
      <p:sp>
        <p:nvSpPr>
          <p:cNvPr id="7" name="Text 5"/>
          <p:cNvSpPr/>
          <p:nvPr/>
        </p:nvSpPr>
        <p:spPr>
          <a:xfrm>
            <a:off x="6263640" y="1143000"/>
            <a:ext cx="5486400" cy="411480"/>
          </a:xfrm>
          <a:prstGeom prst="rect">
            <a:avLst/>
          </a:prstGeom>
          <a:noFill/>
          <a:ln/>
        </p:spPr>
        <p:txBody>
          <a:bodyPr wrap="square" lIns="0" tIns="0" rIns="0" bIns="0" rtlCol="0" anchor="ctr"/>
          <a:lstStyle/>
          <a:p>
            <a:pPr algn="ctr" indent="0" marL="0">
              <a:buNone/>
            </a:pPr>
            <a:r>
              <a:rPr lang="en-US" sz="1200" b="1" dirty="0">
                <a:solidFill>
                  <a:srgbClr val="000000"/>
                </a:solidFill>
                <a:latin typeface="Arial" pitchFamily="34" charset="0"/>
                <a:ea typeface="Arial" pitchFamily="34" charset="-122"/>
                <a:cs typeface="Arial" pitchFamily="34" charset="-120"/>
              </a:rPr>
              <a:t>How would you determine if the new territories were or were not successful?</a:t>
            </a:r>
            <a:endParaRPr lang="en-US" sz="1200" dirty="0"/>
          </a:p>
        </p:txBody>
      </p:sp>
      <p:sp>
        <p:nvSpPr>
          <p:cNvPr id="8" name="Text 6"/>
          <p:cNvSpPr/>
          <p:nvPr/>
        </p:nvSpPr>
        <p:spPr>
          <a:xfrm>
            <a:off x="457200" y="1691640"/>
            <a:ext cx="5440680" cy="4846320"/>
          </a:xfrm>
          <a:prstGeom prst="rect">
            <a:avLst/>
          </a:prstGeom>
          <a:noFill/>
          <a:ln/>
        </p:spPr>
        <p:txBody>
          <a:bodyPr wrap="square" lIns="0" tIns="0" rIns="0" bIns="0" rtlCol="0" anchor="t"/>
          <a:lstStyle/>
          <a:p>
            <a:pPr algn="l" marL="228600" indent="-228600">
              <a:spcAft>
                <a:spcPts val="1200"/>
              </a:spcAft>
              <a:buSzPct val="100000"/>
              <a:buChar char="•"/>
            </a:pPr>
            <a:r>
              <a:rPr lang="en-US" sz="1050" dirty="0">
                <a:solidFill>
                  <a:srgbClr val="404040"/>
                </a:solidFill>
                <a:latin typeface="Arial" pitchFamily="34" charset="0"/>
                <a:ea typeface="Arial" pitchFamily="34" charset="-122"/>
                <a:cs typeface="Arial" pitchFamily="34" charset="-120"/>
              </a:rPr>
              <a:t>More equitable territories will bring a higher average attainment per SAL. While ARR may not increase in unrealistic ways, I would expect more SALs to hit their annual quota attainment</a:t>
            </a:r>
            <a:endParaRPr lang="en-US" sz="1050" dirty="0"/>
          </a:p>
          <a:p>
            <a:pPr algn="l" marL="228600" indent="-228600">
              <a:spcAft>
                <a:spcPts val="1200"/>
              </a:spcAft>
              <a:buSzPct val="100000"/>
              <a:buChar char="•"/>
            </a:pPr>
            <a:r>
              <a:rPr lang="en-US" sz="1050" dirty="0">
                <a:solidFill>
                  <a:srgbClr val="404040"/>
                </a:solidFill>
                <a:latin typeface="Arial" pitchFamily="34" charset="0"/>
                <a:ea typeface="Arial" pitchFamily="34" charset="-122"/>
                <a:cs typeface="Arial" pitchFamily="34" charset="-120"/>
              </a:rPr>
              <a:t>More equitable territories will encourage SALs to collaborate as their opportunities are more similar (in size and quality initially)</a:t>
            </a:r>
            <a:endParaRPr lang="en-US" sz="1050" dirty="0"/>
          </a:p>
          <a:p>
            <a:pPr algn="l" marL="228600" indent="-228600">
              <a:spcAft>
                <a:spcPts val="1200"/>
              </a:spcAft>
              <a:buSzPct val="100000"/>
              <a:buChar char="•"/>
            </a:pPr>
            <a:r>
              <a:rPr lang="en-US" sz="1050" dirty="0">
                <a:solidFill>
                  <a:srgbClr val="404040"/>
                </a:solidFill>
                <a:latin typeface="Arial" pitchFamily="34" charset="0"/>
                <a:ea typeface="Arial" pitchFamily="34" charset="-122"/>
                <a:cs typeface="Arial" pitchFamily="34" charset="-120"/>
              </a:rPr>
              <a:t>High rates of disruption will slow down pipegen in the short term (Q1 after rollout) which may impact H1, dependent on the average deal size/conversion rate/deal cycle length</a:t>
            </a:r>
            <a:endParaRPr lang="en-US" sz="1050" dirty="0"/>
          </a:p>
          <a:p>
            <a:pPr algn="l" marL="228600" indent="-228600">
              <a:spcAft>
                <a:spcPts val="1200"/>
              </a:spcAft>
              <a:buSzPct val="100000"/>
              <a:buChar char="•"/>
            </a:pPr>
            <a:r>
              <a:rPr lang="en-US" sz="1050" dirty="0">
                <a:solidFill>
                  <a:srgbClr val="404040"/>
                </a:solidFill>
                <a:latin typeface="Arial" pitchFamily="34" charset="0"/>
                <a:ea typeface="Arial" pitchFamily="34" charset="-122"/>
                <a:cs typeface="Arial" pitchFamily="34" charset="-120"/>
              </a:rPr>
              <a:t>High rates of disruption will dent morale for higher performers with successful territories. Expect some seller attrition without proper communication, measurement and Sales Leader coaching</a:t>
            </a:r>
            <a:endParaRPr lang="en-US" sz="1050" dirty="0"/>
          </a:p>
          <a:p>
            <a:pPr algn="l" marL="228600" indent="-228600">
              <a:spcAft>
                <a:spcPts val="1200"/>
              </a:spcAft>
              <a:buSzPct val="100000"/>
              <a:buChar char="•"/>
            </a:pPr>
            <a:r>
              <a:rPr lang="en-US" sz="1050" dirty="0">
                <a:solidFill>
                  <a:srgbClr val="404040"/>
                </a:solidFill>
                <a:latin typeface="Arial" pitchFamily="34" charset="0"/>
                <a:ea typeface="Arial" pitchFamily="34" charset="-122"/>
                <a:cs typeface="Arial" pitchFamily="34" charset="-120"/>
              </a:rPr>
              <a:t>High rates of disruption may impact Q1 opportunities that had been built up through Q3/Q4 of the previous FY as negotiations and deal close becomes more complex with a change in SAL</a:t>
            </a:r>
            <a:endParaRPr lang="en-US" sz="1050" dirty="0"/>
          </a:p>
          <a:p>
            <a:pPr algn="l" marL="228600" indent="-228600">
              <a:spcAft>
                <a:spcPts val="1200"/>
              </a:spcAft>
              <a:buSzPct val="100000"/>
              <a:buChar char="•"/>
            </a:pPr>
            <a:r>
              <a:rPr lang="en-US" sz="1050" dirty="0">
                <a:solidFill>
                  <a:srgbClr val="404040"/>
                </a:solidFill>
                <a:latin typeface="Arial" pitchFamily="34" charset="0"/>
                <a:ea typeface="Arial" pitchFamily="34" charset="-122"/>
                <a:cs typeface="Arial" pitchFamily="34" charset="-120"/>
              </a:rPr>
              <a:t>For the Regional Sales Leader, I would expect to need to spend time with Partners and Customer Success to ensure changes are well communicated</a:t>
            </a:r>
            <a:endParaRPr lang="en-US" sz="1050" dirty="0"/>
          </a:p>
        </p:txBody>
      </p:sp>
      <p:sp>
        <p:nvSpPr>
          <p:cNvPr id="9" name="Text 7"/>
          <p:cNvSpPr/>
          <p:nvPr/>
        </p:nvSpPr>
        <p:spPr>
          <a:xfrm>
            <a:off x="6263640" y="1691640"/>
            <a:ext cx="5486400" cy="4846320"/>
          </a:xfrm>
          <a:prstGeom prst="rect">
            <a:avLst/>
          </a:prstGeom>
          <a:noFill/>
          <a:ln/>
        </p:spPr>
        <p:txBody>
          <a:bodyPr wrap="square" lIns="0" tIns="0" rIns="0" bIns="0" rtlCol="0" anchor="t"/>
          <a:lstStyle/>
          <a:p>
            <a:pPr algn="l" marL="228600" indent="-228600">
              <a:spcAft>
                <a:spcPts val="1200"/>
              </a:spcAft>
              <a:buSzPct val="100000"/>
              <a:buChar char="•"/>
            </a:pPr>
            <a:r>
              <a:rPr lang="en-US" sz="1050" dirty="0">
                <a:solidFill>
                  <a:srgbClr val="404040"/>
                </a:solidFill>
                <a:latin typeface="Arial" pitchFamily="34" charset="0"/>
                <a:ea typeface="Arial" pitchFamily="34" charset="-122"/>
                <a:cs typeface="Arial" pitchFamily="34" charset="-120"/>
              </a:rPr>
              <a:t>Long Term - Increase in number of successful SAL quota attainment FY23 vs FY24</a:t>
            </a:r>
            <a:endParaRPr lang="en-US" sz="1050" dirty="0"/>
          </a:p>
          <a:p>
            <a:pPr algn="l" marL="228600" indent="-228600">
              <a:spcAft>
                <a:spcPts val="1200"/>
              </a:spcAft>
              <a:buSzPct val="100000"/>
              <a:buChar char="•"/>
            </a:pPr>
            <a:r>
              <a:rPr lang="en-US" sz="1050" dirty="0">
                <a:solidFill>
                  <a:srgbClr val="404040"/>
                </a:solidFill>
                <a:latin typeface="Arial" pitchFamily="34" charset="0"/>
                <a:ea typeface="Arial" pitchFamily="34" charset="-122"/>
                <a:cs typeface="Arial" pitchFamily="34" charset="-120"/>
              </a:rPr>
              <a:t>Long Term - Increase in cARR YoY (overall and by Sales Leader &amp; SAL)</a:t>
            </a:r>
            <a:endParaRPr lang="en-US" sz="1050" dirty="0"/>
          </a:p>
          <a:p>
            <a:pPr algn="l" marL="228600" indent="-228600">
              <a:spcAft>
                <a:spcPts val="1200"/>
              </a:spcAft>
              <a:buSzPct val="100000"/>
              <a:buChar char="•"/>
            </a:pPr>
            <a:r>
              <a:rPr lang="en-US" sz="1050" dirty="0">
                <a:solidFill>
                  <a:srgbClr val="404040"/>
                </a:solidFill>
                <a:latin typeface="Arial" pitchFamily="34" charset="0"/>
                <a:ea typeface="Arial" pitchFamily="34" charset="-122"/>
                <a:cs typeface="Arial" pitchFamily="34" charset="-120"/>
              </a:rPr>
              <a:t>Long Term - Pareto analysis of SALs becoming more equal (moving away from something that would show 20% of SALs contributing 80% of cARR growth YoY)</a:t>
            </a:r>
            <a:endParaRPr lang="en-US" sz="1050" dirty="0"/>
          </a:p>
          <a:p>
            <a:pPr algn="l" marL="228600" indent="-228600">
              <a:spcAft>
                <a:spcPts val="1200"/>
              </a:spcAft>
              <a:buSzPct val="100000"/>
              <a:buChar char="•"/>
            </a:pPr>
            <a:r>
              <a:rPr lang="en-US" sz="1050" dirty="0">
                <a:solidFill>
                  <a:srgbClr val="404040"/>
                </a:solidFill>
                <a:latin typeface="Arial" pitchFamily="34" charset="0"/>
                <a:ea typeface="Arial" pitchFamily="34" charset="-122"/>
                <a:cs typeface="Arial" pitchFamily="34" charset="-120"/>
              </a:rPr>
              <a:t>Long Term - Account Penetration and average deal size growth per territory (compare those accounts that have moved vs those that remained stable)</a:t>
            </a:r>
            <a:endParaRPr lang="en-US" sz="1050" dirty="0"/>
          </a:p>
          <a:p>
            <a:pPr algn="l" marL="228600" indent="-228600">
              <a:spcAft>
                <a:spcPts val="1200"/>
              </a:spcAft>
              <a:buSzPct val="100000"/>
              <a:buChar char="•"/>
            </a:pPr>
            <a:r>
              <a:rPr lang="en-US" sz="1050" dirty="0">
                <a:solidFill>
                  <a:srgbClr val="404040"/>
                </a:solidFill>
                <a:latin typeface="Arial" pitchFamily="34" charset="0"/>
                <a:ea typeface="Arial" pitchFamily="34" charset="-122"/>
                <a:cs typeface="Arial" pitchFamily="34" charset="-120"/>
              </a:rPr>
              <a:t>Medium Term - Analysis of account cARR growth - were the accounts moved showing higher than average cARR growth than those that stayed with the same SAL</a:t>
            </a:r>
            <a:endParaRPr lang="en-US" sz="1050" dirty="0"/>
          </a:p>
          <a:p>
            <a:pPr algn="l" marL="228600" indent="-228600">
              <a:spcAft>
                <a:spcPts val="1200"/>
              </a:spcAft>
              <a:buSzPct val="100000"/>
              <a:buChar char="•"/>
            </a:pPr>
            <a:r>
              <a:rPr lang="en-US" sz="1050" dirty="0">
                <a:solidFill>
                  <a:srgbClr val="404040"/>
                </a:solidFill>
                <a:latin typeface="Arial" pitchFamily="34" charset="0"/>
                <a:ea typeface="Arial" pitchFamily="34" charset="-122"/>
                <a:cs typeface="Arial" pitchFamily="34" charset="-120"/>
              </a:rPr>
              <a:t>Short Term - Improvements in PipeGen and conversion rates, specifically in this case with prospects</a:t>
            </a:r>
            <a:endParaRPr lang="en-US" sz="1050" dirty="0"/>
          </a:p>
          <a:p>
            <a:pPr algn="l" marL="228600" indent="-228600">
              <a:spcAft>
                <a:spcPts val="1200"/>
              </a:spcAft>
              <a:buSzPct val="100000"/>
              <a:buChar char="•"/>
            </a:pPr>
            <a:r>
              <a:rPr lang="en-US" sz="1050" dirty="0">
                <a:solidFill>
                  <a:srgbClr val="404040"/>
                </a:solidFill>
                <a:latin typeface="Arial" pitchFamily="34" charset="0"/>
                <a:ea typeface="Arial" pitchFamily="34" charset="-122"/>
                <a:cs typeface="Arial" pitchFamily="34" charset="-120"/>
              </a:rPr>
              <a:t>Ongoing - Feedback from Sales Leaders, Customer &amp; Partners</a:t>
            </a:r>
            <a:endParaRPr lang="en-US" sz="1050" dirty="0"/>
          </a:p>
        </p:txBody>
      </p:sp>
      <p:sp>
        <p:nvSpPr>
          <p:cNvPr id="10" name="Text 8"/>
          <p:cNvSpPr/>
          <p:nvPr/>
        </p:nvSpPr>
        <p:spPr>
          <a:xfrm>
            <a:off x="11551615" y="6446520"/>
            <a:ext cx="365760" cy="274320"/>
          </a:xfrm>
          <a:prstGeom prst="rect">
            <a:avLst/>
          </a:prstGeom>
          <a:noFill/>
          <a:ln/>
        </p:spPr>
        <p:txBody>
          <a:bodyPr wrap="square" lIns="0" tIns="0" rIns="0" bIns="0" rtlCol="0" anchor="ctr"/>
          <a:lstStyle/>
          <a:p>
            <a:pPr algn="r" indent="0" marL="0">
              <a:buNone/>
            </a:pPr>
            <a:r>
              <a:rPr lang="en-US" sz="1000" dirty="0">
                <a:solidFill>
                  <a:srgbClr val="7F7F7F"/>
                </a:solidFill>
                <a:latin typeface="Arial" pitchFamily="34" charset="0"/>
                <a:ea typeface="Arial" pitchFamily="34" charset="-122"/>
                <a:cs typeface="Arial"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404040"/>
        </a:solidFill>
      </p:bgPr>
    </p:bg>
    <p:spTree>
      <p:nvGrpSpPr>
        <p:cNvPr id="1" name=""/>
        <p:cNvGrpSpPr/>
        <p:nvPr/>
      </p:nvGrpSpPr>
      <p:grpSpPr>
        <a:xfrm>
          <a:off x="0" y="0"/>
          <a:ext cx="0" cy="0"/>
          <a:chOff x="0" y="0"/>
          <a:chExt cx="0" cy="0"/>
        </a:xfrm>
      </p:grpSpPr>
      <p:sp>
        <p:nvSpPr>
          <p:cNvPr id="2" name="Text 0"/>
          <p:cNvSpPr/>
          <p:nvPr/>
        </p:nvSpPr>
        <p:spPr>
          <a:xfrm>
            <a:off x="822960" y="2468880"/>
            <a:ext cx="5486400" cy="457200"/>
          </a:xfrm>
          <a:prstGeom prst="rect">
            <a:avLst/>
          </a:prstGeom>
          <a:noFill/>
          <a:ln/>
        </p:spPr>
        <p:txBody>
          <a:bodyPr wrap="square" lIns="0" tIns="0" rIns="0" bIns="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ACME Corp</a:t>
            </a:r>
            <a:endParaRPr lang="en-US" sz="1600" dirty="0"/>
          </a:p>
        </p:txBody>
      </p:sp>
      <p:sp>
        <p:nvSpPr>
          <p:cNvPr id="3" name="Text 1"/>
          <p:cNvSpPr/>
          <p:nvPr/>
        </p:nvSpPr>
        <p:spPr>
          <a:xfrm>
            <a:off x="822960" y="3017520"/>
            <a:ext cx="7315200" cy="822960"/>
          </a:xfrm>
          <a:prstGeom prst="rect">
            <a:avLst/>
          </a:prstGeom>
          <a:noFill/>
          <a:ln/>
        </p:spPr>
        <p:txBody>
          <a:bodyPr wrap="square" lIns="0" tIns="0" rIns="0" bIns="0" rtlCol="0" anchor="ctr"/>
          <a:lstStyle/>
          <a:p>
            <a:pPr algn="l" indent="0" marL="0">
              <a:buNone/>
            </a:pPr>
            <a:r>
              <a:rPr lang="en-US" sz="3400" b="1" dirty="0">
                <a:solidFill>
                  <a:srgbClr val="ED7D31"/>
                </a:solidFill>
                <a:latin typeface="Arial" pitchFamily="34" charset="0"/>
                <a:ea typeface="Arial" pitchFamily="34" charset="-122"/>
                <a:cs typeface="Arial" pitchFamily="34" charset="-120"/>
              </a:rPr>
              <a:t>Question 5</a:t>
            </a:r>
            <a:endParaRPr lang="en-US" sz="3400" dirty="0"/>
          </a:p>
        </p:txBody>
      </p:sp>
      <p:sp>
        <p:nvSpPr>
          <p:cNvPr id="4" name="Text 2"/>
          <p:cNvSpPr/>
          <p:nvPr/>
        </p:nvSpPr>
        <p:spPr>
          <a:xfrm>
            <a:off x="11551615" y="6446520"/>
            <a:ext cx="365760" cy="274320"/>
          </a:xfrm>
          <a:prstGeom prst="rect">
            <a:avLst/>
          </a:prstGeom>
          <a:noFill/>
          <a:ln/>
        </p:spPr>
        <p:txBody>
          <a:bodyPr wrap="square" lIns="0" tIns="0" rIns="0" bIns="0" rtlCol="0" anchor="ctr"/>
          <a:lstStyle/>
          <a:p>
            <a:pPr algn="r" indent="0" marL="0">
              <a:buNone/>
            </a:pPr>
            <a:r>
              <a:rPr lang="en-US" sz="1000" dirty="0">
                <a:solidFill>
                  <a:srgbClr val="7F7F7F"/>
                </a:solidFill>
                <a:latin typeface="Arial" pitchFamily="34" charset="0"/>
                <a:ea typeface="Arial" pitchFamily="34" charset="-122"/>
                <a:cs typeface="Arial"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FFFFFF"/>
          </a:solidFill>
          <a:ln w="19050">
            <a:solidFill>
              <a:srgbClr val="D9D9D9"/>
            </a:solidFill>
            <a:prstDash val="solid"/>
          </a:ln>
        </p:spPr>
      </p:sp>
      <p:sp>
        <p:nvSpPr>
          <p:cNvPr id="3" name="Text 1"/>
          <p:cNvSpPr/>
          <p:nvPr/>
        </p:nvSpPr>
        <p:spPr>
          <a:xfrm>
            <a:off x="457200" y="201168"/>
            <a:ext cx="11277295" cy="59436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What additional information would have been useful?</a:t>
            </a:r>
            <a:endParaRPr lang="en-US" sz="2400" dirty="0"/>
          </a:p>
        </p:txBody>
      </p:sp>
      <p:sp>
        <p:nvSpPr>
          <p:cNvPr id="4" name="Shape 2"/>
          <p:cNvSpPr/>
          <p:nvPr/>
        </p:nvSpPr>
        <p:spPr>
          <a:xfrm>
            <a:off x="457200" y="1234440"/>
            <a:ext cx="1737360" cy="1234440"/>
          </a:xfrm>
          <a:prstGeom prst="rect">
            <a:avLst/>
          </a:prstGeom>
          <a:solidFill>
            <a:srgbClr val="404040"/>
          </a:solidFill>
          <a:ln w="12700">
            <a:solidFill>
              <a:srgbClr val="333333"/>
            </a:solidFill>
            <a:prstDash val="solid"/>
          </a:ln>
        </p:spPr>
      </p:sp>
      <p:sp>
        <p:nvSpPr>
          <p:cNvPr id="5" name="Text 3"/>
          <p:cNvSpPr/>
          <p:nvPr/>
        </p:nvSpPr>
        <p:spPr>
          <a:xfrm>
            <a:off x="594360" y="1325880"/>
            <a:ext cx="1097280" cy="548640"/>
          </a:xfrm>
          <a:prstGeom prst="rect">
            <a:avLst/>
          </a:prstGeom>
          <a:noFill/>
          <a:ln/>
        </p:spPr>
        <p:txBody>
          <a:bodyPr wrap="square" lIns="0" tIns="0" rIns="0" bIns="0" rtlCol="0" anchor="ctr"/>
          <a:lstStyle/>
          <a:p>
            <a:pPr indent="0" marL="0">
              <a:buNone/>
            </a:pPr>
            <a:r>
              <a:rPr lang="en-US" sz="2600" dirty="0">
                <a:solidFill>
                  <a:srgbClr val="BFBFBF"/>
                </a:solidFill>
                <a:latin typeface="Arial" pitchFamily="34" charset="0"/>
                <a:ea typeface="Arial" pitchFamily="34" charset="-122"/>
                <a:cs typeface="Arial" pitchFamily="34" charset="-120"/>
              </a:rPr>
              <a:t>01</a:t>
            </a:r>
            <a:endParaRPr lang="en-US" sz="2600" dirty="0"/>
          </a:p>
        </p:txBody>
      </p:sp>
      <p:sp>
        <p:nvSpPr>
          <p:cNvPr id="6" name="Text 4"/>
          <p:cNvSpPr/>
          <p:nvPr/>
        </p:nvSpPr>
        <p:spPr>
          <a:xfrm>
            <a:off x="594360" y="1828800"/>
            <a:ext cx="1508760" cy="594360"/>
          </a:xfrm>
          <a:prstGeom prst="rect">
            <a:avLst/>
          </a:prstGeom>
          <a:noFill/>
          <a:ln/>
        </p:spPr>
        <p:txBody>
          <a:bodyPr wrap="square" lIns="0" tIns="0" rIns="0" bIns="0" rtlCol="0" anchor="t"/>
          <a:lstStyle/>
          <a:p>
            <a:pPr algn="l" indent="0" marL="0">
              <a:buNone/>
            </a:pPr>
            <a:r>
              <a:rPr lang="en-US" sz="1200" b="1" dirty="0">
                <a:solidFill>
                  <a:srgbClr val="FFFFFF"/>
                </a:solidFill>
                <a:latin typeface="Arial" pitchFamily="34" charset="0"/>
                <a:ea typeface="Arial" pitchFamily="34" charset="-122"/>
                <a:cs typeface="Arial" pitchFamily="34" charset="-120"/>
              </a:rPr>
              <a:t>SAL Related Information</a:t>
            </a:r>
            <a:endParaRPr lang="en-US" sz="1200" dirty="0"/>
          </a:p>
        </p:txBody>
      </p:sp>
      <p:sp>
        <p:nvSpPr>
          <p:cNvPr id="7" name="Shape 5"/>
          <p:cNvSpPr/>
          <p:nvPr/>
        </p:nvSpPr>
        <p:spPr>
          <a:xfrm>
            <a:off x="2194560" y="1234440"/>
            <a:ext cx="9539935" cy="1234440"/>
          </a:xfrm>
          <a:prstGeom prst="rect">
            <a:avLst/>
          </a:prstGeom>
          <a:solidFill>
            <a:srgbClr val="F2F2F2"/>
          </a:solidFill>
          <a:ln w="12700">
            <a:solidFill>
              <a:srgbClr val="D9D9D9"/>
            </a:solidFill>
            <a:prstDash val="solid"/>
          </a:ln>
        </p:spPr>
      </p:sp>
      <p:sp>
        <p:nvSpPr>
          <p:cNvPr id="8" name="Text 6"/>
          <p:cNvSpPr/>
          <p:nvPr/>
        </p:nvSpPr>
        <p:spPr>
          <a:xfrm>
            <a:off x="2377440" y="1344168"/>
            <a:ext cx="9174175" cy="1014984"/>
          </a:xfrm>
          <a:prstGeom prst="rect">
            <a:avLst/>
          </a:prstGeom>
          <a:noFill/>
          <a:ln/>
        </p:spPr>
        <p:txBody>
          <a:bodyPr wrap="square" lIns="0" tIns="0" rIns="0" bIns="0" rtlCol="0" anchor="t"/>
          <a:lstStyle/>
          <a:p>
            <a:pPr algn="l" marL="228600" indent="-228600">
              <a:spcAft>
                <a:spcPts val="1200"/>
              </a:spcAft>
              <a:buSzPct val="100000"/>
              <a:buChar char="•"/>
            </a:pPr>
            <a:r>
              <a:rPr lang="en-US" sz="1100" dirty="0">
                <a:solidFill>
                  <a:srgbClr val="404040"/>
                </a:solidFill>
                <a:latin typeface="Arial" pitchFamily="34" charset="0"/>
                <a:ea typeface="Arial" pitchFamily="34" charset="-122"/>
                <a:cs typeface="Arial" pitchFamily="34" charset="-120"/>
              </a:rPr>
              <a:t>SAL Tenure</a:t>
            </a:r>
            <a:endParaRPr lang="en-US" sz="1100" dirty="0"/>
          </a:p>
          <a:p>
            <a:pPr algn="l" marL="228600" indent="-228600">
              <a:spcAft>
                <a:spcPts val="1200"/>
              </a:spcAft>
              <a:buSzPct val="100000"/>
              <a:buChar char="•"/>
            </a:pPr>
            <a:r>
              <a:rPr lang="en-US" sz="1100" dirty="0">
                <a:solidFill>
                  <a:srgbClr val="404040"/>
                </a:solidFill>
                <a:latin typeface="Arial" pitchFamily="34" charset="0"/>
                <a:ea typeface="Arial" pitchFamily="34" charset="-122"/>
                <a:cs typeface="Arial" pitchFamily="34" charset="-120"/>
              </a:rPr>
              <a:t>SAL Grade/Level</a:t>
            </a:r>
            <a:endParaRPr lang="en-US" sz="1100" dirty="0"/>
          </a:p>
          <a:p>
            <a:pPr algn="l" marL="228600" indent="-228600">
              <a:spcAft>
                <a:spcPts val="1200"/>
              </a:spcAft>
              <a:buSzPct val="100000"/>
              <a:buChar char="•"/>
            </a:pPr>
            <a:r>
              <a:rPr lang="en-US" sz="1100" dirty="0">
                <a:solidFill>
                  <a:srgbClr val="404040"/>
                </a:solidFill>
                <a:latin typeface="Arial" pitchFamily="34" charset="0"/>
                <a:ea typeface="Arial" pitchFamily="34" charset="-122"/>
                <a:cs typeface="Arial" pitchFamily="34" charset="-120"/>
              </a:rPr>
              <a:t>SAL Quota by Grade/Level</a:t>
            </a:r>
            <a:endParaRPr lang="en-US" sz="1100" dirty="0"/>
          </a:p>
          <a:p>
            <a:pPr algn="l" marL="228600" indent="-228600">
              <a:spcAft>
                <a:spcPts val="1200"/>
              </a:spcAft>
              <a:buSzPct val="100000"/>
              <a:buChar char="•"/>
            </a:pPr>
            <a:r>
              <a:rPr lang="en-US" sz="1100" dirty="0">
                <a:solidFill>
                  <a:srgbClr val="404040"/>
                </a:solidFill>
                <a:latin typeface="Arial" pitchFamily="34" charset="0"/>
                <a:ea typeface="Arial" pitchFamily="34" charset="-122"/>
                <a:cs typeface="Arial" pitchFamily="34" charset="-120"/>
              </a:rPr>
              <a:t>SAL Quota attainment for previous FY or rolling 12 months</a:t>
            </a:r>
            <a:endParaRPr lang="en-US" sz="1100" dirty="0"/>
          </a:p>
        </p:txBody>
      </p:sp>
      <p:sp>
        <p:nvSpPr>
          <p:cNvPr id="9" name="Shape 7"/>
          <p:cNvSpPr/>
          <p:nvPr/>
        </p:nvSpPr>
        <p:spPr>
          <a:xfrm>
            <a:off x="457200" y="2542032"/>
            <a:ext cx="1737360" cy="1234440"/>
          </a:xfrm>
          <a:prstGeom prst="rect">
            <a:avLst/>
          </a:prstGeom>
          <a:solidFill>
            <a:srgbClr val="404040"/>
          </a:solidFill>
          <a:ln w="12700">
            <a:solidFill>
              <a:srgbClr val="333333"/>
            </a:solidFill>
            <a:prstDash val="solid"/>
          </a:ln>
        </p:spPr>
      </p:sp>
      <p:sp>
        <p:nvSpPr>
          <p:cNvPr id="10" name="Text 8"/>
          <p:cNvSpPr/>
          <p:nvPr/>
        </p:nvSpPr>
        <p:spPr>
          <a:xfrm>
            <a:off x="594360" y="2633472"/>
            <a:ext cx="1097280" cy="548640"/>
          </a:xfrm>
          <a:prstGeom prst="rect">
            <a:avLst/>
          </a:prstGeom>
          <a:noFill/>
          <a:ln/>
        </p:spPr>
        <p:txBody>
          <a:bodyPr wrap="square" lIns="0" tIns="0" rIns="0" bIns="0" rtlCol="0" anchor="ctr"/>
          <a:lstStyle/>
          <a:p>
            <a:pPr indent="0" marL="0">
              <a:buNone/>
            </a:pPr>
            <a:r>
              <a:rPr lang="en-US" sz="2600" dirty="0">
                <a:solidFill>
                  <a:srgbClr val="BFBFBF"/>
                </a:solidFill>
                <a:latin typeface="Arial" pitchFamily="34" charset="0"/>
                <a:ea typeface="Arial" pitchFamily="34" charset="-122"/>
                <a:cs typeface="Arial" pitchFamily="34" charset="-120"/>
              </a:rPr>
              <a:t>02</a:t>
            </a:r>
            <a:endParaRPr lang="en-US" sz="2600" dirty="0"/>
          </a:p>
        </p:txBody>
      </p:sp>
      <p:sp>
        <p:nvSpPr>
          <p:cNvPr id="11" name="Text 9"/>
          <p:cNvSpPr/>
          <p:nvPr/>
        </p:nvSpPr>
        <p:spPr>
          <a:xfrm>
            <a:off x="594360" y="3136392"/>
            <a:ext cx="1508760" cy="594360"/>
          </a:xfrm>
          <a:prstGeom prst="rect">
            <a:avLst/>
          </a:prstGeom>
          <a:noFill/>
          <a:ln/>
        </p:spPr>
        <p:txBody>
          <a:bodyPr wrap="square" lIns="0" tIns="0" rIns="0" bIns="0" rtlCol="0" anchor="t"/>
          <a:lstStyle/>
          <a:p>
            <a:pPr algn="l" indent="0" marL="0">
              <a:buNone/>
            </a:pPr>
            <a:r>
              <a:rPr lang="en-US" sz="1200" b="1" dirty="0">
                <a:solidFill>
                  <a:srgbClr val="FFFFFF"/>
                </a:solidFill>
                <a:latin typeface="Arial" pitchFamily="34" charset="0"/>
                <a:ea typeface="Arial" pitchFamily="34" charset="-122"/>
                <a:cs typeface="Arial" pitchFamily="34" charset="-120"/>
              </a:rPr>
              <a:t>Performance Related Information</a:t>
            </a:r>
            <a:endParaRPr lang="en-US" sz="1200" dirty="0"/>
          </a:p>
        </p:txBody>
      </p:sp>
      <p:sp>
        <p:nvSpPr>
          <p:cNvPr id="12" name="Shape 10"/>
          <p:cNvSpPr/>
          <p:nvPr/>
        </p:nvSpPr>
        <p:spPr>
          <a:xfrm>
            <a:off x="2194560" y="2542032"/>
            <a:ext cx="9539935" cy="1234440"/>
          </a:xfrm>
          <a:prstGeom prst="rect">
            <a:avLst/>
          </a:prstGeom>
          <a:solidFill>
            <a:srgbClr val="F2F2F2"/>
          </a:solidFill>
          <a:ln w="12700">
            <a:solidFill>
              <a:srgbClr val="D9D9D9"/>
            </a:solidFill>
            <a:prstDash val="solid"/>
          </a:ln>
        </p:spPr>
      </p:sp>
      <p:sp>
        <p:nvSpPr>
          <p:cNvPr id="13" name="Text 11"/>
          <p:cNvSpPr/>
          <p:nvPr/>
        </p:nvSpPr>
        <p:spPr>
          <a:xfrm>
            <a:off x="2377440" y="2651760"/>
            <a:ext cx="9174175" cy="1014984"/>
          </a:xfrm>
          <a:prstGeom prst="rect">
            <a:avLst/>
          </a:prstGeom>
          <a:noFill/>
          <a:ln/>
        </p:spPr>
        <p:txBody>
          <a:bodyPr wrap="square" lIns="0" tIns="0" rIns="0" bIns="0" rtlCol="0" anchor="t"/>
          <a:lstStyle/>
          <a:p>
            <a:pPr algn="l" marL="228600" indent="-228600">
              <a:spcAft>
                <a:spcPts val="1200"/>
              </a:spcAft>
              <a:buSzPct val="100000"/>
              <a:buChar char="•"/>
            </a:pPr>
            <a:r>
              <a:rPr lang="en-US" sz="1100" dirty="0">
                <a:solidFill>
                  <a:srgbClr val="404040"/>
                </a:solidFill>
                <a:latin typeface="Arial" pitchFamily="34" charset="0"/>
                <a:ea typeface="Arial" pitchFamily="34" charset="-122"/>
                <a:cs typeface="Arial" pitchFamily="34" charset="-120"/>
              </a:rPr>
              <a:t>cARR YoY Growth rates by Account</a:t>
            </a:r>
            <a:endParaRPr lang="en-US" sz="1100" dirty="0"/>
          </a:p>
        </p:txBody>
      </p:sp>
      <p:sp>
        <p:nvSpPr>
          <p:cNvPr id="14" name="Shape 12"/>
          <p:cNvSpPr/>
          <p:nvPr/>
        </p:nvSpPr>
        <p:spPr>
          <a:xfrm>
            <a:off x="457200" y="3849624"/>
            <a:ext cx="1737360" cy="1234440"/>
          </a:xfrm>
          <a:prstGeom prst="rect">
            <a:avLst/>
          </a:prstGeom>
          <a:solidFill>
            <a:srgbClr val="404040"/>
          </a:solidFill>
          <a:ln w="12700">
            <a:solidFill>
              <a:srgbClr val="333333"/>
            </a:solidFill>
            <a:prstDash val="solid"/>
          </a:ln>
        </p:spPr>
      </p:sp>
      <p:sp>
        <p:nvSpPr>
          <p:cNvPr id="15" name="Text 13"/>
          <p:cNvSpPr/>
          <p:nvPr/>
        </p:nvSpPr>
        <p:spPr>
          <a:xfrm>
            <a:off x="594360" y="3941064"/>
            <a:ext cx="1097280" cy="548640"/>
          </a:xfrm>
          <a:prstGeom prst="rect">
            <a:avLst/>
          </a:prstGeom>
          <a:noFill/>
          <a:ln/>
        </p:spPr>
        <p:txBody>
          <a:bodyPr wrap="square" lIns="0" tIns="0" rIns="0" bIns="0" rtlCol="0" anchor="ctr"/>
          <a:lstStyle/>
          <a:p>
            <a:pPr indent="0" marL="0">
              <a:buNone/>
            </a:pPr>
            <a:r>
              <a:rPr lang="en-US" sz="2600" dirty="0">
                <a:solidFill>
                  <a:srgbClr val="BFBFBF"/>
                </a:solidFill>
                <a:latin typeface="Arial" pitchFamily="34" charset="0"/>
                <a:ea typeface="Arial" pitchFamily="34" charset="-122"/>
                <a:cs typeface="Arial" pitchFamily="34" charset="-120"/>
              </a:rPr>
              <a:t>03</a:t>
            </a:r>
            <a:endParaRPr lang="en-US" sz="2600" dirty="0"/>
          </a:p>
        </p:txBody>
      </p:sp>
      <p:sp>
        <p:nvSpPr>
          <p:cNvPr id="16" name="Text 14"/>
          <p:cNvSpPr/>
          <p:nvPr/>
        </p:nvSpPr>
        <p:spPr>
          <a:xfrm>
            <a:off x="594360" y="4443984"/>
            <a:ext cx="1508760" cy="594360"/>
          </a:xfrm>
          <a:prstGeom prst="rect">
            <a:avLst/>
          </a:prstGeom>
          <a:noFill/>
          <a:ln/>
        </p:spPr>
        <p:txBody>
          <a:bodyPr wrap="square" lIns="0" tIns="0" rIns="0" bIns="0" rtlCol="0" anchor="t"/>
          <a:lstStyle/>
          <a:p>
            <a:pPr algn="l" indent="0" marL="0">
              <a:buNone/>
            </a:pPr>
            <a:r>
              <a:rPr lang="en-US" sz="1200" b="1" dirty="0">
                <a:solidFill>
                  <a:srgbClr val="FFFFFF"/>
                </a:solidFill>
                <a:latin typeface="Arial" pitchFamily="34" charset="0"/>
                <a:ea typeface="Arial" pitchFamily="34" charset="-122"/>
                <a:cs typeface="Arial" pitchFamily="34" charset="-120"/>
              </a:rPr>
              <a:t>Market / Selling Environment</a:t>
            </a:r>
            <a:endParaRPr lang="en-US" sz="1200" dirty="0"/>
          </a:p>
        </p:txBody>
      </p:sp>
      <p:sp>
        <p:nvSpPr>
          <p:cNvPr id="17" name="Shape 15"/>
          <p:cNvSpPr/>
          <p:nvPr/>
        </p:nvSpPr>
        <p:spPr>
          <a:xfrm>
            <a:off x="2194560" y="3849624"/>
            <a:ext cx="9539935" cy="1234440"/>
          </a:xfrm>
          <a:prstGeom prst="rect">
            <a:avLst/>
          </a:prstGeom>
          <a:solidFill>
            <a:srgbClr val="F2F2F2"/>
          </a:solidFill>
          <a:ln w="12700">
            <a:solidFill>
              <a:srgbClr val="D9D9D9"/>
            </a:solidFill>
            <a:prstDash val="solid"/>
          </a:ln>
        </p:spPr>
      </p:sp>
      <p:sp>
        <p:nvSpPr>
          <p:cNvPr id="18" name="Text 16"/>
          <p:cNvSpPr/>
          <p:nvPr/>
        </p:nvSpPr>
        <p:spPr>
          <a:xfrm>
            <a:off x="2377440" y="3959352"/>
            <a:ext cx="9174175" cy="1014984"/>
          </a:xfrm>
          <a:prstGeom prst="rect">
            <a:avLst/>
          </a:prstGeom>
          <a:noFill/>
          <a:ln/>
        </p:spPr>
        <p:txBody>
          <a:bodyPr wrap="square" lIns="0" tIns="0" rIns="0" bIns="0" rtlCol="0" anchor="t"/>
          <a:lstStyle/>
          <a:p>
            <a:pPr algn="l" marL="228600" indent="-228600">
              <a:spcAft>
                <a:spcPts val="1200"/>
              </a:spcAft>
              <a:buSzPct val="100000"/>
              <a:buChar char="•"/>
            </a:pPr>
            <a:r>
              <a:rPr lang="en-US" sz="1100" dirty="0">
                <a:solidFill>
                  <a:srgbClr val="404040"/>
                </a:solidFill>
                <a:latin typeface="Arial" pitchFamily="34" charset="0"/>
                <a:ea typeface="Arial" pitchFamily="34" charset="-122"/>
                <a:cs typeface="Arial" pitchFamily="34" charset="-120"/>
              </a:rPr>
              <a:t>Account or Territory Industry</a:t>
            </a:r>
            <a:endParaRPr lang="en-US" sz="1100" dirty="0"/>
          </a:p>
          <a:p>
            <a:pPr algn="l" marL="228600" indent="-228600">
              <a:spcAft>
                <a:spcPts val="1200"/>
              </a:spcAft>
              <a:buSzPct val="100000"/>
              <a:buChar char="•"/>
            </a:pPr>
            <a:r>
              <a:rPr lang="en-US" sz="1100" dirty="0">
                <a:solidFill>
                  <a:srgbClr val="404040"/>
                </a:solidFill>
                <a:latin typeface="Arial" pitchFamily="34" charset="0"/>
                <a:ea typeface="Arial" pitchFamily="34" charset="-122"/>
                <a:cs typeface="Arial" pitchFamily="34" charset="-120"/>
              </a:rPr>
              <a:t>Existing products within Account</a:t>
            </a:r>
            <a:endParaRPr lang="en-US" sz="1100" dirty="0"/>
          </a:p>
          <a:p>
            <a:pPr algn="l" marL="228600" indent="-228600">
              <a:spcAft>
                <a:spcPts val="1200"/>
              </a:spcAft>
              <a:buSzPct val="100000"/>
              <a:buChar char="•"/>
            </a:pPr>
            <a:r>
              <a:rPr lang="en-US" sz="1100" dirty="0">
                <a:solidFill>
                  <a:srgbClr val="404040"/>
                </a:solidFill>
                <a:latin typeface="Arial" pitchFamily="34" charset="0"/>
                <a:ea typeface="Arial" pitchFamily="34" charset="-122"/>
                <a:cs typeface="Arial" pitchFamily="34" charset="-120"/>
              </a:rPr>
              <a:t>Account or Territory size/segment</a:t>
            </a:r>
            <a:endParaRPr lang="en-US" sz="1100" dirty="0"/>
          </a:p>
          <a:p>
            <a:pPr algn="l" marL="228600" indent="-228600">
              <a:spcAft>
                <a:spcPts val="1200"/>
              </a:spcAft>
              <a:buSzPct val="100000"/>
              <a:buChar char="•"/>
            </a:pPr>
            <a:r>
              <a:rPr lang="en-US" sz="1100" dirty="0">
                <a:solidFill>
                  <a:srgbClr val="404040"/>
                </a:solidFill>
                <a:latin typeface="Arial" pitchFamily="34" charset="0"/>
                <a:ea typeface="Arial" pitchFamily="34" charset="-122"/>
                <a:cs typeface="Arial" pitchFamily="34" charset="-120"/>
              </a:rPr>
              <a:t>Account status (local or Multinational)</a:t>
            </a:r>
            <a:endParaRPr lang="en-US" sz="1100" dirty="0"/>
          </a:p>
        </p:txBody>
      </p:sp>
      <p:sp>
        <p:nvSpPr>
          <p:cNvPr id="19" name="Shape 17"/>
          <p:cNvSpPr/>
          <p:nvPr/>
        </p:nvSpPr>
        <p:spPr>
          <a:xfrm>
            <a:off x="457200" y="5157216"/>
            <a:ext cx="1737360" cy="1234440"/>
          </a:xfrm>
          <a:prstGeom prst="rect">
            <a:avLst/>
          </a:prstGeom>
          <a:solidFill>
            <a:srgbClr val="404040"/>
          </a:solidFill>
          <a:ln w="12700">
            <a:solidFill>
              <a:srgbClr val="333333"/>
            </a:solidFill>
            <a:prstDash val="solid"/>
          </a:ln>
        </p:spPr>
      </p:sp>
      <p:sp>
        <p:nvSpPr>
          <p:cNvPr id="20" name="Text 18"/>
          <p:cNvSpPr/>
          <p:nvPr/>
        </p:nvSpPr>
        <p:spPr>
          <a:xfrm>
            <a:off x="594360" y="5248656"/>
            <a:ext cx="1097280" cy="548640"/>
          </a:xfrm>
          <a:prstGeom prst="rect">
            <a:avLst/>
          </a:prstGeom>
          <a:noFill/>
          <a:ln/>
        </p:spPr>
        <p:txBody>
          <a:bodyPr wrap="square" lIns="0" tIns="0" rIns="0" bIns="0" rtlCol="0" anchor="ctr"/>
          <a:lstStyle/>
          <a:p>
            <a:pPr indent="0" marL="0">
              <a:buNone/>
            </a:pPr>
            <a:r>
              <a:rPr lang="en-US" sz="2600" dirty="0">
                <a:solidFill>
                  <a:srgbClr val="BFBFBF"/>
                </a:solidFill>
                <a:latin typeface="Arial" pitchFamily="34" charset="0"/>
                <a:ea typeface="Arial" pitchFamily="34" charset="-122"/>
                <a:cs typeface="Arial" pitchFamily="34" charset="-120"/>
              </a:rPr>
              <a:t>04</a:t>
            </a:r>
            <a:endParaRPr lang="en-US" sz="2600" dirty="0"/>
          </a:p>
        </p:txBody>
      </p:sp>
      <p:sp>
        <p:nvSpPr>
          <p:cNvPr id="21" name="Text 19"/>
          <p:cNvSpPr/>
          <p:nvPr/>
        </p:nvSpPr>
        <p:spPr>
          <a:xfrm>
            <a:off x="594360" y="5751576"/>
            <a:ext cx="1508760" cy="594360"/>
          </a:xfrm>
          <a:prstGeom prst="rect">
            <a:avLst/>
          </a:prstGeom>
          <a:noFill/>
          <a:ln/>
        </p:spPr>
        <p:txBody>
          <a:bodyPr wrap="square" lIns="0" tIns="0" rIns="0" bIns="0" rtlCol="0" anchor="t"/>
          <a:lstStyle/>
          <a:p>
            <a:pPr algn="l" indent="0" marL="0">
              <a:buNone/>
            </a:pPr>
            <a:r>
              <a:rPr lang="en-US" sz="1200" b="1" dirty="0">
                <a:solidFill>
                  <a:srgbClr val="FFFFFF"/>
                </a:solidFill>
                <a:latin typeface="Arial" pitchFamily="34" charset="0"/>
                <a:ea typeface="Arial" pitchFamily="34" charset="-122"/>
                <a:cs typeface="Arial" pitchFamily="34" charset="-120"/>
              </a:rPr>
              <a:t>Account Health</a:t>
            </a:r>
            <a:endParaRPr lang="en-US" sz="1200" dirty="0"/>
          </a:p>
        </p:txBody>
      </p:sp>
      <p:sp>
        <p:nvSpPr>
          <p:cNvPr id="22" name="Shape 20"/>
          <p:cNvSpPr/>
          <p:nvPr/>
        </p:nvSpPr>
        <p:spPr>
          <a:xfrm>
            <a:off x="2194560" y="5157216"/>
            <a:ext cx="9539935" cy="1234440"/>
          </a:xfrm>
          <a:prstGeom prst="rect">
            <a:avLst/>
          </a:prstGeom>
          <a:solidFill>
            <a:srgbClr val="F2F2F2"/>
          </a:solidFill>
          <a:ln w="12700">
            <a:solidFill>
              <a:srgbClr val="D9D9D9"/>
            </a:solidFill>
            <a:prstDash val="solid"/>
          </a:ln>
        </p:spPr>
      </p:sp>
      <p:sp>
        <p:nvSpPr>
          <p:cNvPr id="23" name="Text 21"/>
          <p:cNvSpPr/>
          <p:nvPr/>
        </p:nvSpPr>
        <p:spPr>
          <a:xfrm>
            <a:off x="2377440" y="5266944"/>
            <a:ext cx="9174175" cy="1014984"/>
          </a:xfrm>
          <a:prstGeom prst="rect">
            <a:avLst/>
          </a:prstGeom>
          <a:noFill/>
          <a:ln/>
        </p:spPr>
        <p:txBody>
          <a:bodyPr wrap="square" lIns="0" tIns="0" rIns="0" bIns="0" rtlCol="0" anchor="t"/>
          <a:lstStyle/>
          <a:p>
            <a:pPr algn="l" marL="228600" indent="-228600">
              <a:spcAft>
                <a:spcPts val="1200"/>
              </a:spcAft>
              <a:buSzPct val="100000"/>
              <a:buChar char="•"/>
            </a:pPr>
            <a:r>
              <a:rPr lang="en-US" sz="1100" dirty="0">
                <a:solidFill>
                  <a:srgbClr val="404040"/>
                </a:solidFill>
                <a:latin typeface="Arial" pitchFamily="34" charset="0"/>
                <a:ea typeface="Arial" pitchFamily="34" charset="-122"/>
                <a:cs typeface="Arial" pitchFamily="34" charset="-120"/>
              </a:rPr>
              <a:t>If the Account had been moved between SALs in FY21 (indication of SAL churn)</a:t>
            </a:r>
            <a:endParaRPr lang="en-US" sz="1100" dirty="0"/>
          </a:p>
          <a:p>
            <a:pPr algn="l" marL="228600" indent="-228600">
              <a:spcAft>
                <a:spcPts val="1200"/>
              </a:spcAft>
              <a:buSzPct val="100000"/>
              <a:buChar char="•"/>
            </a:pPr>
            <a:r>
              <a:rPr lang="en-US" sz="1100" dirty="0">
                <a:solidFill>
                  <a:srgbClr val="404040"/>
                </a:solidFill>
                <a:latin typeface="Arial" pitchFamily="34" charset="0"/>
                <a:ea typeface="Arial" pitchFamily="34" charset="-122"/>
                <a:cs typeface="Arial" pitchFamily="34" charset="-120"/>
              </a:rPr>
              <a:t>Customer Success Health Scores by Account</a:t>
            </a:r>
            <a:endParaRPr lang="en-US" sz="1100" dirty="0"/>
          </a:p>
        </p:txBody>
      </p:sp>
      <p:sp>
        <p:nvSpPr>
          <p:cNvPr id="24" name="Text 22"/>
          <p:cNvSpPr/>
          <p:nvPr/>
        </p:nvSpPr>
        <p:spPr>
          <a:xfrm>
            <a:off x="11551615" y="6446520"/>
            <a:ext cx="365760" cy="274320"/>
          </a:xfrm>
          <a:prstGeom prst="rect">
            <a:avLst/>
          </a:prstGeom>
          <a:noFill/>
          <a:ln/>
        </p:spPr>
        <p:txBody>
          <a:bodyPr wrap="square" lIns="0" tIns="0" rIns="0" bIns="0" rtlCol="0" anchor="ctr"/>
          <a:lstStyle/>
          <a:p>
            <a:pPr algn="r" indent="0" marL="0">
              <a:buNone/>
            </a:pPr>
            <a:r>
              <a:rPr lang="en-US" sz="1000" dirty="0">
                <a:solidFill>
                  <a:srgbClr val="7F7F7F"/>
                </a:solidFill>
                <a:latin typeface="Arial" pitchFamily="34" charset="0"/>
                <a:ea typeface="Arial" pitchFamily="34" charset="-122"/>
                <a:cs typeface="Arial" pitchFamily="34" charset="-120"/>
              </a:rPr>
              <a:t>15</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2026-07-27T06:23:12Z</dcterms:created>
  <dcterms:modified xsi:type="dcterms:W3CDTF">2026-07-27T06:23:12Z</dcterms:modified>
</cp:coreProperties>
</file>
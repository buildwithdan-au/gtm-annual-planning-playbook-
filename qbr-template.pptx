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1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2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3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4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Target ($M)</c:v>
                </c:pt>
              </c:strCache>
            </c:strRef>
          </c:tx>
          <c:spPr>
            <a:solidFill>
              <a:srgbClr val="CADCFC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E2761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Q1</c:v>
                  </c:pt>
                  <c:pt idx="1">
                    <c:v>Q2</c:v>
                  </c:pt>
                  <c:pt idx="2">
                    <c:v>Q3</c:v>
                  </c:pt>
                  <c:pt idx="3">
                    <c:v>Q4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10</c:v>
                </c:pt>
                <c:pt idx="1">
                  <c:v>11</c:v>
                </c:pt>
                <c:pt idx="2">
                  <c:v>12</c:v>
                </c:pt>
                <c:pt idx="3">
                  <c:v>13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Actual ($M)</c:v>
                </c:pt>
              </c:strCache>
            </c:strRef>
          </c:tx>
          <c:spPr>
            <a:solidFill>
              <a:srgbClr val="1E2761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E2761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Q1</c:v>
                  </c:pt>
                  <c:pt idx="1">
                    <c:v>Q2</c:v>
                  </c:pt>
                  <c:pt idx="2">
                    <c:v>Q3</c:v>
                  </c:pt>
                  <c:pt idx="3">
                    <c:v>Q4</c:v>
                  </c:pt>
                </c:lvl>
              </c:multiLvlStrCache>
            </c:multiLvl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9.5</c:v>
                </c:pt>
                <c:pt idx="1">
                  <c:v>11.6</c:v>
                </c:pt>
                <c:pt idx="2">
                  <c:v>11.2</c:v>
                </c:pt>
                <c:pt idx="3">
                  <c:v>14.1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000" u="none">
                  <a:solidFill>
                    <a:srgbClr val="1E2761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6E7A8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E3E8F0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1100" b="0" i="0" u="none" strike="noStrike">
                    <a:solidFill>
                      <a:srgbClr val="6E7A8A"/>
                    </a:solidFill>
                    <a:latin typeface="Arial"/>
                  </a:defRPr>
                </a:pPr>
                <a:r>
                  <a:rPr sz="1100" b="0" i="0" u="none" strike="noStrike">
                    <a:solidFill>
                      <a:srgbClr val="6E7A8A"/>
                    </a:solidFill>
                    <a:latin typeface="Arial"/>
                  </a:rPr>
                  <a:t>Bookings ($M)</a:t>
                </a:r>
              </a:p>
            </c:rich>
          </c:tx>
          <c:layout/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6E7A8A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solidFill>
                <a:srgbClr val="6E7A8A"/>
              </a:solidFill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1E2761"/>
                </a:solidFill>
                <a:latin typeface="Arial"/>
              </a:defRPr>
            </a:pPr>
            <a:r>
              <a:rPr sz="1200" b="0" i="0" u="none" strike="noStrike">
                <a:solidFill>
                  <a:srgbClr val="1E2761"/>
                </a:solidFill>
                <a:latin typeface="Arial"/>
              </a:rPr>
              <a:t>Pipeline Source Mix (% of Open Pipeline)</a:t>
            </a:r>
          </a:p>
        </c:rich>
      </c:tx>
      <c:layout/>
      <c:overlay val="0"/>
    </c:title>
    <c:autoTitleDeleted val="0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Source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FFB400"/>
              </a:solidFill>
              <a:effectLst/>
            </c:spPr>
          </c:dPt>
          <c:dPt>
            <c:idx val="1"/>
            <c:bubble3D val="0"/>
            <c:spPr>
              <a:solidFill>
                <a:srgbClr val="1E2761"/>
              </a:solidFill>
              <a:effectLst/>
            </c:spPr>
          </c:dPt>
          <c:dPt>
            <c:idx val="2"/>
            <c:bubble3D val="0"/>
            <c:spPr>
              <a:solidFill>
                <a:srgbClr val="CADCFC"/>
              </a:solidFill>
              <a:effectLst/>
            </c:spPr>
          </c:dPt>
          <c:dLbls>
            <c:dLbl>
              <c:idx val="0"/>
              <c:numFmt formatCode="0&quot;%&quot;" sourceLinked="0"/>
              <c:spPr/>
              <c:txPr>
                <a:bodyPr/>
                <a:lstStyle/>
                <a:p>
                  <a:pPr>
                    <a:defRPr sz="11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numFmt formatCode="0&quot;%&quot;" sourceLinked="0"/>
              <c:spPr/>
              <c:txPr>
                <a:bodyPr/>
                <a:lstStyle/>
                <a:p>
                  <a:pPr>
                    <a:defRPr sz="11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numFmt formatCode="0&quot;%&quot;" sourceLinked="0"/>
              <c:spPr/>
              <c:txPr>
                <a:bodyPr/>
                <a:lstStyle/>
                <a:p>
                  <a:pPr>
                    <a:defRPr sz="11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numFmt formatCode="0&quot;%&quot;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Sheet1!$A$2:$A$4</c:f>
              <c:strCache>
                <c:ptCount val="3"/>
                <c:pt idx="0">
                  <c:v>Marketing-Sourced</c:v>
                </c:pt>
                <c:pt idx="1">
                  <c:v>Sales-Sourced</c:v>
                </c:pt>
                <c:pt idx="2">
                  <c:v>Partner-Sourced</c:v>
                </c:pt>
              </c:strCache>
            </c:strRef>
          </c:cat>
          <c:val>
            <c:numRef>
              <c:f>Sheet1!$B$2:$B$4</c:f>
              <c:numCache>
                <c:ptCount val="3"/>
                <c:pt idx="0">
                  <c:v>42</c:v>
                </c:pt>
                <c:pt idx="1">
                  <c:v>45</c:v>
                </c:pt>
                <c:pt idx="2">
                  <c:v>13</c:v>
                </c:pt>
              </c:numCache>
            </c:numRef>
          </c:val>
        </c:ser>
        <c:firstSliceAng val="0"/>
        <c:holeSize val="55"/>
      </c:doughnut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solidFill>
                <a:srgbClr val="6E7A8A"/>
              </a:solidFill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Target ($M)</c:v>
                </c:pt>
              </c:strCache>
            </c:strRef>
          </c:tx>
          <c:spPr>
            <a:solidFill>
              <a:srgbClr val="CADCFC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E2761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Enterprise</c:v>
                  </c:pt>
                  <c:pt idx="1">
                    <c:v>Mid-Market</c:v>
                  </c:pt>
                  <c:pt idx="2">
                    <c:v>SMB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24</c:v>
                </c:pt>
                <c:pt idx="1">
                  <c:v>31.5</c:v>
                </c:pt>
                <c:pt idx="2">
                  <c:v>13.5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Actual ($M)</c:v>
                </c:pt>
              </c:strCache>
            </c:strRef>
          </c:tx>
          <c:spPr>
            <a:solidFill>
              <a:srgbClr val="1E2761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E2761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Enterprise</c:v>
                  </c:pt>
                  <c:pt idx="1">
                    <c:v>Mid-Market</c:v>
                  </c:pt>
                  <c:pt idx="2">
                    <c:v>SMB</c:v>
                  </c:pt>
                </c:lvl>
              </c:multiLvlStrCache>
            </c:multiLvl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21</c:v>
                </c:pt>
                <c:pt idx="1">
                  <c:v>30</c:v>
                </c:pt>
                <c:pt idx="2">
                  <c:v>14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000" u="none">
                  <a:solidFill>
                    <a:srgbClr val="1E2761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6E7A8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E3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6E7A8A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solidFill>
                <a:srgbClr val="6E7A8A"/>
              </a:solidFill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E2761"/>
                </a:solidFill>
                <a:latin typeface="Arial"/>
              </a:defRPr>
            </a:pPr>
            <a:r>
              <a:rPr sz="1300" b="0" i="0" u="none" strike="noStrike">
                <a:solidFill>
                  <a:srgbClr val="1E2761"/>
                </a:solidFill>
                <a:latin typeface="Arial"/>
              </a:rPr>
              <a:t>Overall Win Rate</a:t>
            </a:r>
          </a:p>
        </c:rich>
      </c:tx>
      <c:layout/>
      <c:overlay val="0"/>
    </c:title>
    <c:autoTitleDeleted val="0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Outcome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2E7D32"/>
              </a:solidFill>
              <a:effectLst/>
            </c:spPr>
          </c:dPt>
          <c:dPt>
            <c:idx val="1"/>
            <c:bubble3D val="0"/>
            <c:spPr>
              <a:solidFill>
                <a:srgbClr val="D9DEE8"/>
              </a:solidFill>
              <a:effectLst/>
            </c:spPr>
          </c:dPt>
          <c:dLbls>
            <c:dLbl>
              <c:idx val="0"/>
              <c:numFmt formatCode="0&quot;%&quot;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numFmt formatCode="0&quot;%&quot;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numFmt formatCode="0&quot;%&quot;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Sheet1!$A$2:$A$3</c:f>
              <c:strCache>
                <c:ptCount val="2"/>
                <c:pt idx="0">
                  <c:v>Won</c:v>
                </c:pt>
                <c:pt idx="1">
                  <c:v>Lost</c:v>
                </c:pt>
              </c:strCache>
            </c:strRef>
          </c:cat>
          <c:val>
            <c:numRef>
              <c:f>Sheet1!$B$2:$B$3</c:f>
              <c:numCache>
                <c:ptCount val="2"/>
                <c:pt idx="0">
                  <c:v>38</c:v>
                </c:pt>
                <c:pt idx="1">
                  <c:v>62</c:v>
                </c:pt>
              </c:numCache>
            </c:numRef>
          </c:val>
        </c:ser>
        <c:firstSliceAng val="0"/>
        <c:holeSize val="55"/>
      </c:doughnut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solidFill>
                <a:srgbClr val="6E7A8A"/>
              </a:solidFill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4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2011680"/>
            <a:ext cx="5486400" cy="5486400"/>
          </a:xfrm>
          <a:prstGeom prst="ellipse">
            <a:avLst/>
          </a:prstGeom>
          <a:solidFill>
            <a:srgbClr val="141B4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2194560" y="4206240"/>
            <a:ext cx="4114800" cy="4114800"/>
          </a:xfrm>
          <a:prstGeom prst="ellipse">
            <a:avLst/>
          </a:prstGeom>
          <a:solidFill>
            <a:srgbClr val="141B4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22960" y="219456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spc="300" kern="0" dirty="0">
                <a:solidFill>
                  <a:srgbClr val="FFB4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QUARTERLY BUSINESS REVIEW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777240" y="2606040"/>
            <a:ext cx="10515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[Segment / Team Name]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822960" y="356616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i="1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[Q_ FY__]  •  Presented by [Name, Title]  •  [Date]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22960" y="393192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Sales  •  Marketing  •  Customer Success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772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FFB4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OVERVIEW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1127729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Agenda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417320"/>
            <a:ext cx="347472" cy="347472"/>
          </a:xfrm>
          <a:prstGeom prst="ellipse">
            <a:avLst/>
          </a:prstGeom>
          <a:solidFill>
            <a:srgbClr val="1E276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41732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88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988" dirty="0"/>
          </a:p>
        </p:txBody>
      </p:sp>
      <p:sp>
        <p:nvSpPr>
          <p:cNvPr id="6" name="Text 4"/>
          <p:cNvSpPr/>
          <p:nvPr/>
        </p:nvSpPr>
        <p:spPr>
          <a:xfrm>
            <a:off x="987552" y="1380744"/>
            <a:ext cx="77724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Executive Summary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457200" y="1929384"/>
            <a:ext cx="347472" cy="347472"/>
          </a:xfrm>
          <a:prstGeom prst="ellipse">
            <a:avLst/>
          </a:prstGeom>
          <a:solidFill>
            <a:srgbClr val="1E276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192938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88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988" dirty="0"/>
          </a:p>
        </p:txBody>
      </p:sp>
      <p:sp>
        <p:nvSpPr>
          <p:cNvPr id="9" name="Text 7"/>
          <p:cNvSpPr/>
          <p:nvPr/>
        </p:nvSpPr>
        <p:spPr>
          <a:xfrm>
            <a:off x="987552" y="1892808"/>
            <a:ext cx="77724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Performance vs. Target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457200" y="2441448"/>
            <a:ext cx="347472" cy="347472"/>
          </a:xfrm>
          <a:prstGeom prst="ellipse">
            <a:avLst/>
          </a:prstGeom>
          <a:solidFill>
            <a:srgbClr val="1E276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244144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88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988" dirty="0"/>
          </a:p>
        </p:txBody>
      </p:sp>
      <p:sp>
        <p:nvSpPr>
          <p:cNvPr id="12" name="Text 10"/>
          <p:cNvSpPr/>
          <p:nvPr/>
        </p:nvSpPr>
        <p:spPr>
          <a:xfrm>
            <a:off x="987552" y="2404872"/>
            <a:ext cx="77724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Pipeline Health &amp; Coverage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457200" y="2953512"/>
            <a:ext cx="347472" cy="347472"/>
          </a:xfrm>
          <a:prstGeom prst="ellipse">
            <a:avLst/>
          </a:prstGeom>
          <a:solidFill>
            <a:srgbClr val="1E276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7200" y="295351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88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988" dirty="0"/>
          </a:p>
        </p:txBody>
      </p:sp>
      <p:sp>
        <p:nvSpPr>
          <p:cNvPr id="15" name="Text 13"/>
          <p:cNvSpPr/>
          <p:nvPr/>
        </p:nvSpPr>
        <p:spPr>
          <a:xfrm>
            <a:off x="987552" y="2916936"/>
            <a:ext cx="77724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Marketing Pipeline Contribution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457200" y="3465576"/>
            <a:ext cx="347472" cy="347472"/>
          </a:xfrm>
          <a:prstGeom prst="ellipse">
            <a:avLst/>
          </a:prstGeom>
          <a:solidFill>
            <a:srgbClr val="1E276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7200" y="346557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88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988" dirty="0"/>
          </a:p>
        </p:txBody>
      </p:sp>
      <p:sp>
        <p:nvSpPr>
          <p:cNvPr id="18" name="Text 16"/>
          <p:cNvSpPr/>
          <p:nvPr/>
        </p:nvSpPr>
        <p:spPr>
          <a:xfrm>
            <a:off x="987552" y="3429000"/>
            <a:ext cx="77724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Segment &amp; Win/Loss Performance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457200" y="3977640"/>
            <a:ext cx="347472" cy="347472"/>
          </a:xfrm>
          <a:prstGeom prst="ellipse">
            <a:avLst/>
          </a:prstGeom>
          <a:solidFill>
            <a:srgbClr val="1E276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57200" y="397764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88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988" dirty="0"/>
          </a:p>
        </p:txBody>
      </p:sp>
      <p:sp>
        <p:nvSpPr>
          <p:cNvPr id="21" name="Text 19"/>
          <p:cNvSpPr/>
          <p:nvPr/>
        </p:nvSpPr>
        <p:spPr>
          <a:xfrm>
            <a:off x="987552" y="3941064"/>
            <a:ext cx="77724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Retention &amp; Customer Health (CX)</a:t>
            </a:r>
            <a:endParaRPr lang="en-US" sz="1500" dirty="0"/>
          </a:p>
        </p:txBody>
      </p:sp>
      <p:sp>
        <p:nvSpPr>
          <p:cNvPr id="22" name="Shape 20"/>
          <p:cNvSpPr/>
          <p:nvPr/>
        </p:nvSpPr>
        <p:spPr>
          <a:xfrm>
            <a:off x="457200" y="4489704"/>
            <a:ext cx="347472" cy="347472"/>
          </a:xfrm>
          <a:prstGeom prst="ellipse">
            <a:avLst/>
          </a:prstGeom>
          <a:solidFill>
            <a:srgbClr val="1E276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57200" y="448970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88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988" dirty="0"/>
          </a:p>
        </p:txBody>
      </p:sp>
      <p:sp>
        <p:nvSpPr>
          <p:cNvPr id="24" name="Text 22"/>
          <p:cNvSpPr/>
          <p:nvPr/>
        </p:nvSpPr>
        <p:spPr>
          <a:xfrm>
            <a:off x="987552" y="4453128"/>
            <a:ext cx="77724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Wins, Challenges &amp; Risks</a:t>
            </a:r>
            <a:endParaRPr lang="en-US" sz="1500" dirty="0"/>
          </a:p>
        </p:txBody>
      </p:sp>
      <p:sp>
        <p:nvSpPr>
          <p:cNvPr id="25" name="Shape 23"/>
          <p:cNvSpPr/>
          <p:nvPr/>
        </p:nvSpPr>
        <p:spPr>
          <a:xfrm>
            <a:off x="457200" y="5001768"/>
            <a:ext cx="347472" cy="347472"/>
          </a:xfrm>
          <a:prstGeom prst="ellipse">
            <a:avLst/>
          </a:prstGeom>
          <a:solidFill>
            <a:srgbClr val="1E276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57200" y="500176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88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988" dirty="0"/>
          </a:p>
        </p:txBody>
      </p:sp>
      <p:sp>
        <p:nvSpPr>
          <p:cNvPr id="27" name="Text 25"/>
          <p:cNvSpPr/>
          <p:nvPr/>
        </p:nvSpPr>
        <p:spPr>
          <a:xfrm>
            <a:off x="987552" y="4965192"/>
            <a:ext cx="77724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Strategic Initiatives Progress</a:t>
            </a:r>
            <a:endParaRPr lang="en-US" sz="1500" dirty="0"/>
          </a:p>
        </p:txBody>
      </p:sp>
      <p:sp>
        <p:nvSpPr>
          <p:cNvPr id="28" name="Shape 26"/>
          <p:cNvSpPr/>
          <p:nvPr/>
        </p:nvSpPr>
        <p:spPr>
          <a:xfrm>
            <a:off x="457200" y="5513832"/>
            <a:ext cx="347472" cy="347472"/>
          </a:xfrm>
          <a:prstGeom prst="ellipse">
            <a:avLst/>
          </a:prstGeom>
          <a:solidFill>
            <a:srgbClr val="1E276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57200" y="551383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88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988" dirty="0"/>
          </a:p>
        </p:txBody>
      </p:sp>
      <p:sp>
        <p:nvSpPr>
          <p:cNvPr id="30" name="Text 28"/>
          <p:cNvSpPr/>
          <p:nvPr/>
        </p:nvSpPr>
        <p:spPr>
          <a:xfrm>
            <a:off x="987552" y="5477256"/>
            <a:ext cx="77724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 Quarter Priorities &amp; Asks</a:t>
            </a:r>
            <a:endParaRPr lang="en-US" sz="1500" dirty="0"/>
          </a:p>
        </p:txBody>
      </p:sp>
      <p:sp>
        <p:nvSpPr>
          <p:cNvPr id="31" name="Shape 29"/>
          <p:cNvSpPr/>
          <p:nvPr/>
        </p:nvSpPr>
        <p:spPr>
          <a:xfrm>
            <a:off x="8869680" y="1417320"/>
            <a:ext cx="2834640" cy="4206240"/>
          </a:xfrm>
          <a:prstGeom prst="roundRect">
            <a:avLst>
              <a:gd name="adj" fmla="val 2581"/>
            </a:avLst>
          </a:prstGeom>
          <a:solidFill>
            <a:srgbClr val="EEF2F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9052560" y="160020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Template note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9052560" y="1965960"/>
            <a:ext cx="246888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6E7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template assumes a sales-led QBR with Marketing (pipeline generation) and CX (retention) as co-presenting stakeholders. Replace every [bracketed] placeholder with this quarter's data before presenting.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772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FFB4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SECTION 1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1127729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Executive Summary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554480"/>
            <a:ext cx="2084832" cy="1691640"/>
          </a:xfrm>
          <a:prstGeom prst="roundRect">
            <a:avLst>
              <a:gd name="adj" fmla="val 4324"/>
            </a:avLst>
          </a:prstGeom>
          <a:solidFill>
            <a:srgbClr val="EEF2F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719072"/>
            <a:ext cx="208483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[XX%]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548640" y="2743200"/>
            <a:ext cx="19019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E7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Bookings Attainment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2724912" y="1554480"/>
            <a:ext cx="2084832" cy="1691640"/>
          </a:xfrm>
          <a:prstGeom prst="roundRect">
            <a:avLst>
              <a:gd name="adj" fmla="val 4324"/>
            </a:avLst>
          </a:prstGeom>
          <a:solidFill>
            <a:srgbClr val="EEF2F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724912" y="1719072"/>
            <a:ext cx="208483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[X.Xx]</a:t>
            </a:r>
            <a:endParaRPr lang="en-US" sz="3400" dirty="0"/>
          </a:p>
        </p:txBody>
      </p:sp>
      <p:sp>
        <p:nvSpPr>
          <p:cNvPr id="9" name="Text 7"/>
          <p:cNvSpPr/>
          <p:nvPr/>
        </p:nvSpPr>
        <p:spPr>
          <a:xfrm>
            <a:off x="2816352" y="2743200"/>
            <a:ext cx="19019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E7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Pipeline Coverage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992624" y="1554480"/>
            <a:ext cx="2084832" cy="1691640"/>
          </a:xfrm>
          <a:prstGeom prst="roundRect">
            <a:avLst>
              <a:gd name="adj" fmla="val 4324"/>
            </a:avLst>
          </a:prstGeom>
          <a:solidFill>
            <a:srgbClr val="EEF2F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992624" y="1719072"/>
            <a:ext cx="208483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B4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[XX%]</a:t>
            </a:r>
            <a:endParaRPr lang="en-US" sz="3400" dirty="0"/>
          </a:p>
        </p:txBody>
      </p:sp>
      <p:sp>
        <p:nvSpPr>
          <p:cNvPr id="12" name="Text 10"/>
          <p:cNvSpPr/>
          <p:nvPr/>
        </p:nvSpPr>
        <p:spPr>
          <a:xfrm>
            <a:off x="5084064" y="2743200"/>
            <a:ext cx="19019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E7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Marketing-Sourced Pipeline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7260336" y="1554480"/>
            <a:ext cx="2084832" cy="1691640"/>
          </a:xfrm>
          <a:prstGeom prst="roundRect">
            <a:avLst>
              <a:gd name="adj" fmla="val 4324"/>
            </a:avLst>
          </a:prstGeom>
          <a:solidFill>
            <a:srgbClr val="EEF2F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260336" y="1719072"/>
            <a:ext cx="208483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[XX%]</a:t>
            </a:r>
            <a:endParaRPr lang="en-US" sz="3400" dirty="0"/>
          </a:p>
        </p:txBody>
      </p:sp>
      <p:sp>
        <p:nvSpPr>
          <p:cNvPr id="15" name="Text 13"/>
          <p:cNvSpPr/>
          <p:nvPr/>
        </p:nvSpPr>
        <p:spPr>
          <a:xfrm>
            <a:off x="7351776" y="2743200"/>
            <a:ext cx="19019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E7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Net Revenue Retention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9528048" y="1554480"/>
            <a:ext cx="2084832" cy="1691640"/>
          </a:xfrm>
          <a:prstGeom prst="roundRect">
            <a:avLst>
              <a:gd name="adj" fmla="val 4324"/>
            </a:avLst>
          </a:prstGeom>
          <a:solidFill>
            <a:srgbClr val="EEF2F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528048" y="1719072"/>
            <a:ext cx="208483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[XX%]</a:t>
            </a:r>
            <a:endParaRPr lang="en-US" sz="3400" dirty="0"/>
          </a:p>
        </p:txBody>
      </p:sp>
      <p:sp>
        <p:nvSpPr>
          <p:cNvPr id="18" name="Text 16"/>
          <p:cNvSpPr/>
          <p:nvPr/>
        </p:nvSpPr>
        <p:spPr>
          <a:xfrm>
            <a:off x="9619488" y="2743200"/>
            <a:ext cx="19019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E7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Win Rate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457200" y="3611880"/>
            <a:ext cx="11277295" cy="2011680"/>
          </a:xfrm>
          <a:prstGeom prst="roundRect">
            <a:avLst>
              <a:gd name="adj" fmla="val 3636"/>
            </a:avLst>
          </a:prstGeom>
          <a:solidFill>
            <a:srgbClr val="F5F7FB"/>
          </a:solidFill>
          <a:ln w="12700">
            <a:solidFill>
              <a:srgbClr val="EEF2F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31520" y="3794760"/>
            <a:ext cx="1072865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Quarter narrative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731520" y="4160520"/>
            <a:ext cx="10728655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i="1" dirty="0">
                <a:solidFill>
                  <a:srgbClr val="6E7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[2-3 sentence summary spanning all three functions: how bookings landed against target, how Marketing's pipeline contribution trended, and where retention stands. Keep this to what a CBO needs to know in 20 seconds.]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772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FFB4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SECTION 2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1127729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Performance vs. Target</a:t>
            </a:r>
            <a:endParaRPr lang="en-US" sz="28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457200" y="1554480"/>
          <a:ext cx="7498080" cy="42062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8686800" y="1554480"/>
            <a:ext cx="3017520" cy="1737360"/>
          </a:xfrm>
          <a:prstGeom prst="roundRect">
            <a:avLst>
              <a:gd name="adj" fmla="val 4211"/>
            </a:avLst>
          </a:prstGeom>
          <a:solidFill>
            <a:srgbClr val="EEF2F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8686800" y="1719072"/>
            <a:ext cx="30175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B4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[XX%]</a:t>
            </a:r>
            <a:endParaRPr lang="en-US" sz="3400" dirty="0"/>
          </a:p>
        </p:txBody>
      </p:sp>
      <p:sp>
        <p:nvSpPr>
          <p:cNvPr id="7" name="Text 4"/>
          <p:cNvSpPr/>
          <p:nvPr/>
        </p:nvSpPr>
        <p:spPr>
          <a:xfrm>
            <a:off x="8778240" y="27889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E7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Attainment This Quarter</a:t>
            </a: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>
            <a:off x="8686800" y="3429000"/>
            <a:ext cx="3017520" cy="1737360"/>
          </a:xfrm>
          <a:prstGeom prst="roundRect">
            <a:avLst>
              <a:gd name="adj" fmla="val 4211"/>
            </a:avLst>
          </a:prstGeom>
          <a:solidFill>
            <a:srgbClr val="EEF2F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8686800" y="3593592"/>
            <a:ext cx="30175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[+X%]</a:t>
            </a:r>
            <a:endParaRPr lang="en-US" sz="3400" dirty="0"/>
          </a:p>
        </p:txBody>
      </p:sp>
      <p:sp>
        <p:nvSpPr>
          <p:cNvPr id="10" name="Text 7"/>
          <p:cNvSpPr/>
          <p:nvPr/>
        </p:nvSpPr>
        <p:spPr>
          <a:xfrm>
            <a:off x="8778240" y="466344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E7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YoY Bookings Growth</a:t>
            </a:r>
            <a:endParaRPr lang="en-US" sz="1050" dirty="0"/>
          </a:p>
        </p:txBody>
      </p:sp>
      <p:sp>
        <p:nvSpPr>
          <p:cNvPr id="11" name="Text 8"/>
          <p:cNvSpPr/>
          <p:nvPr/>
        </p:nvSpPr>
        <p:spPr>
          <a:xfrm>
            <a:off x="8686800" y="5303520"/>
            <a:ext cx="3017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i="1" dirty="0">
                <a:solidFill>
                  <a:srgbClr val="6E7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[One line calling out what drove the Q4 beat/miss vs. target — e.g., large deal timing, new segment ramp, macro headwind.]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772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FFB4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SECTION 3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1127729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Pipeline Health &amp; Coverage</a:t>
            </a:r>
            <a:endParaRPr lang="en-US" sz="28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600200"/>
          <a:ext cx="11277295" cy="2377440"/>
        </p:xfrm>
        <a:graphic>
          <a:graphicData uri="http://schemas.openxmlformats.org/drawingml/2006/table">
            <a:tbl>
              <a:tblPr/>
              <a:tblGrid>
                <a:gridCol w="3291840"/>
                <a:gridCol w="2103120"/>
                <a:gridCol w="2103120"/>
                <a:gridCol w="1920240"/>
                <a:gridCol w="1645920"/>
              </a:tblGrid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Segment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Remaining Quota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Open Pipeline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Coverage Ratio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Status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E276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Enterprise / Strategic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1E276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$6.0M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1E276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$21.0M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1E276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3.50x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At Risk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2828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E276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Mid-Market / Commercial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B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1E276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$9.0M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B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1E276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$30.0M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B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1E276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3.33x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At Risk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2828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E276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SMB / Velocity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1E276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$4.5M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1E276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$14.0M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1E276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3.11x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On Track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7D32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1E276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Total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b="1" dirty="0">
                          <a:solidFill>
                            <a:srgbClr val="1E276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$19.5M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b="1" dirty="0">
                          <a:solidFill>
                            <a:srgbClr val="1E276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$65.0M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b="1" dirty="0">
                          <a:solidFill>
                            <a:srgbClr val="1E276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3.33x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E7A8A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457200" y="4251960"/>
            <a:ext cx="11277295" cy="1371600"/>
          </a:xfrm>
          <a:prstGeom prst="roundRect">
            <a:avLst>
              <a:gd name="adj" fmla="val 5333"/>
            </a:avLst>
          </a:prstGeom>
          <a:solidFill>
            <a:srgbClr val="F5F7FB"/>
          </a:solidFill>
          <a:ln w="12700">
            <a:solidFill>
              <a:srgbClr val="EEF2FA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731520" y="4434840"/>
            <a:ext cx="10728655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i="1" dirty="0">
                <a:solidFill>
                  <a:srgbClr val="6E7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Coverage ratio = open pipeline ÷ remaining quota. Where possible, present the stage-weighted ratio alongside the raw ratio — pipeline weighted by historical win rate per stage is the more reliable signal of what will actually convert to bookings.</a:t>
            </a:r>
            <a:endParaRPr lang="en-US" sz="12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772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FFB4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SECTION 4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1127729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Marketing Pipeline Contribution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77240" y="1508760"/>
            <a:ext cx="4937760" cy="457200"/>
          </a:xfrm>
          <a:prstGeom prst="roundRect">
            <a:avLst>
              <a:gd name="adj" fmla="val 12000"/>
            </a:avLst>
          </a:prstGeom>
          <a:solidFill>
            <a:srgbClr val="CADCF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508760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MQLs   2,400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2331720" y="1984248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6E7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↓  40%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268855" y="2221992"/>
            <a:ext cx="1954530" cy="457200"/>
          </a:xfrm>
          <a:prstGeom prst="roundRect">
            <a:avLst>
              <a:gd name="adj" fmla="val 12000"/>
            </a:avLst>
          </a:prstGeom>
          <a:solidFill>
            <a:srgbClr val="9FBBE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268855" y="2221992"/>
            <a:ext cx="195453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SQLs   950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2331720" y="269748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6E7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↓  51%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331720" y="2935224"/>
            <a:ext cx="1828800" cy="457200"/>
          </a:xfrm>
          <a:prstGeom prst="roundRect">
            <a:avLst>
              <a:gd name="adj" fmla="val 12000"/>
            </a:avLst>
          </a:prstGeom>
          <a:solidFill>
            <a:srgbClr val="6E93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331720" y="2935224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SQOs   480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2331720" y="3410712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6E7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↓  65%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331720" y="3648456"/>
            <a:ext cx="1828800" cy="457200"/>
          </a:xfrm>
          <a:prstGeom prst="roundRect">
            <a:avLst>
              <a:gd name="adj" fmla="val 12000"/>
            </a:avLst>
          </a:prstGeom>
          <a:solidFill>
            <a:srgbClr val="3A5FA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331720" y="3648456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Opportunities   310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2331720" y="4123944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6E7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↓  38%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331720" y="4361688"/>
            <a:ext cx="1828800" cy="457200"/>
          </a:xfrm>
          <a:prstGeom prst="roundRect">
            <a:avLst>
              <a:gd name="adj" fmla="val 12000"/>
            </a:avLst>
          </a:prstGeom>
          <a:solidFill>
            <a:srgbClr val="1E276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331720" y="4361688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Closed Won   118</a:t>
            </a:r>
            <a:endParaRPr lang="en-US" sz="1300" dirty="0"/>
          </a:p>
        </p:txBody>
      </p:sp>
      <p:graphicFrame>
        <p:nvGraphicFramePr>
          <p:cNvPr id="18" name="Chart 0" descr=""/>
          <p:cNvGraphicFramePr/>
          <p:nvPr/>
        </p:nvGraphicFramePr>
        <p:xfrm>
          <a:off x="6675120" y="1463040"/>
          <a:ext cx="4846320" cy="28346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9" name="Shape 16"/>
          <p:cNvSpPr/>
          <p:nvPr/>
        </p:nvSpPr>
        <p:spPr>
          <a:xfrm>
            <a:off x="6675120" y="4434840"/>
            <a:ext cx="4846320" cy="1600200"/>
          </a:xfrm>
          <a:prstGeom prst="roundRect">
            <a:avLst>
              <a:gd name="adj" fmla="val 4571"/>
            </a:avLst>
          </a:prstGeom>
          <a:solidFill>
            <a:srgbClr val="F5F7FB"/>
          </a:solidFill>
          <a:ln w="12700">
            <a:solidFill>
              <a:srgbClr val="EEF2FA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6903720" y="4572000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Campaign highlights</a:t>
            </a:r>
            <a:endParaRPr lang="en-US" sz="1200" dirty="0"/>
          </a:p>
        </p:txBody>
      </p:sp>
      <p:sp>
        <p:nvSpPr>
          <p:cNvPr id="21" name="Text 18"/>
          <p:cNvSpPr/>
          <p:nvPr/>
        </p:nvSpPr>
        <p:spPr>
          <a:xfrm>
            <a:off x="6903720" y="4937760"/>
            <a:ext cx="43891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i="1" dirty="0">
                <a:solidFill>
                  <a:srgbClr val="6E7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[Campaign/program 1 — e.g., ABM push into priority vertical, $X pipeline generated]</a:t>
            </a:r>
            <a:endParaRPr lang="en-US" sz="1150" dirty="0"/>
          </a:p>
          <a:p>
            <a:pPr algn="l" indent="0" marL="0">
              <a:buNone/>
            </a:pPr>
            <a:r>
              <a:rPr lang="en-US" sz="1150" i="1" dirty="0">
                <a:solidFill>
                  <a:srgbClr val="6E7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[Campaign/program 2 — e.g., partner co-marketing event]</a:t>
            </a:r>
            <a:endParaRPr lang="en-US" sz="11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772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FFB4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SECTION 5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1127729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Segment Performance</a:t>
            </a:r>
            <a:endParaRPr lang="en-US" sz="28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457200" y="1600200"/>
          <a:ext cx="6949440" cy="39319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Text 2"/>
          <p:cNvSpPr/>
          <p:nvPr/>
        </p:nvSpPr>
        <p:spPr>
          <a:xfrm>
            <a:off x="8138160" y="169164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Enterprise / Strategic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8138160" y="1965960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6E7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[XX%] attainment — [one-line driver]</a:t>
            </a:r>
            <a:endParaRPr lang="en-US" sz="1150" dirty="0"/>
          </a:p>
        </p:txBody>
      </p:sp>
      <p:sp>
        <p:nvSpPr>
          <p:cNvPr id="7" name="Text 4"/>
          <p:cNvSpPr/>
          <p:nvPr/>
        </p:nvSpPr>
        <p:spPr>
          <a:xfrm>
            <a:off x="8138160" y="274320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Mid-Market / Commercial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8138160" y="3017520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6E7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[XX%] attainment — [one-line driver]</a:t>
            </a:r>
            <a:endParaRPr lang="en-US" sz="1150" dirty="0"/>
          </a:p>
        </p:txBody>
      </p:sp>
      <p:sp>
        <p:nvSpPr>
          <p:cNvPr id="9" name="Text 6"/>
          <p:cNvSpPr/>
          <p:nvPr/>
        </p:nvSpPr>
        <p:spPr>
          <a:xfrm>
            <a:off x="8138160" y="379476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SMB / Velocity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8138160" y="4069080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6E7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[XX%] attainment — [one-line driver]</a:t>
            </a:r>
            <a:endParaRPr lang="en-US" sz="11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772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FFB4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SECTION 6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1127729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Win / Loss Analysis</a:t>
            </a:r>
            <a:endParaRPr lang="en-US" sz="28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457200" y="1600200"/>
          <a:ext cx="3291840" cy="31089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Text 2"/>
          <p:cNvSpPr/>
          <p:nvPr/>
        </p:nvSpPr>
        <p:spPr>
          <a:xfrm>
            <a:off x="3657600" y="160020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E7D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We Won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7863840" y="160020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62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We Lost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3657600" y="2148840"/>
            <a:ext cx="256032" cy="256032"/>
          </a:xfrm>
          <a:prstGeom prst="ellipse">
            <a:avLst/>
          </a:prstGeom>
          <a:solidFill>
            <a:srgbClr val="2E7D3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657600" y="214884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8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728" dirty="0"/>
          </a:p>
        </p:txBody>
      </p:sp>
      <p:sp>
        <p:nvSpPr>
          <p:cNvPr id="9" name="Text 6"/>
          <p:cNvSpPr/>
          <p:nvPr/>
        </p:nvSpPr>
        <p:spPr>
          <a:xfrm>
            <a:off x="4069080" y="2093976"/>
            <a:ext cx="3520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[Theme 1 — e.g., product differentiation]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3657600" y="2926080"/>
            <a:ext cx="256032" cy="256032"/>
          </a:xfrm>
          <a:prstGeom prst="ellipse">
            <a:avLst/>
          </a:prstGeom>
          <a:solidFill>
            <a:srgbClr val="2E7D3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3657600" y="292608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8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728" dirty="0"/>
          </a:p>
        </p:txBody>
      </p:sp>
      <p:sp>
        <p:nvSpPr>
          <p:cNvPr id="12" name="Text 9"/>
          <p:cNvSpPr/>
          <p:nvPr/>
        </p:nvSpPr>
        <p:spPr>
          <a:xfrm>
            <a:off x="4069080" y="2871216"/>
            <a:ext cx="3520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[Theme 2 — e.g., champion strength]</a:t>
            </a:r>
            <a:endParaRPr lang="en-US" sz="1250" dirty="0"/>
          </a:p>
        </p:txBody>
      </p:sp>
      <p:sp>
        <p:nvSpPr>
          <p:cNvPr id="13" name="Shape 10"/>
          <p:cNvSpPr/>
          <p:nvPr/>
        </p:nvSpPr>
        <p:spPr>
          <a:xfrm>
            <a:off x="3657600" y="3703320"/>
            <a:ext cx="256032" cy="256032"/>
          </a:xfrm>
          <a:prstGeom prst="ellipse">
            <a:avLst/>
          </a:prstGeom>
          <a:solidFill>
            <a:srgbClr val="2E7D3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3657600" y="370332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8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728" dirty="0"/>
          </a:p>
        </p:txBody>
      </p:sp>
      <p:sp>
        <p:nvSpPr>
          <p:cNvPr id="15" name="Text 12"/>
          <p:cNvSpPr/>
          <p:nvPr/>
        </p:nvSpPr>
        <p:spPr>
          <a:xfrm>
            <a:off x="4069080" y="3648456"/>
            <a:ext cx="3520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[Theme 3 — e.g., pricing/packaging]</a:t>
            </a:r>
            <a:endParaRPr lang="en-US" sz="1250" dirty="0"/>
          </a:p>
        </p:txBody>
      </p:sp>
      <p:sp>
        <p:nvSpPr>
          <p:cNvPr id="16" name="Shape 13"/>
          <p:cNvSpPr/>
          <p:nvPr/>
        </p:nvSpPr>
        <p:spPr>
          <a:xfrm>
            <a:off x="7863840" y="2148840"/>
            <a:ext cx="256032" cy="256032"/>
          </a:xfrm>
          <a:prstGeom prst="ellipse">
            <a:avLst/>
          </a:prstGeom>
          <a:solidFill>
            <a:srgbClr val="C6282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7863840" y="214884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8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!</a:t>
            </a:r>
            <a:endParaRPr lang="en-US" sz="728" dirty="0"/>
          </a:p>
        </p:txBody>
      </p:sp>
      <p:sp>
        <p:nvSpPr>
          <p:cNvPr id="18" name="Text 15"/>
          <p:cNvSpPr/>
          <p:nvPr/>
        </p:nvSpPr>
        <p:spPr>
          <a:xfrm>
            <a:off x="8275320" y="2093976"/>
            <a:ext cx="3520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[Theme 1 — e.g., competitor incumbency]</a:t>
            </a:r>
            <a:endParaRPr lang="en-US" sz="1250" dirty="0"/>
          </a:p>
        </p:txBody>
      </p:sp>
      <p:sp>
        <p:nvSpPr>
          <p:cNvPr id="19" name="Shape 16"/>
          <p:cNvSpPr/>
          <p:nvPr/>
        </p:nvSpPr>
        <p:spPr>
          <a:xfrm>
            <a:off x="7863840" y="2926080"/>
            <a:ext cx="256032" cy="256032"/>
          </a:xfrm>
          <a:prstGeom prst="ellipse">
            <a:avLst/>
          </a:prstGeom>
          <a:solidFill>
            <a:srgbClr val="C6282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7863840" y="292608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8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!</a:t>
            </a:r>
            <a:endParaRPr lang="en-US" sz="728" dirty="0"/>
          </a:p>
        </p:txBody>
      </p:sp>
      <p:sp>
        <p:nvSpPr>
          <p:cNvPr id="21" name="Text 18"/>
          <p:cNvSpPr/>
          <p:nvPr/>
        </p:nvSpPr>
        <p:spPr>
          <a:xfrm>
            <a:off x="8275320" y="2871216"/>
            <a:ext cx="3520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[Theme 2 — e.g., budget/timing]</a:t>
            </a:r>
            <a:endParaRPr lang="en-US" sz="1250" dirty="0"/>
          </a:p>
        </p:txBody>
      </p:sp>
      <p:sp>
        <p:nvSpPr>
          <p:cNvPr id="22" name="Shape 19"/>
          <p:cNvSpPr/>
          <p:nvPr/>
        </p:nvSpPr>
        <p:spPr>
          <a:xfrm>
            <a:off x="7863840" y="3703320"/>
            <a:ext cx="256032" cy="256032"/>
          </a:xfrm>
          <a:prstGeom prst="ellipse">
            <a:avLst/>
          </a:prstGeom>
          <a:solidFill>
            <a:srgbClr val="C6282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7863840" y="370332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8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!</a:t>
            </a:r>
            <a:endParaRPr lang="en-US" sz="728" dirty="0"/>
          </a:p>
        </p:txBody>
      </p:sp>
      <p:sp>
        <p:nvSpPr>
          <p:cNvPr id="24" name="Text 21"/>
          <p:cNvSpPr/>
          <p:nvPr/>
        </p:nvSpPr>
        <p:spPr>
          <a:xfrm>
            <a:off x="8275320" y="3648456"/>
            <a:ext cx="3520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[Theme 3 — e.g., feature gap]</a:t>
            </a:r>
            <a:endParaRPr lang="en-US" sz="12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772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FFB4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SECTION 7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1127729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Retention &amp; Customer Health (CX)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554480"/>
            <a:ext cx="2606040" cy="1371600"/>
          </a:xfrm>
          <a:prstGeom prst="roundRect">
            <a:avLst>
              <a:gd name="adj" fmla="val 5333"/>
            </a:avLst>
          </a:prstGeom>
          <a:solidFill>
            <a:srgbClr val="EEF2F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719072"/>
            <a:ext cx="2606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[XX%]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548640" y="2423160"/>
            <a:ext cx="2423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E7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Net Revenue Retention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3291840" y="1554480"/>
            <a:ext cx="2606040" cy="1371600"/>
          </a:xfrm>
          <a:prstGeom prst="roundRect">
            <a:avLst>
              <a:gd name="adj" fmla="val 5333"/>
            </a:avLst>
          </a:prstGeom>
          <a:solidFill>
            <a:srgbClr val="EEF2F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291840" y="1719072"/>
            <a:ext cx="2606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[XX%]</a:t>
            </a:r>
            <a:endParaRPr lang="en-US" sz="3400" dirty="0"/>
          </a:p>
        </p:txBody>
      </p:sp>
      <p:sp>
        <p:nvSpPr>
          <p:cNvPr id="9" name="Text 7"/>
          <p:cNvSpPr/>
          <p:nvPr/>
        </p:nvSpPr>
        <p:spPr>
          <a:xfrm>
            <a:off x="3383280" y="2423160"/>
            <a:ext cx="2423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E7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Gross Revenue Retention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6126480" y="1554480"/>
            <a:ext cx="2606040" cy="1371600"/>
          </a:xfrm>
          <a:prstGeom prst="roundRect">
            <a:avLst>
              <a:gd name="adj" fmla="val 5333"/>
            </a:avLst>
          </a:prstGeom>
          <a:solidFill>
            <a:srgbClr val="EEF2F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126480" y="1719072"/>
            <a:ext cx="2606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C62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[X.X%]</a:t>
            </a:r>
            <a:endParaRPr lang="en-US" sz="3400" dirty="0"/>
          </a:p>
        </p:txBody>
      </p:sp>
      <p:sp>
        <p:nvSpPr>
          <p:cNvPr id="12" name="Text 10"/>
          <p:cNvSpPr/>
          <p:nvPr/>
        </p:nvSpPr>
        <p:spPr>
          <a:xfrm>
            <a:off x="6217920" y="2423160"/>
            <a:ext cx="2423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E7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Logo Churn (Quarter)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8961120" y="1554480"/>
            <a:ext cx="2606040" cy="1371600"/>
          </a:xfrm>
          <a:prstGeom prst="roundRect">
            <a:avLst>
              <a:gd name="adj" fmla="val 5333"/>
            </a:avLst>
          </a:prstGeom>
          <a:solidFill>
            <a:srgbClr val="EEF2F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961120" y="1719072"/>
            <a:ext cx="2606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B4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[X.Xx]</a:t>
            </a:r>
            <a:endParaRPr lang="en-US" sz="3400" dirty="0"/>
          </a:p>
        </p:txBody>
      </p:sp>
      <p:sp>
        <p:nvSpPr>
          <p:cNvPr id="15" name="Text 13"/>
          <p:cNvSpPr/>
          <p:nvPr/>
        </p:nvSpPr>
        <p:spPr>
          <a:xfrm>
            <a:off x="9052560" y="2423160"/>
            <a:ext cx="2423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E7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Renewal Pipeline Coverage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457200" y="32461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At-Risk Accounts</a:t>
            </a:r>
            <a:endParaRPr lang="en-US" sz="13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3611880"/>
          <a:ext cx="11277295" cy="1737360"/>
        </p:xfrm>
        <a:graphic>
          <a:graphicData uri="http://schemas.openxmlformats.org/drawingml/2006/table">
            <a:tbl>
              <a:tblPr/>
              <a:tblGrid>
                <a:gridCol w="2377440"/>
                <a:gridCol w="1554480"/>
                <a:gridCol w="1645920"/>
                <a:gridCol w="3931920"/>
                <a:gridCol w="1767535"/>
              </a:tblGrid>
              <a:tr h="4389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Account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ARR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Health Score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Primary Risk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CX Owner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E276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[Account A]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E276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$[XXX]K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E276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[XX]/100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6E7A8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[e.g., exec sponsor departure]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E276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[Name]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E276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[Account B]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B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E276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$[XXX]K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E276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[XX]/100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6E7A8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[e.g., usage decline]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E276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[Name]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B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E276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[Account C]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E276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$[XXX]K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E276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[XX]/100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6E7A8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[e.g., support escalations]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E276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[Name]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8" name="Text 15"/>
          <p:cNvSpPr/>
          <p:nvPr/>
        </p:nvSpPr>
        <p:spPr>
          <a:xfrm>
            <a:off x="457200" y="5532120"/>
            <a:ext cx="1127729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6E7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[Renewal note: $X.XM in renewals due next quarter; $X.XM secured/committed to date. CX and Sales co-own save-plan execution for at-risk accounts above.]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772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FFB4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SECTION 8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1127729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Wins This Quarter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600200"/>
            <a:ext cx="3520440" cy="3931920"/>
          </a:xfrm>
          <a:prstGeom prst="roundRect">
            <a:avLst>
              <a:gd name="adj" fmla="val 2597"/>
            </a:avLst>
          </a:prstGeom>
          <a:solidFill>
            <a:srgbClr val="EEF2F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1520" y="1874520"/>
            <a:ext cx="457200" cy="45720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18745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★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31520" y="2560320"/>
            <a:ext cx="2971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[Customer Name]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731520" y="2971800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B4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[Deal size, e.g., $250K ACV]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731520" y="3474720"/>
            <a:ext cx="29718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i="1" dirty="0">
                <a:solidFill>
                  <a:srgbClr val="6E7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[One-line highlight — why this win matters: competitive takeaway, expansion potential, reference value.]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4242816" y="1600200"/>
            <a:ext cx="3520440" cy="3931920"/>
          </a:xfrm>
          <a:prstGeom prst="roundRect">
            <a:avLst>
              <a:gd name="adj" fmla="val 2597"/>
            </a:avLst>
          </a:prstGeom>
          <a:solidFill>
            <a:srgbClr val="1E276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517136" y="1874520"/>
            <a:ext cx="457200" cy="457200"/>
          </a:xfrm>
          <a:prstGeom prst="ellipse">
            <a:avLst/>
          </a:prstGeom>
          <a:solidFill>
            <a:srgbClr val="FFB4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17136" y="18745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★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517136" y="2560320"/>
            <a:ext cx="2971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[Customer Name]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4517136" y="2971800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B4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[Deal size, e.g., $180K ACV]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517136" y="3474720"/>
            <a:ext cx="29718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i="1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[One-line highlight — why this win matters: competitive takeaway, expansion potential, reference value.]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8028432" y="1600200"/>
            <a:ext cx="3520440" cy="3931920"/>
          </a:xfrm>
          <a:prstGeom prst="roundRect">
            <a:avLst>
              <a:gd name="adj" fmla="val 2597"/>
            </a:avLst>
          </a:prstGeom>
          <a:solidFill>
            <a:srgbClr val="EEF2F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302752" y="1874520"/>
            <a:ext cx="457200" cy="45720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302752" y="18745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★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8302752" y="2560320"/>
            <a:ext cx="2971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[Customer Name]</a:t>
            </a:r>
            <a:endParaRPr lang="en-US" sz="1700" dirty="0"/>
          </a:p>
        </p:txBody>
      </p:sp>
      <p:sp>
        <p:nvSpPr>
          <p:cNvPr id="20" name="Text 18"/>
          <p:cNvSpPr/>
          <p:nvPr/>
        </p:nvSpPr>
        <p:spPr>
          <a:xfrm>
            <a:off x="8302752" y="2971800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B4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[Deal size, e.g., $410K ACV]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8302752" y="3474720"/>
            <a:ext cx="29718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i="1" dirty="0">
                <a:solidFill>
                  <a:srgbClr val="6E7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[One-line highlight — why this win matters: competitive takeaway, expansion potential, reference value.]</a:t>
            </a:r>
            <a:endParaRPr lang="en-US" sz="12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772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FFB4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SECTION 8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1127729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Challenges &amp; Risks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600200"/>
            <a:ext cx="11277295" cy="1234440"/>
          </a:xfrm>
          <a:prstGeom prst="roundRect">
            <a:avLst>
              <a:gd name="adj" fmla="val 5926"/>
            </a:avLst>
          </a:prstGeom>
          <a:solidFill>
            <a:srgbClr val="F5F7FB"/>
          </a:solidFill>
          <a:ln w="12700">
            <a:solidFill>
              <a:srgbClr val="EEF2F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85800" y="1856232"/>
            <a:ext cx="457200" cy="457200"/>
          </a:xfrm>
          <a:prstGeom prst="ellipse">
            <a:avLst/>
          </a:prstGeom>
          <a:solidFill>
            <a:srgbClr val="F9A82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85800" y="185623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!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325880" y="1764792"/>
            <a:ext cx="1008857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[Risk description — e.g., key territory understaffed through Q2]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325880" y="2258568"/>
            <a:ext cx="1008857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6E7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[Mitigation / owner]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57200" y="3017520"/>
            <a:ext cx="11277295" cy="1234440"/>
          </a:xfrm>
          <a:prstGeom prst="roundRect">
            <a:avLst>
              <a:gd name="adj" fmla="val 5926"/>
            </a:avLst>
          </a:prstGeom>
          <a:solidFill>
            <a:srgbClr val="F5F7FB"/>
          </a:solidFill>
          <a:ln w="12700">
            <a:solidFill>
              <a:srgbClr val="EEF2F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85800" y="3273552"/>
            <a:ext cx="457200" cy="457200"/>
          </a:xfrm>
          <a:prstGeom prst="ellipse">
            <a:avLst/>
          </a:prstGeom>
          <a:solidFill>
            <a:srgbClr val="F9A82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85800" y="327355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!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325880" y="3182112"/>
            <a:ext cx="1008857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[Risk description — e.g., competitive pressure in a priority vertical]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325880" y="3675888"/>
            <a:ext cx="1008857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6E7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[Mitigation / owner]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457200" y="4434840"/>
            <a:ext cx="11277295" cy="1234440"/>
          </a:xfrm>
          <a:prstGeom prst="roundRect">
            <a:avLst>
              <a:gd name="adj" fmla="val 5926"/>
            </a:avLst>
          </a:prstGeom>
          <a:solidFill>
            <a:srgbClr val="F5F7FB"/>
          </a:solidFill>
          <a:ln w="12700">
            <a:solidFill>
              <a:srgbClr val="EEF2F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85800" y="4690872"/>
            <a:ext cx="457200" cy="457200"/>
          </a:xfrm>
          <a:prstGeom prst="ellipse">
            <a:avLst/>
          </a:prstGeom>
          <a:solidFill>
            <a:srgbClr val="F9A82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85800" y="469087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!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1325880" y="4599432"/>
            <a:ext cx="1008857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[Risk description — e.g., pipeline concentration in a small number of large deals]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325880" y="5093208"/>
            <a:ext cx="1008857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6E7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[Mitigation / owner]</a:t>
            </a:r>
            <a:endParaRPr lang="en-US" sz="12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772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FFB4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SECTION 9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1127729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Strategic Initiatives Progress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1737360"/>
            <a:ext cx="8503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[Initiative 1 — e.g., deal tooling rollout]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2029968"/>
            <a:ext cx="8503920" cy="201168"/>
          </a:xfrm>
          <a:prstGeom prst="roundRect">
            <a:avLst>
              <a:gd name="adj" fmla="val 50000"/>
            </a:avLst>
          </a:prstGeom>
          <a:solidFill>
            <a:srgbClr val="EEF2F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2029968"/>
            <a:ext cx="5527548" cy="201168"/>
          </a:xfrm>
          <a:prstGeom prst="roundRect">
            <a:avLst>
              <a:gd name="adj" fmla="val 50000"/>
            </a:avLst>
          </a:prstGeom>
          <a:solidFill>
            <a:srgbClr val="FFB4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052560" y="1993392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65%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57200" y="2697480"/>
            <a:ext cx="8503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[Initiative 2 — e.g., TCO integration]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57200" y="2990088"/>
            <a:ext cx="8503920" cy="201168"/>
          </a:xfrm>
          <a:prstGeom prst="roundRect">
            <a:avLst>
              <a:gd name="adj" fmla="val 50000"/>
            </a:avLst>
          </a:prstGeom>
          <a:solidFill>
            <a:srgbClr val="EEF2F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7200" y="2990088"/>
            <a:ext cx="3401568" cy="201168"/>
          </a:xfrm>
          <a:prstGeom prst="roundRect">
            <a:avLst>
              <a:gd name="adj" fmla="val 50000"/>
            </a:avLst>
          </a:prstGeom>
          <a:solidFill>
            <a:srgbClr val="1E276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052560" y="2953512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40%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57200" y="3657600"/>
            <a:ext cx="8503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[Initiative 3 — e.g., international market entry]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57200" y="3950208"/>
            <a:ext cx="8503920" cy="201168"/>
          </a:xfrm>
          <a:prstGeom prst="roundRect">
            <a:avLst>
              <a:gd name="adj" fmla="val 50000"/>
            </a:avLst>
          </a:prstGeom>
          <a:solidFill>
            <a:srgbClr val="EEF2F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57200" y="3950208"/>
            <a:ext cx="2125980" cy="201168"/>
          </a:xfrm>
          <a:prstGeom prst="roundRect">
            <a:avLst>
              <a:gd name="adj" fmla="val 50000"/>
            </a:avLst>
          </a:prstGeom>
          <a:solidFill>
            <a:srgbClr val="6E7A8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052560" y="3913632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25%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57200" y="4617720"/>
            <a:ext cx="8503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[Initiative 4 — e.g., LTV/CAC model rollout]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457200" y="4910328"/>
            <a:ext cx="8503920" cy="201168"/>
          </a:xfrm>
          <a:prstGeom prst="roundRect">
            <a:avLst>
              <a:gd name="adj" fmla="val 50000"/>
            </a:avLst>
          </a:prstGeom>
          <a:solidFill>
            <a:srgbClr val="EEF2F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57200" y="4910328"/>
            <a:ext cx="7228332" cy="201168"/>
          </a:xfrm>
          <a:prstGeom prst="roundRect">
            <a:avLst>
              <a:gd name="adj" fmla="val 50000"/>
            </a:avLst>
          </a:prstGeom>
          <a:solidFill>
            <a:srgbClr val="2E7D3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052560" y="4873752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85%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9326880" y="1737360"/>
            <a:ext cx="2377440" cy="4023360"/>
          </a:xfrm>
          <a:prstGeom prst="roundRect">
            <a:avLst>
              <a:gd name="adj" fmla="val 3077"/>
            </a:avLst>
          </a:prstGeom>
          <a:solidFill>
            <a:srgbClr val="EEF2F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509760" y="192024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Reading this slide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9509760" y="2286000"/>
            <a:ext cx="201168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6E7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Track initiative completion %, not just RAG status — gives leadership a consistent view of pace across the portfolio.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772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FFB4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SECTION 10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1127729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Next Quarter Priorities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600200"/>
            <a:ext cx="5166360" cy="1965960"/>
          </a:xfrm>
          <a:prstGeom prst="roundRect">
            <a:avLst>
              <a:gd name="adj" fmla="val 3721"/>
            </a:avLst>
          </a:prstGeom>
          <a:solidFill>
            <a:srgbClr val="F5F7FB"/>
          </a:solidFill>
          <a:ln w="12700">
            <a:solidFill>
              <a:srgbClr val="EEF2F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85800" y="1783080"/>
            <a:ext cx="1097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1645920" y="1856232"/>
            <a:ext cx="3749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[Priority 1 — Sales: e.g., close Enterprise pipeline gap]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1645920" y="2880360"/>
            <a:ext cx="3749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i="1" dirty="0">
                <a:solidFill>
                  <a:srgbClr val="6E7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[Owner: Name — Target: date]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5989320" y="1600200"/>
            <a:ext cx="5166360" cy="1965960"/>
          </a:xfrm>
          <a:prstGeom prst="roundRect">
            <a:avLst>
              <a:gd name="adj" fmla="val 3721"/>
            </a:avLst>
          </a:prstGeom>
          <a:solidFill>
            <a:srgbClr val="F5F7FB"/>
          </a:solidFill>
          <a:ln w="12700">
            <a:solidFill>
              <a:srgbClr val="EEF2F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217920" y="1783080"/>
            <a:ext cx="1097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3400" dirty="0"/>
          </a:p>
        </p:txBody>
      </p:sp>
      <p:sp>
        <p:nvSpPr>
          <p:cNvPr id="10" name="Text 8"/>
          <p:cNvSpPr/>
          <p:nvPr/>
        </p:nvSpPr>
        <p:spPr>
          <a:xfrm>
            <a:off x="7178040" y="1856232"/>
            <a:ext cx="3749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[Priority 2 — Marketing: e.g., launch new vertical ABM program]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7178040" y="2880360"/>
            <a:ext cx="3749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i="1" dirty="0">
                <a:solidFill>
                  <a:srgbClr val="6E7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[Owner: Name — Target: date]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457200" y="3840480"/>
            <a:ext cx="5166360" cy="1965960"/>
          </a:xfrm>
          <a:prstGeom prst="roundRect">
            <a:avLst>
              <a:gd name="adj" fmla="val 3721"/>
            </a:avLst>
          </a:prstGeom>
          <a:solidFill>
            <a:srgbClr val="F5F7FB"/>
          </a:solidFill>
          <a:ln w="12700">
            <a:solidFill>
              <a:srgbClr val="EEF2F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85800" y="4023360"/>
            <a:ext cx="1097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3400" dirty="0"/>
          </a:p>
        </p:txBody>
      </p:sp>
      <p:sp>
        <p:nvSpPr>
          <p:cNvPr id="14" name="Text 12"/>
          <p:cNvSpPr/>
          <p:nvPr/>
        </p:nvSpPr>
        <p:spPr>
          <a:xfrm>
            <a:off x="1645920" y="4096512"/>
            <a:ext cx="3749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[Priority 3 — CX: e.g., save-plan execution for at-risk renewals]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1645920" y="5120640"/>
            <a:ext cx="3749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i="1" dirty="0">
                <a:solidFill>
                  <a:srgbClr val="6E7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[Owner: Name — Target: date]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5989320" y="3840480"/>
            <a:ext cx="5166360" cy="1965960"/>
          </a:xfrm>
          <a:prstGeom prst="roundRect">
            <a:avLst>
              <a:gd name="adj" fmla="val 3721"/>
            </a:avLst>
          </a:prstGeom>
          <a:solidFill>
            <a:srgbClr val="F5F7FB"/>
          </a:solidFill>
          <a:ln w="12700">
            <a:solidFill>
              <a:srgbClr val="EEF2F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217920" y="4023360"/>
            <a:ext cx="1097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3400" dirty="0"/>
          </a:p>
        </p:txBody>
      </p:sp>
      <p:sp>
        <p:nvSpPr>
          <p:cNvPr id="18" name="Text 16"/>
          <p:cNvSpPr/>
          <p:nvPr/>
        </p:nvSpPr>
        <p:spPr>
          <a:xfrm>
            <a:off x="7178040" y="4096512"/>
            <a:ext cx="3749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[Priority 4 — Cross-functional: e.g., international market plan sign-off]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7178040" y="5120640"/>
            <a:ext cx="3749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i="1" dirty="0">
                <a:solidFill>
                  <a:srgbClr val="6E7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[Owner: Name — Target: date]</a:t>
            </a:r>
            <a:endParaRPr lang="en-US" sz="11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772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FFB4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SECTION 10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1127729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Asks &amp; Support Needed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691640"/>
            <a:ext cx="411480" cy="411480"/>
          </a:xfrm>
          <a:prstGeom prst="ellipse">
            <a:avLst/>
          </a:prstGeom>
          <a:solidFill>
            <a:srgbClr val="FFB4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69164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7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</a:t>
            </a:r>
            <a:endParaRPr lang="en-US" sz="1170" dirty="0"/>
          </a:p>
        </p:txBody>
      </p:sp>
      <p:sp>
        <p:nvSpPr>
          <p:cNvPr id="6" name="Text 4"/>
          <p:cNvSpPr/>
          <p:nvPr/>
        </p:nvSpPr>
        <p:spPr>
          <a:xfrm>
            <a:off x="1097280" y="1645920"/>
            <a:ext cx="1063721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Sales  —  [Ask 1 — e.g., approval to backfill open Enterprise territory]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1097280" y="2075688"/>
            <a:ext cx="106372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6E7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[Why it matters / impact if unresolved]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457200" y="2926080"/>
            <a:ext cx="411480" cy="411480"/>
          </a:xfrm>
          <a:prstGeom prst="ellipse">
            <a:avLst/>
          </a:prstGeom>
          <a:solidFill>
            <a:srgbClr val="FFB4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292608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7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</a:t>
            </a:r>
            <a:endParaRPr lang="en-US" sz="1170" dirty="0"/>
          </a:p>
        </p:txBody>
      </p:sp>
      <p:sp>
        <p:nvSpPr>
          <p:cNvPr id="10" name="Text 8"/>
          <p:cNvSpPr/>
          <p:nvPr/>
        </p:nvSpPr>
        <p:spPr>
          <a:xfrm>
            <a:off x="1097280" y="2880360"/>
            <a:ext cx="1063721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Marketing  —  [Ask 2 — e.g., incremental budget for ABM program in priority vertical]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1097280" y="3310128"/>
            <a:ext cx="106372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6E7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[Why it matters / impact if unresolved]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457200" y="4160520"/>
            <a:ext cx="411480" cy="411480"/>
          </a:xfrm>
          <a:prstGeom prst="ellipse">
            <a:avLst/>
          </a:prstGeom>
          <a:solidFill>
            <a:srgbClr val="FFB4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" y="416052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7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endParaRPr lang="en-US" sz="1170" dirty="0"/>
          </a:p>
        </p:txBody>
      </p:sp>
      <p:sp>
        <p:nvSpPr>
          <p:cNvPr id="14" name="Text 12"/>
          <p:cNvSpPr/>
          <p:nvPr/>
        </p:nvSpPr>
        <p:spPr>
          <a:xfrm>
            <a:off x="1097280" y="4114800"/>
            <a:ext cx="1063721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CX  —  [Ask 3 — e.g., executive sponsorship for top at-risk renewal accounts]</a:t>
            </a:r>
            <a:endParaRPr lang="en-US" sz="1450" dirty="0"/>
          </a:p>
        </p:txBody>
      </p:sp>
      <p:sp>
        <p:nvSpPr>
          <p:cNvPr id="15" name="Text 13"/>
          <p:cNvSpPr/>
          <p:nvPr/>
        </p:nvSpPr>
        <p:spPr>
          <a:xfrm>
            <a:off x="1097280" y="4544568"/>
            <a:ext cx="106372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6E7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[Why it matters / impact if unresolved]</a:t>
            </a:r>
            <a:endParaRPr lang="en-US" sz="12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011680" y="-2011680"/>
            <a:ext cx="5029200" cy="5029200"/>
          </a:xfrm>
          <a:prstGeom prst="ellipse">
            <a:avLst/>
          </a:prstGeom>
          <a:solidFill>
            <a:srgbClr val="141B4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326880" y="3840480"/>
            <a:ext cx="4754880" cy="4754880"/>
          </a:xfrm>
          <a:prstGeom prst="ellipse">
            <a:avLst/>
          </a:prstGeom>
          <a:solidFill>
            <a:srgbClr val="141B4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22960" y="274320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868680" y="361188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i="1" dirty="0">
                <a:solidFill>
                  <a:srgbClr val="FFB4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Questions &amp; Discussion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2026-07-27T06:10:55Z</dcterms:created>
  <dcterms:modified xsi:type="dcterms:W3CDTF">2026-07-27T06:10:55Z</dcterms:modified>
</cp:coreProperties>
</file>